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6"/>
  </p:notesMasterIdLst>
  <p:sldIdLst>
    <p:sldId id="256" r:id="rId5"/>
    <p:sldId id="301" r:id="rId6"/>
    <p:sldId id="257" r:id="rId7"/>
    <p:sldId id="258" r:id="rId8"/>
    <p:sldId id="259" r:id="rId9"/>
    <p:sldId id="260" r:id="rId10"/>
    <p:sldId id="261" r:id="rId11"/>
    <p:sldId id="262" r:id="rId12"/>
    <p:sldId id="264" r:id="rId13"/>
    <p:sldId id="263" r:id="rId14"/>
    <p:sldId id="265" r:id="rId15"/>
    <p:sldId id="266" r:id="rId16"/>
    <p:sldId id="267" r:id="rId17"/>
    <p:sldId id="268" r:id="rId18"/>
    <p:sldId id="270" r:id="rId19"/>
    <p:sldId id="269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78" r:id="rId28"/>
    <p:sldId id="279" r:id="rId29"/>
    <p:sldId id="280" r:id="rId30"/>
    <p:sldId id="281" r:id="rId31"/>
    <p:sldId id="282" r:id="rId32"/>
    <p:sldId id="283" r:id="rId33"/>
    <p:sldId id="285" r:id="rId34"/>
    <p:sldId id="284" r:id="rId35"/>
    <p:sldId id="286" r:id="rId36"/>
    <p:sldId id="304" r:id="rId37"/>
    <p:sldId id="288" r:id="rId38"/>
    <p:sldId id="287" r:id="rId39"/>
    <p:sldId id="289" r:id="rId40"/>
    <p:sldId id="290" r:id="rId41"/>
    <p:sldId id="291" r:id="rId42"/>
    <p:sldId id="292" r:id="rId43"/>
    <p:sldId id="303" r:id="rId44"/>
    <p:sldId id="294" r:id="rId45"/>
    <p:sldId id="293" r:id="rId46"/>
    <p:sldId id="305" r:id="rId47"/>
    <p:sldId id="306" r:id="rId48"/>
    <p:sldId id="298" r:id="rId49"/>
    <p:sldId id="300" r:id="rId50"/>
    <p:sldId id="307" r:id="rId51"/>
    <p:sldId id="308" r:id="rId52"/>
    <p:sldId id="295" r:id="rId53"/>
    <p:sldId id="296" r:id="rId54"/>
    <p:sldId id="297" r:id="rId5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746" autoAdjust="0"/>
  </p:normalViewPr>
  <p:slideViewPr>
    <p:cSldViewPr snapToGrid="0">
      <p:cViewPr>
        <p:scale>
          <a:sx n="98" d="100"/>
          <a:sy n="98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C8993-C460-4B1F-9A30-40F52BB3FBC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3D9CDEC7-2361-4606-B72C-5B7C0F0FFF95}">
      <dgm:prSet/>
      <dgm:spPr/>
      <dgm:t>
        <a:bodyPr/>
        <a:lstStyle/>
        <a:p>
          <a:r>
            <a:rPr lang="en-US"/>
            <a:t>Lesson 1: build and describe</a:t>
          </a:r>
          <a:endParaRPr lang="fr-FR"/>
        </a:p>
      </dgm:t>
    </dgm:pt>
    <dgm:pt modelId="{454CF91F-5896-4C24-8827-10F27C30874F}" type="parTrans" cxnId="{F901C9DF-9480-4AB4-9D9F-A54843002343}">
      <dgm:prSet/>
      <dgm:spPr/>
      <dgm:t>
        <a:bodyPr/>
        <a:lstStyle/>
        <a:p>
          <a:endParaRPr lang="fr-FR"/>
        </a:p>
      </dgm:t>
    </dgm:pt>
    <dgm:pt modelId="{9CBCDFB4-68E7-46FD-8D22-C9696974CA88}" type="sibTrans" cxnId="{F901C9DF-9480-4AB4-9D9F-A54843002343}">
      <dgm:prSet/>
      <dgm:spPr/>
      <dgm:t>
        <a:bodyPr/>
        <a:lstStyle/>
        <a:p>
          <a:endParaRPr lang="fr-FR"/>
        </a:p>
      </dgm:t>
    </dgm:pt>
    <dgm:pt modelId="{B1AEE526-6EB3-4A7B-BDD8-C536D9F269F1}">
      <dgm:prSet/>
      <dgm:spPr/>
      <dgm:t>
        <a:bodyPr/>
        <a:lstStyle/>
        <a:p>
          <a:r>
            <a:rPr lang="en-US"/>
            <a:t>Lesson 2: distances and OM</a:t>
          </a:r>
          <a:endParaRPr lang="fr-FR"/>
        </a:p>
      </dgm:t>
    </dgm:pt>
    <dgm:pt modelId="{8635361F-F204-4DF7-8748-F913DA3D605F}" type="parTrans" cxnId="{9E735A22-3B88-4E08-9879-734E824E7044}">
      <dgm:prSet/>
      <dgm:spPr/>
      <dgm:t>
        <a:bodyPr/>
        <a:lstStyle/>
        <a:p>
          <a:endParaRPr lang="fr-FR"/>
        </a:p>
      </dgm:t>
    </dgm:pt>
    <dgm:pt modelId="{5C476D20-27B9-49A8-9551-86D5DB626A32}" type="sibTrans" cxnId="{9E735A22-3B88-4E08-9879-734E824E7044}">
      <dgm:prSet/>
      <dgm:spPr/>
      <dgm:t>
        <a:bodyPr/>
        <a:lstStyle/>
        <a:p>
          <a:endParaRPr lang="fr-FR"/>
        </a:p>
      </dgm:t>
    </dgm:pt>
    <dgm:pt modelId="{B18C132B-4392-49EB-8A88-8CEB0894FC98}">
      <dgm:prSet/>
      <dgm:spPr/>
      <dgm:t>
        <a:bodyPr/>
        <a:lstStyle/>
        <a:p>
          <a:r>
            <a:rPr lang="en-US"/>
            <a:t>Lesson 3: clustering and typologies</a:t>
          </a:r>
          <a:endParaRPr lang="fr-FR"/>
        </a:p>
      </dgm:t>
    </dgm:pt>
    <dgm:pt modelId="{86D0EC2D-BA9A-47DF-BA81-67A057096071}" type="parTrans" cxnId="{D115A1FD-87BA-45F7-BEAB-D49ED9E7BE81}">
      <dgm:prSet/>
      <dgm:spPr/>
      <dgm:t>
        <a:bodyPr/>
        <a:lstStyle/>
        <a:p>
          <a:endParaRPr lang="fr-FR"/>
        </a:p>
      </dgm:t>
    </dgm:pt>
    <dgm:pt modelId="{8AF2EA72-8003-4F14-876F-3A02722CF7BC}" type="sibTrans" cxnId="{D115A1FD-87BA-45F7-BEAB-D49ED9E7BE81}">
      <dgm:prSet/>
      <dgm:spPr/>
      <dgm:t>
        <a:bodyPr/>
        <a:lstStyle/>
        <a:p>
          <a:endParaRPr lang="fr-FR"/>
        </a:p>
      </dgm:t>
    </dgm:pt>
    <dgm:pt modelId="{4A7D2666-1982-442E-908E-5FC7E82F3529}">
      <dgm:prSet/>
      <dgm:spPr/>
      <dgm:t>
        <a:bodyPr/>
        <a:lstStyle/>
        <a:p>
          <a:r>
            <a:rPr lang="en-US"/>
            <a:t>Lesson 4: interpretation, mini-projects, presentations</a:t>
          </a:r>
          <a:endParaRPr lang="fr-FR"/>
        </a:p>
      </dgm:t>
    </dgm:pt>
    <dgm:pt modelId="{364C742B-C412-4CB5-A225-84EA199FBC3C}" type="parTrans" cxnId="{5C297B22-5C2E-49E0-8662-3EE71665B272}">
      <dgm:prSet/>
      <dgm:spPr/>
      <dgm:t>
        <a:bodyPr/>
        <a:lstStyle/>
        <a:p>
          <a:endParaRPr lang="fr-FR"/>
        </a:p>
      </dgm:t>
    </dgm:pt>
    <dgm:pt modelId="{4FB0D542-A765-4839-9F47-86C7A75B08D6}" type="sibTrans" cxnId="{5C297B22-5C2E-49E0-8662-3EE71665B272}">
      <dgm:prSet/>
      <dgm:spPr/>
      <dgm:t>
        <a:bodyPr/>
        <a:lstStyle/>
        <a:p>
          <a:endParaRPr lang="fr-FR"/>
        </a:p>
      </dgm:t>
    </dgm:pt>
    <dgm:pt modelId="{C9FF8288-89E2-4546-9ECF-A6DC2AA3FF20}" type="pres">
      <dgm:prSet presAssocID="{29EC8993-C460-4B1F-9A30-40F52BB3FBC5}" presName="CompostProcess" presStyleCnt="0">
        <dgm:presLayoutVars>
          <dgm:dir/>
          <dgm:resizeHandles val="exact"/>
        </dgm:presLayoutVars>
      </dgm:prSet>
      <dgm:spPr/>
    </dgm:pt>
    <dgm:pt modelId="{CC24C03A-739F-4673-8625-304FA9CDF41F}" type="pres">
      <dgm:prSet presAssocID="{29EC8993-C460-4B1F-9A30-40F52BB3FBC5}" presName="arrow" presStyleLbl="bgShp" presStyleIdx="0" presStyleCnt="1"/>
      <dgm:spPr/>
    </dgm:pt>
    <dgm:pt modelId="{957A554B-DDFC-4780-8273-D2F00A728530}" type="pres">
      <dgm:prSet presAssocID="{29EC8993-C460-4B1F-9A30-40F52BB3FBC5}" presName="linearProcess" presStyleCnt="0"/>
      <dgm:spPr/>
    </dgm:pt>
    <dgm:pt modelId="{BAAD502F-704A-49E0-AE4E-38BA049E3163}" type="pres">
      <dgm:prSet presAssocID="{3D9CDEC7-2361-4606-B72C-5B7C0F0FFF95}" presName="textNode" presStyleLbl="node1" presStyleIdx="0" presStyleCnt="4">
        <dgm:presLayoutVars>
          <dgm:bulletEnabled val="1"/>
        </dgm:presLayoutVars>
      </dgm:prSet>
      <dgm:spPr/>
    </dgm:pt>
    <dgm:pt modelId="{52225CF2-62A0-4202-B490-2F7EB6DCD9F6}" type="pres">
      <dgm:prSet presAssocID="{9CBCDFB4-68E7-46FD-8D22-C9696974CA88}" presName="sibTrans" presStyleCnt="0"/>
      <dgm:spPr/>
    </dgm:pt>
    <dgm:pt modelId="{EF9762C0-F1D8-4153-AA3C-17E57B932797}" type="pres">
      <dgm:prSet presAssocID="{B1AEE526-6EB3-4A7B-BDD8-C536D9F269F1}" presName="textNode" presStyleLbl="node1" presStyleIdx="1" presStyleCnt="4">
        <dgm:presLayoutVars>
          <dgm:bulletEnabled val="1"/>
        </dgm:presLayoutVars>
      </dgm:prSet>
      <dgm:spPr/>
    </dgm:pt>
    <dgm:pt modelId="{932ECA39-F2CF-49B0-A428-5448A339FE58}" type="pres">
      <dgm:prSet presAssocID="{5C476D20-27B9-49A8-9551-86D5DB626A32}" presName="sibTrans" presStyleCnt="0"/>
      <dgm:spPr/>
    </dgm:pt>
    <dgm:pt modelId="{00C9F4EA-0119-47C7-B69B-9BB48C6F1006}" type="pres">
      <dgm:prSet presAssocID="{B18C132B-4392-49EB-8A88-8CEB0894FC98}" presName="textNode" presStyleLbl="node1" presStyleIdx="2" presStyleCnt="4">
        <dgm:presLayoutVars>
          <dgm:bulletEnabled val="1"/>
        </dgm:presLayoutVars>
      </dgm:prSet>
      <dgm:spPr/>
    </dgm:pt>
    <dgm:pt modelId="{20B9449A-D0A4-4463-8307-6A002C88D52E}" type="pres">
      <dgm:prSet presAssocID="{8AF2EA72-8003-4F14-876F-3A02722CF7BC}" presName="sibTrans" presStyleCnt="0"/>
      <dgm:spPr/>
    </dgm:pt>
    <dgm:pt modelId="{E3B98A3D-E9DB-48B9-BD34-1347D1D97E0D}" type="pres">
      <dgm:prSet presAssocID="{4A7D2666-1982-442E-908E-5FC7E82F352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735A22-3B88-4E08-9879-734E824E7044}" srcId="{29EC8993-C460-4B1F-9A30-40F52BB3FBC5}" destId="{B1AEE526-6EB3-4A7B-BDD8-C536D9F269F1}" srcOrd="1" destOrd="0" parTransId="{8635361F-F204-4DF7-8748-F913DA3D605F}" sibTransId="{5C476D20-27B9-49A8-9551-86D5DB626A32}"/>
    <dgm:cxn modelId="{5C297B22-5C2E-49E0-8662-3EE71665B272}" srcId="{29EC8993-C460-4B1F-9A30-40F52BB3FBC5}" destId="{4A7D2666-1982-442E-908E-5FC7E82F3529}" srcOrd="3" destOrd="0" parTransId="{364C742B-C412-4CB5-A225-84EA199FBC3C}" sibTransId="{4FB0D542-A765-4839-9F47-86C7A75B08D6}"/>
    <dgm:cxn modelId="{7515CE29-4E1B-4282-B032-7D457DE1A05D}" type="presOf" srcId="{B18C132B-4392-49EB-8A88-8CEB0894FC98}" destId="{00C9F4EA-0119-47C7-B69B-9BB48C6F1006}" srcOrd="0" destOrd="0" presId="urn:microsoft.com/office/officeart/2005/8/layout/hProcess9"/>
    <dgm:cxn modelId="{CAE4C875-DB07-42D3-95DC-2EF08A0402BF}" type="presOf" srcId="{29EC8993-C460-4B1F-9A30-40F52BB3FBC5}" destId="{C9FF8288-89E2-4546-9ECF-A6DC2AA3FF20}" srcOrd="0" destOrd="0" presId="urn:microsoft.com/office/officeart/2005/8/layout/hProcess9"/>
    <dgm:cxn modelId="{352889AA-FEF5-4A05-9627-DDDDAB96833A}" type="presOf" srcId="{4A7D2666-1982-442E-908E-5FC7E82F3529}" destId="{E3B98A3D-E9DB-48B9-BD34-1347D1D97E0D}" srcOrd="0" destOrd="0" presId="urn:microsoft.com/office/officeart/2005/8/layout/hProcess9"/>
    <dgm:cxn modelId="{CA7738AC-6307-4369-9964-33B803985576}" type="presOf" srcId="{3D9CDEC7-2361-4606-B72C-5B7C0F0FFF95}" destId="{BAAD502F-704A-49E0-AE4E-38BA049E3163}" srcOrd="0" destOrd="0" presId="urn:microsoft.com/office/officeart/2005/8/layout/hProcess9"/>
    <dgm:cxn modelId="{C8F41CCF-6CD6-4685-8B02-357474FBDEC2}" type="presOf" srcId="{B1AEE526-6EB3-4A7B-BDD8-C536D9F269F1}" destId="{EF9762C0-F1D8-4153-AA3C-17E57B932797}" srcOrd="0" destOrd="0" presId="urn:microsoft.com/office/officeart/2005/8/layout/hProcess9"/>
    <dgm:cxn modelId="{F901C9DF-9480-4AB4-9D9F-A54843002343}" srcId="{29EC8993-C460-4B1F-9A30-40F52BB3FBC5}" destId="{3D9CDEC7-2361-4606-B72C-5B7C0F0FFF95}" srcOrd="0" destOrd="0" parTransId="{454CF91F-5896-4C24-8827-10F27C30874F}" sibTransId="{9CBCDFB4-68E7-46FD-8D22-C9696974CA88}"/>
    <dgm:cxn modelId="{D115A1FD-87BA-45F7-BEAB-D49ED9E7BE81}" srcId="{29EC8993-C460-4B1F-9A30-40F52BB3FBC5}" destId="{B18C132B-4392-49EB-8A88-8CEB0894FC98}" srcOrd="2" destOrd="0" parTransId="{86D0EC2D-BA9A-47DF-BA81-67A057096071}" sibTransId="{8AF2EA72-8003-4F14-876F-3A02722CF7BC}"/>
    <dgm:cxn modelId="{D2C5F8FC-2BF8-47E0-AB04-4CC52988ECAA}" type="presParOf" srcId="{C9FF8288-89E2-4546-9ECF-A6DC2AA3FF20}" destId="{CC24C03A-739F-4673-8625-304FA9CDF41F}" srcOrd="0" destOrd="0" presId="urn:microsoft.com/office/officeart/2005/8/layout/hProcess9"/>
    <dgm:cxn modelId="{9BD14E85-19BA-4D55-A434-043C1B084D0B}" type="presParOf" srcId="{C9FF8288-89E2-4546-9ECF-A6DC2AA3FF20}" destId="{957A554B-DDFC-4780-8273-D2F00A728530}" srcOrd="1" destOrd="0" presId="urn:microsoft.com/office/officeart/2005/8/layout/hProcess9"/>
    <dgm:cxn modelId="{160D0615-2CA7-439B-A409-AD6B662BAC2A}" type="presParOf" srcId="{957A554B-DDFC-4780-8273-D2F00A728530}" destId="{BAAD502F-704A-49E0-AE4E-38BA049E3163}" srcOrd="0" destOrd="0" presId="urn:microsoft.com/office/officeart/2005/8/layout/hProcess9"/>
    <dgm:cxn modelId="{B738D6AD-5F94-4B51-9D45-35A6A2068A7F}" type="presParOf" srcId="{957A554B-DDFC-4780-8273-D2F00A728530}" destId="{52225CF2-62A0-4202-B490-2F7EB6DCD9F6}" srcOrd="1" destOrd="0" presId="urn:microsoft.com/office/officeart/2005/8/layout/hProcess9"/>
    <dgm:cxn modelId="{04A68F6B-28DF-475A-8EE0-548AC131909F}" type="presParOf" srcId="{957A554B-DDFC-4780-8273-D2F00A728530}" destId="{EF9762C0-F1D8-4153-AA3C-17E57B932797}" srcOrd="2" destOrd="0" presId="urn:microsoft.com/office/officeart/2005/8/layout/hProcess9"/>
    <dgm:cxn modelId="{55BA37C1-370E-4DAF-A13E-40D62AD00FB5}" type="presParOf" srcId="{957A554B-DDFC-4780-8273-D2F00A728530}" destId="{932ECA39-F2CF-49B0-A428-5448A339FE58}" srcOrd="3" destOrd="0" presId="urn:microsoft.com/office/officeart/2005/8/layout/hProcess9"/>
    <dgm:cxn modelId="{38BB3B71-7DF3-42CD-B3B9-6505367FA00E}" type="presParOf" srcId="{957A554B-DDFC-4780-8273-D2F00A728530}" destId="{00C9F4EA-0119-47C7-B69B-9BB48C6F1006}" srcOrd="4" destOrd="0" presId="urn:microsoft.com/office/officeart/2005/8/layout/hProcess9"/>
    <dgm:cxn modelId="{9764682F-D53B-4C33-B2BB-513F30CD55FC}" type="presParOf" srcId="{957A554B-DDFC-4780-8273-D2F00A728530}" destId="{20B9449A-D0A4-4463-8307-6A002C88D52E}" srcOrd="5" destOrd="0" presId="urn:microsoft.com/office/officeart/2005/8/layout/hProcess9"/>
    <dgm:cxn modelId="{FEF7BF97-00CF-4086-B0B4-30CB653A9C24}" type="presParOf" srcId="{957A554B-DDFC-4780-8273-D2F00A728530}" destId="{E3B98A3D-E9DB-48B9-BD34-1347D1D97E0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E0310-EE36-4445-A5E8-223E2E2B856D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B178984-7A8F-4F0E-8F49-8181CFE92178}">
      <dgm:prSet/>
      <dgm:spPr/>
      <dgm:t>
        <a:bodyPr/>
        <a:lstStyle/>
        <a:p>
          <a:r>
            <a:rPr lang="fr-FR" b="1"/>
            <a:t>Before clustering</a:t>
          </a:r>
          <a:endParaRPr lang="en-US"/>
        </a:p>
      </dgm:t>
    </dgm:pt>
    <dgm:pt modelId="{BFD580DB-3DE7-4FA1-98C6-A3289D25A07C}" type="parTrans" cxnId="{B46E732F-B4F3-405C-959A-650796AF81E6}">
      <dgm:prSet/>
      <dgm:spPr/>
      <dgm:t>
        <a:bodyPr/>
        <a:lstStyle/>
        <a:p>
          <a:endParaRPr lang="en-US"/>
        </a:p>
      </dgm:t>
    </dgm:pt>
    <dgm:pt modelId="{7C5651AC-0D0E-42CE-9581-39047806BB4D}" type="sibTrans" cxnId="{B46E732F-B4F3-405C-959A-650796AF81E6}">
      <dgm:prSet/>
      <dgm:spPr/>
      <dgm:t>
        <a:bodyPr/>
        <a:lstStyle/>
        <a:p>
          <a:endParaRPr lang="en-US"/>
        </a:p>
      </dgm:t>
    </dgm:pt>
    <dgm:pt modelId="{478BCF03-93FD-4F2C-BC4E-8800625283A4}">
      <dgm:prSet/>
      <dgm:spPr/>
      <dgm:t>
        <a:bodyPr/>
        <a:lstStyle/>
        <a:p>
          <a:r>
            <a:rPr lang="fr-FR" dirty="0"/>
            <a:t>Many </a:t>
          </a:r>
          <a:r>
            <a:rPr lang="fr-FR" dirty="0" err="1"/>
            <a:t>trajectories</a:t>
          </a:r>
          <a:r>
            <a:rPr lang="fr-FR" dirty="0"/>
            <a:t>, </a:t>
          </a:r>
          <a:r>
            <a:rPr lang="fr-FR" dirty="0" err="1"/>
            <a:t>difficult</a:t>
          </a:r>
          <a:r>
            <a:rPr lang="fr-FR" dirty="0"/>
            <a:t> to </a:t>
          </a:r>
          <a:r>
            <a:rPr lang="fr-FR" dirty="0" err="1"/>
            <a:t>summarise</a:t>
          </a:r>
          <a:r>
            <a:rPr lang="fr-FR" dirty="0"/>
            <a:t>.</a:t>
          </a:r>
          <a:endParaRPr lang="en-US" dirty="0"/>
        </a:p>
      </dgm:t>
    </dgm:pt>
    <dgm:pt modelId="{E4D1022B-3152-40C9-B4F2-CEA269B76B73}" type="parTrans" cxnId="{61557790-003C-4DA7-A73B-79B29571B5DA}">
      <dgm:prSet/>
      <dgm:spPr/>
      <dgm:t>
        <a:bodyPr/>
        <a:lstStyle/>
        <a:p>
          <a:endParaRPr lang="en-US"/>
        </a:p>
      </dgm:t>
    </dgm:pt>
    <dgm:pt modelId="{DD912B37-220E-4094-875A-D450579069F1}" type="sibTrans" cxnId="{61557790-003C-4DA7-A73B-79B29571B5DA}">
      <dgm:prSet/>
      <dgm:spPr/>
      <dgm:t>
        <a:bodyPr/>
        <a:lstStyle/>
        <a:p>
          <a:endParaRPr lang="en-US"/>
        </a:p>
      </dgm:t>
    </dgm:pt>
    <dgm:pt modelId="{45F23D05-1086-4457-B76A-A0B6817F47E8}">
      <dgm:prSet/>
      <dgm:spPr/>
      <dgm:t>
        <a:bodyPr/>
        <a:lstStyle/>
        <a:p>
          <a:r>
            <a:rPr lang="fr-FR" b="1"/>
            <a:t>After clustering</a:t>
          </a:r>
          <a:endParaRPr lang="en-US"/>
        </a:p>
      </dgm:t>
    </dgm:pt>
    <dgm:pt modelId="{8987AEC2-B3E3-4306-8310-D16926A0FBC8}" type="parTrans" cxnId="{04861ED8-2C6F-4201-80F8-2DB634AAE649}">
      <dgm:prSet/>
      <dgm:spPr/>
      <dgm:t>
        <a:bodyPr/>
        <a:lstStyle/>
        <a:p>
          <a:endParaRPr lang="en-US"/>
        </a:p>
      </dgm:t>
    </dgm:pt>
    <dgm:pt modelId="{643C9E26-B9AC-4AC0-A9CD-5A536ED0C5C1}" type="sibTrans" cxnId="{04861ED8-2C6F-4201-80F8-2DB634AAE649}">
      <dgm:prSet/>
      <dgm:spPr/>
      <dgm:t>
        <a:bodyPr/>
        <a:lstStyle/>
        <a:p>
          <a:endParaRPr lang="en-US"/>
        </a:p>
      </dgm:t>
    </dgm:pt>
    <dgm:pt modelId="{0D9C7065-7200-45E2-95DE-F2F501CCA5EB}">
      <dgm:prSet/>
      <dgm:spPr/>
      <dgm:t>
        <a:bodyPr/>
        <a:lstStyle/>
        <a:p>
          <a:r>
            <a:rPr lang="fr-FR" dirty="0"/>
            <a:t>A </a:t>
          </a:r>
          <a:r>
            <a:rPr lang="fr-FR" dirty="0" err="1"/>
            <a:t>smaller</a:t>
          </a:r>
          <a:r>
            <a:rPr lang="fr-FR" dirty="0"/>
            <a:t> </a:t>
          </a:r>
          <a:r>
            <a:rPr lang="fr-FR" dirty="0" err="1"/>
            <a:t>number</a:t>
          </a:r>
          <a:r>
            <a:rPr lang="fr-FR" dirty="0"/>
            <a:t> of </a:t>
          </a:r>
          <a:r>
            <a:rPr lang="fr-FR" dirty="0" err="1"/>
            <a:t>trajectory</a:t>
          </a:r>
          <a:r>
            <a:rPr lang="fr-FR" dirty="0"/>
            <a:t> types.</a:t>
          </a:r>
          <a:endParaRPr lang="en-US" dirty="0"/>
        </a:p>
      </dgm:t>
    </dgm:pt>
    <dgm:pt modelId="{71C856A8-5374-4A35-B8A8-5CB6702E5FFC}" type="parTrans" cxnId="{FDDC08AA-525F-466C-B155-1A94C7BEC4E6}">
      <dgm:prSet/>
      <dgm:spPr/>
      <dgm:t>
        <a:bodyPr/>
        <a:lstStyle/>
        <a:p>
          <a:endParaRPr lang="en-US"/>
        </a:p>
      </dgm:t>
    </dgm:pt>
    <dgm:pt modelId="{8080824C-7EBB-4929-A70A-33A27EE5DA9F}" type="sibTrans" cxnId="{FDDC08AA-525F-466C-B155-1A94C7BEC4E6}">
      <dgm:prSet/>
      <dgm:spPr/>
      <dgm:t>
        <a:bodyPr/>
        <a:lstStyle/>
        <a:p>
          <a:endParaRPr lang="en-US"/>
        </a:p>
      </dgm:t>
    </dgm:pt>
    <dgm:pt modelId="{E5189361-43B0-4980-A880-C9FFF2FDEE0A}">
      <dgm:prSet/>
      <dgm:spPr/>
      <dgm:t>
        <a:bodyPr/>
        <a:lstStyle/>
        <a:p>
          <a:r>
            <a:rPr lang="fr-FR" b="1"/>
            <a:t>Risk</a:t>
          </a:r>
          <a:endParaRPr lang="en-US"/>
        </a:p>
      </dgm:t>
    </dgm:pt>
    <dgm:pt modelId="{F921CEEA-763F-4CE1-9E77-02CC4F5A6737}" type="parTrans" cxnId="{A5BC4EAA-4B59-48D1-B3AA-326E4FD2C9B4}">
      <dgm:prSet/>
      <dgm:spPr/>
      <dgm:t>
        <a:bodyPr/>
        <a:lstStyle/>
        <a:p>
          <a:endParaRPr lang="en-US"/>
        </a:p>
      </dgm:t>
    </dgm:pt>
    <dgm:pt modelId="{8095665D-F1FE-41B6-8865-07194359AACA}" type="sibTrans" cxnId="{A5BC4EAA-4B59-48D1-B3AA-326E4FD2C9B4}">
      <dgm:prSet/>
      <dgm:spPr/>
      <dgm:t>
        <a:bodyPr/>
        <a:lstStyle/>
        <a:p>
          <a:endParaRPr lang="en-US"/>
        </a:p>
      </dgm:t>
    </dgm:pt>
    <dgm:pt modelId="{5E143C5B-2964-4DC8-9F52-28693783DD05}">
      <dgm:prSet/>
      <dgm:spPr/>
      <dgm:t>
        <a:bodyPr/>
        <a:lstStyle/>
        <a:p>
          <a:r>
            <a:rPr lang="fr-FR" dirty="0"/>
            <a:t>Some </a:t>
          </a:r>
          <a:r>
            <a:rPr lang="fr-FR" dirty="0" err="1"/>
            <a:t>individual</a:t>
          </a:r>
          <a:r>
            <a:rPr lang="fr-FR" dirty="0"/>
            <a:t> </a:t>
          </a:r>
          <a:r>
            <a:rPr lang="fr-FR" dirty="0" err="1"/>
            <a:t>detail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</a:t>
          </a:r>
          <a:r>
            <a:rPr lang="fr-FR" dirty="0" err="1"/>
            <a:t>lost</a:t>
          </a:r>
          <a:r>
            <a:rPr lang="fr-FR" dirty="0"/>
            <a:t>.</a:t>
          </a:r>
          <a:endParaRPr lang="en-US" dirty="0"/>
        </a:p>
      </dgm:t>
    </dgm:pt>
    <dgm:pt modelId="{FCDFF50D-9871-4F03-B127-A54284540536}" type="parTrans" cxnId="{AB900463-68F3-497A-BCDA-2E0BC42CB5AE}">
      <dgm:prSet/>
      <dgm:spPr/>
      <dgm:t>
        <a:bodyPr/>
        <a:lstStyle/>
        <a:p>
          <a:endParaRPr lang="en-US"/>
        </a:p>
      </dgm:t>
    </dgm:pt>
    <dgm:pt modelId="{DBF4E239-F970-4D08-8503-C9D2D90CD718}" type="sibTrans" cxnId="{AB900463-68F3-497A-BCDA-2E0BC42CB5AE}">
      <dgm:prSet/>
      <dgm:spPr/>
      <dgm:t>
        <a:bodyPr/>
        <a:lstStyle/>
        <a:p>
          <a:endParaRPr lang="en-US"/>
        </a:p>
      </dgm:t>
    </dgm:pt>
    <dgm:pt modelId="{356181C3-6174-419B-8D81-1EF4BAD9F315}" type="pres">
      <dgm:prSet presAssocID="{697E0310-EE36-4445-A5E8-223E2E2B856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BA04BC-D2E6-4ECC-B362-82F37E156600}" type="pres">
      <dgm:prSet presAssocID="{BB178984-7A8F-4F0E-8F49-8181CFE92178}" presName="root" presStyleCnt="0"/>
      <dgm:spPr/>
    </dgm:pt>
    <dgm:pt modelId="{08F216F8-ADA8-42F7-BDAD-6A987688F237}" type="pres">
      <dgm:prSet presAssocID="{BB178984-7A8F-4F0E-8F49-8181CFE92178}" presName="rootComposite" presStyleCnt="0"/>
      <dgm:spPr/>
    </dgm:pt>
    <dgm:pt modelId="{12B9479E-FEC9-44EE-8A96-BF0A78CBF5BD}" type="pres">
      <dgm:prSet presAssocID="{BB178984-7A8F-4F0E-8F49-8181CFE92178}" presName="rootText" presStyleLbl="node1" presStyleIdx="0" presStyleCnt="3"/>
      <dgm:spPr/>
    </dgm:pt>
    <dgm:pt modelId="{CAB987EF-AC45-4DAB-A5F3-3D8F91FFD4AC}" type="pres">
      <dgm:prSet presAssocID="{BB178984-7A8F-4F0E-8F49-8181CFE92178}" presName="rootConnector" presStyleLbl="node1" presStyleIdx="0" presStyleCnt="3"/>
      <dgm:spPr/>
    </dgm:pt>
    <dgm:pt modelId="{3C307DDF-1E4F-49CA-AC3A-54BC8575C5EB}" type="pres">
      <dgm:prSet presAssocID="{BB178984-7A8F-4F0E-8F49-8181CFE92178}" presName="childShape" presStyleCnt="0"/>
      <dgm:spPr/>
    </dgm:pt>
    <dgm:pt modelId="{F2F4EFF4-A37A-4F71-99F8-CBEC26E7051C}" type="pres">
      <dgm:prSet presAssocID="{E4D1022B-3152-40C9-B4F2-CEA269B76B73}" presName="Name13" presStyleLbl="parChTrans1D2" presStyleIdx="0" presStyleCnt="3"/>
      <dgm:spPr/>
    </dgm:pt>
    <dgm:pt modelId="{52EC8502-E4B5-44DD-ABED-7914053C8126}" type="pres">
      <dgm:prSet presAssocID="{478BCF03-93FD-4F2C-BC4E-8800625283A4}" presName="childText" presStyleLbl="bgAcc1" presStyleIdx="0" presStyleCnt="3">
        <dgm:presLayoutVars>
          <dgm:bulletEnabled val="1"/>
        </dgm:presLayoutVars>
      </dgm:prSet>
      <dgm:spPr/>
    </dgm:pt>
    <dgm:pt modelId="{B1FC06CF-1188-4760-8EBF-D4E8942EC119}" type="pres">
      <dgm:prSet presAssocID="{45F23D05-1086-4457-B76A-A0B6817F47E8}" presName="root" presStyleCnt="0"/>
      <dgm:spPr/>
    </dgm:pt>
    <dgm:pt modelId="{D756F0B6-9380-4E9A-AE1D-C1E84709F84E}" type="pres">
      <dgm:prSet presAssocID="{45F23D05-1086-4457-B76A-A0B6817F47E8}" presName="rootComposite" presStyleCnt="0"/>
      <dgm:spPr/>
    </dgm:pt>
    <dgm:pt modelId="{8B449AD2-B1AB-44AA-8540-E1D2B4471CC6}" type="pres">
      <dgm:prSet presAssocID="{45F23D05-1086-4457-B76A-A0B6817F47E8}" presName="rootText" presStyleLbl="node1" presStyleIdx="1" presStyleCnt="3"/>
      <dgm:spPr/>
    </dgm:pt>
    <dgm:pt modelId="{2F443215-3B04-4DFC-B6CB-241B65F49021}" type="pres">
      <dgm:prSet presAssocID="{45F23D05-1086-4457-B76A-A0B6817F47E8}" presName="rootConnector" presStyleLbl="node1" presStyleIdx="1" presStyleCnt="3"/>
      <dgm:spPr/>
    </dgm:pt>
    <dgm:pt modelId="{900E2A43-25C4-46B3-A183-4DD260E30DC9}" type="pres">
      <dgm:prSet presAssocID="{45F23D05-1086-4457-B76A-A0B6817F47E8}" presName="childShape" presStyleCnt="0"/>
      <dgm:spPr/>
    </dgm:pt>
    <dgm:pt modelId="{6887D7A2-5705-4400-B67F-E61AC31324A9}" type="pres">
      <dgm:prSet presAssocID="{71C856A8-5374-4A35-B8A8-5CB6702E5FFC}" presName="Name13" presStyleLbl="parChTrans1D2" presStyleIdx="1" presStyleCnt="3"/>
      <dgm:spPr/>
    </dgm:pt>
    <dgm:pt modelId="{00814480-5B45-437A-B982-C67CFDECE3A5}" type="pres">
      <dgm:prSet presAssocID="{0D9C7065-7200-45E2-95DE-F2F501CCA5EB}" presName="childText" presStyleLbl="bgAcc1" presStyleIdx="1" presStyleCnt="3">
        <dgm:presLayoutVars>
          <dgm:bulletEnabled val="1"/>
        </dgm:presLayoutVars>
      </dgm:prSet>
      <dgm:spPr/>
    </dgm:pt>
    <dgm:pt modelId="{AC26ED38-AEDF-42FD-85E7-009B11003AEC}" type="pres">
      <dgm:prSet presAssocID="{E5189361-43B0-4980-A880-C9FFF2FDEE0A}" presName="root" presStyleCnt="0"/>
      <dgm:spPr/>
    </dgm:pt>
    <dgm:pt modelId="{3A1D449D-A4B3-4AA6-8790-962AE54C045A}" type="pres">
      <dgm:prSet presAssocID="{E5189361-43B0-4980-A880-C9FFF2FDEE0A}" presName="rootComposite" presStyleCnt="0"/>
      <dgm:spPr/>
    </dgm:pt>
    <dgm:pt modelId="{F49EA3D3-844E-45B5-B9F5-15641B48AE38}" type="pres">
      <dgm:prSet presAssocID="{E5189361-43B0-4980-A880-C9FFF2FDEE0A}" presName="rootText" presStyleLbl="node1" presStyleIdx="2" presStyleCnt="3"/>
      <dgm:spPr/>
    </dgm:pt>
    <dgm:pt modelId="{B48BA2DF-3238-4990-A167-E33DBDAB2E48}" type="pres">
      <dgm:prSet presAssocID="{E5189361-43B0-4980-A880-C9FFF2FDEE0A}" presName="rootConnector" presStyleLbl="node1" presStyleIdx="2" presStyleCnt="3"/>
      <dgm:spPr/>
    </dgm:pt>
    <dgm:pt modelId="{A93C1672-9229-48DA-9504-099E254B32F7}" type="pres">
      <dgm:prSet presAssocID="{E5189361-43B0-4980-A880-C9FFF2FDEE0A}" presName="childShape" presStyleCnt="0"/>
      <dgm:spPr/>
    </dgm:pt>
    <dgm:pt modelId="{75C3516C-08AA-445E-BBA9-481F9576389B}" type="pres">
      <dgm:prSet presAssocID="{FCDFF50D-9871-4F03-B127-A54284540536}" presName="Name13" presStyleLbl="parChTrans1D2" presStyleIdx="2" presStyleCnt="3"/>
      <dgm:spPr/>
    </dgm:pt>
    <dgm:pt modelId="{718A895B-0597-4FC5-B769-A46D33D87225}" type="pres">
      <dgm:prSet presAssocID="{5E143C5B-2964-4DC8-9F52-28693783DD05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0A00EA14-ECF9-473F-B600-EFA8D01BD8EF}" type="presOf" srcId="{0D9C7065-7200-45E2-95DE-F2F501CCA5EB}" destId="{00814480-5B45-437A-B982-C67CFDECE3A5}" srcOrd="0" destOrd="0" presId="urn:microsoft.com/office/officeart/2005/8/layout/hierarchy3"/>
    <dgm:cxn modelId="{05220E29-1DD5-447F-AE73-21F14A61BC46}" type="presOf" srcId="{478BCF03-93FD-4F2C-BC4E-8800625283A4}" destId="{52EC8502-E4B5-44DD-ABED-7914053C8126}" srcOrd="0" destOrd="0" presId="urn:microsoft.com/office/officeart/2005/8/layout/hierarchy3"/>
    <dgm:cxn modelId="{B46E732F-B4F3-405C-959A-650796AF81E6}" srcId="{697E0310-EE36-4445-A5E8-223E2E2B856D}" destId="{BB178984-7A8F-4F0E-8F49-8181CFE92178}" srcOrd="0" destOrd="0" parTransId="{BFD580DB-3DE7-4FA1-98C6-A3289D25A07C}" sibTransId="{7C5651AC-0D0E-42CE-9581-39047806BB4D}"/>
    <dgm:cxn modelId="{AA88B93E-BB2A-4495-889A-01B56A94D4A5}" type="presOf" srcId="{BB178984-7A8F-4F0E-8F49-8181CFE92178}" destId="{12B9479E-FEC9-44EE-8A96-BF0A78CBF5BD}" srcOrd="0" destOrd="0" presId="urn:microsoft.com/office/officeart/2005/8/layout/hierarchy3"/>
    <dgm:cxn modelId="{6FEC3E41-651D-483A-8588-E85C823990B4}" type="presOf" srcId="{FCDFF50D-9871-4F03-B127-A54284540536}" destId="{75C3516C-08AA-445E-BBA9-481F9576389B}" srcOrd="0" destOrd="0" presId="urn:microsoft.com/office/officeart/2005/8/layout/hierarchy3"/>
    <dgm:cxn modelId="{AB900463-68F3-497A-BCDA-2E0BC42CB5AE}" srcId="{E5189361-43B0-4980-A880-C9FFF2FDEE0A}" destId="{5E143C5B-2964-4DC8-9F52-28693783DD05}" srcOrd="0" destOrd="0" parTransId="{FCDFF50D-9871-4F03-B127-A54284540536}" sibTransId="{DBF4E239-F970-4D08-8503-C9D2D90CD718}"/>
    <dgm:cxn modelId="{43990565-2A3D-4B1A-9D44-CF2A865E3276}" type="presOf" srcId="{45F23D05-1086-4457-B76A-A0B6817F47E8}" destId="{2F443215-3B04-4DFC-B6CB-241B65F49021}" srcOrd="1" destOrd="0" presId="urn:microsoft.com/office/officeart/2005/8/layout/hierarchy3"/>
    <dgm:cxn modelId="{10CD3166-A3FF-4BCC-ACCA-466FE6961206}" type="presOf" srcId="{E5189361-43B0-4980-A880-C9FFF2FDEE0A}" destId="{B48BA2DF-3238-4990-A167-E33DBDAB2E48}" srcOrd="1" destOrd="0" presId="urn:microsoft.com/office/officeart/2005/8/layout/hierarchy3"/>
    <dgm:cxn modelId="{599A354E-44A0-4D0E-8937-922912AC9263}" type="presOf" srcId="{697E0310-EE36-4445-A5E8-223E2E2B856D}" destId="{356181C3-6174-419B-8D81-1EF4BAD9F315}" srcOrd="0" destOrd="0" presId="urn:microsoft.com/office/officeart/2005/8/layout/hierarchy3"/>
    <dgm:cxn modelId="{8DFA6D83-E63F-48E1-BFD0-187E6DDFE16E}" type="presOf" srcId="{E4D1022B-3152-40C9-B4F2-CEA269B76B73}" destId="{F2F4EFF4-A37A-4F71-99F8-CBEC26E7051C}" srcOrd="0" destOrd="0" presId="urn:microsoft.com/office/officeart/2005/8/layout/hierarchy3"/>
    <dgm:cxn modelId="{61557790-003C-4DA7-A73B-79B29571B5DA}" srcId="{BB178984-7A8F-4F0E-8F49-8181CFE92178}" destId="{478BCF03-93FD-4F2C-BC4E-8800625283A4}" srcOrd="0" destOrd="0" parTransId="{E4D1022B-3152-40C9-B4F2-CEA269B76B73}" sibTransId="{DD912B37-220E-4094-875A-D450579069F1}"/>
    <dgm:cxn modelId="{BD94CFA9-1576-4D9B-BAB7-B80AC091273B}" type="presOf" srcId="{45F23D05-1086-4457-B76A-A0B6817F47E8}" destId="{8B449AD2-B1AB-44AA-8540-E1D2B4471CC6}" srcOrd="0" destOrd="0" presId="urn:microsoft.com/office/officeart/2005/8/layout/hierarchy3"/>
    <dgm:cxn modelId="{FDDC08AA-525F-466C-B155-1A94C7BEC4E6}" srcId="{45F23D05-1086-4457-B76A-A0B6817F47E8}" destId="{0D9C7065-7200-45E2-95DE-F2F501CCA5EB}" srcOrd="0" destOrd="0" parTransId="{71C856A8-5374-4A35-B8A8-5CB6702E5FFC}" sibTransId="{8080824C-7EBB-4929-A70A-33A27EE5DA9F}"/>
    <dgm:cxn modelId="{A5BC4EAA-4B59-48D1-B3AA-326E4FD2C9B4}" srcId="{697E0310-EE36-4445-A5E8-223E2E2B856D}" destId="{E5189361-43B0-4980-A880-C9FFF2FDEE0A}" srcOrd="2" destOrd="0" parTransId="{F921CEEA-763F-4CE1-9E77-02CC4F5A6737}" sibTransId="{8095665D-F1FE-41B6-8865-07194359AACA}"/>
    <dgm:cxn modelId="{2A80EDAF-30D7-4742-BE8E-0F9293FE7D6D}" type="presOf" srcId="{5E143C5B-2964-4DC8-9F52-28693783DD05}" destId="{718A895B-0597-4FC5-B769-A46D33D87225}" srcOrd="0" destOrd="0" presId="urn:microsoft.com/office/officeart/2005/8/layout/hierarchy3"/>
    <dgm:cxn modelId="{64D2EEBC-8B1E-4DE8-8CF3-76AD610DAD40}" type="presOf" srcId="{E5189361-43B0-4980-A880-C9FFF2FDEE0A}" destId="{F49EA3D3-844E-45B5-B9F5-15641B48AE38}" srcOrd="0" destOrd="0" presId="urn:microsoft.com/office/officeart/2005/8/layout/hierarchy3"/>
    <dgm:cxn modelId="{50AEFBC5-50AB-46F1-A981-DFB49D1B06E6}" type="presOf" srcId="{71C856A8-5374-4A35-B8A8-5CB6702E5FFC}" destId="{6887D7A2-5705-4400-B67F-E61AC31324A9}" srcOrd="0" destOrd="0" presId="urn:microsoft.com/office/officeart/2005/8/layout/hierarchy3"/>
    <dgm:cxn modelId="{50973ACC-CD5E-46BE-B0D8-826888FE42B2}" type="presOf" srcId="{BB178984-7A8F-4F0E-8F49-8181CFE92178}" destId="{CAB987EF-AC45-4DAB-A5F3-3D8F91FFD4AC}" srcOrd="1" destOrd="0" presId="urn:microsoft.com/office/officeart/2005/8/layout/hierarchy3"/>
    <dgm:cxn modelId="{04861ED8-2C6F-4201-80F8-2DB634AAE649}" srcId="{697E0310-EE36-4445-A5E8-223E2E2B856D}" destId="{45F23D05-1086-4457-B76A-A0B6817F47E8}" srcOrd="1" destOrd="0" parTransId="{8987AEC2-B3E3-4306-8310-D16926A0FBC8}" sibTransId="{643C9E26-B9AC-4AC0-A9CD-5A536ED0C5C1}"/>
    <dgm:cxn modelId="{7C7B15B5-0F16-42C4-BAD1-A87C67EDDCC1}" type="presParOf" srcId="{356181C3-6174-419B-8D81-1EF4BAD9F315}" destId="{3DBA04BC-D2E6-4ECC-B362-82F37E156600}" srcOrd="0" destOrd="0" presId="urn:microsoft.com/office/officeart/2005/8/layout/hierarchy3"/>
    <dgm:cxn modelId="{7896639F-21FF-4380-9984-04FAB9176475}" type="presParOf" srcId="{3DBA04BC-D2E6-4ECC-B362-82F37E156600}" destId="{08F216F8-ADA8-42F7-BDAD-6A987688F237}" srcOrd="0" destOrd="0" presId="urn:microsoft.com/office/officeart/2005/8/layout/hierarchy3"/>
    <dgm:cxn modelId="{A5CE3894-6F72-4D54-AE56-67AD89BB4FD2}" type="presParOf" srcId="{08F216F8-ADA8-42F7-BDAD-6A987688F237}" destId="{12B9479E-FEC9-44EE-8A96-BF0A78CBF5BD}" srcOrd="0" destOrd="0" presId="urn:microsoft.com/office/officeart/2005/8/layout/hierarchy3"/>
    <dgm:cxn modelId="{D24F7C05-C257-413F-AB89-B6587F34B6C1}" type="presParOf" srcId="{08F216F8-ADA8-42F7-BDAD-6A987688F237}" destId="{CAB987EF-AC45-4DAB-A5F3-3D8F91FFD4AC}" srcOrd="1" destOrd="0" presId="urn:microsoft.com/office/officeart/2005/8/layout/hierarchy3"/>
    <dgm:cxn modelId="{956FF6E6-8195-4FB7-A8C8-D1C3E7202EE3}" type="presParOf" srcId="{3DBA04BC-D2E6-4ECC-B362-82F37E156600}" destId="{3C307DDF-1E4F-49CA-AC3A-54BC8575C5EB}" srcOrd="1" destOrd="0" presId="urn:microsoft.com/office/officeart/2005/8/layout/hierarchy3"/>
    <dgm:cxn modelId="{5EBAECA5-D939-405B-B30A-A0AA98615E4E}" type="presParOf" srcId="{3C307DDF-1E4F-49CA-AC3A-54BC8575C5EB}" destId="{F2F4EFF4-A37A-4F71-99F8-CBEC26E7051C}" srcOrd="0" destOrd="0" presId="urn:microsoft.com/office/officeart/2005/8/layout/hierarchy3"/>
    <dgm:cxn modelId="{686DC440-B41C-4F32-927F-CB1607549E27}" type="presParOf" srcId="{3C307DDF-1E4F-49CA-AC3A-54BC8575C5EB}" destId="{52EC8502-E4B5-44DD-ABED-7914053C8126}" srcOrd="1" destOrd="0" presId="urn:microsoft.com/office/officeart/2005/8/layout/hierarchy3"/>
    <dgm:cxn modelId="{5FFFC161-FF7B-4415-B77E-E9BB494ED08F}" type="presParOf" srcId="{356181C3-6174-419B-8D81-1EF4BAD9F315}" destId="{B1FC06CF-1188-4760-8EBF-D4E8942EC119}" srcOrd="1" destOrd="0" presId="urn:microsoft.com/office/officeart/2005/8/layout/hierarchy3"/>
    <dgm:cxn modelId="{ACFC28E0-ED8A-4590-9A69-D5029D7A4DCC}" type="presParOf" srcId="{B1FC06CF-1188-4760-8EBF-D4E8942EC119}" destId="{D756F0B6-9380-4E9A-AE1D-C1E84709F84E}" srcOrd="0" destOrd="0" presId="urn:microsoft.com/office/officeart/2005/8/layout/hierarchy3"/>
    <dgm:cxn modelId="{FD5AC898-DBB8-4783-A07E-E1F19321B2E7}" type="presParOf" srcId="{D756F0B6-9380-4E9A-AE1D-C1E84709F84E}" destId="{8B449AD2-B1AB-44AA-8540-E1D2B4471CC6}" srcOrd="0" destOrd="0" presId="urn:microsoft.com/office/officeart/2005/8/layout/hierarchy3"/>
    <dgm:cxn modelId="{33157DC6-4B10-4348-8627-CC10CCE181B2}" type="presParOf" srcId="{D756F0B6-9380-4E9A-AE1D-C1E84709F84E}" destId="{2F443215-3B04-4DFC-B6CB-241B65F49021}" srcOrd="1" destOrd="0" presId="urn:microsoft.com/office/officeart/2005/8/layout/hierarchy3"/>
    <dgm:cxn modelId="{B26C7FB6-ECBD-4C88-9E9F-22E1C2F4C10E}" type="presParOf" srcId="{B1FC06CF-1188-4760-8EBF-D4E8942EC119}" destId="{900E2A43-25C4-46B3-A183-4DD260E30DC9}" srcOrd="1" destOrd="0" presId="urn:microsoft.com/office/officeart/2005/8/layout/hierarchy3"/>
    <dgm:cxn modelId="{FC1736F0-C7E6-4FCD-AEEB-41CC90124FAE}" type="presParOf" srcId="{900E2A43-25C4-46B3-A183-4DD260E30DC9}" destId="{6887D7A2-5705-4400-B67F-E61AC31324A9}" srcOrd="0" destOrd="0" presId="urn:microsoft.com/office/officeart/2005/8/layout/hierarchy3"/>
    <dgm:cxn modelId="{01498270-6B4E-48C8-AB49-DC565ADB1657}" type="presParOf" srcId="{900E2A43-25C4-46B3-A183-4DD260E30DC9}" destId="{00814480-5B45-437A-B982-C67CFDECE3A5}" srcOrd="1" destOrd="0" presId="urn:microsoft.com/office/officeart/2005/8/layout/hierarchy3"/>
    <dgm:cxn modelId="{FE1019BB-6465-462C-9B20-2E996F0D3715}" type="presParOf" srcId="{356181C3-6174-419B-8D81-1EF4BAD9F315}" destId="{AC26ED38-AEDF-42FD-85E7-009B11003AEC}" srcOrd="2" destOrd="0" presId="urn:microsoft.com/office/officeart/2005/8/layout/hierarchy3"/>
    <dgm:cxn modelId="{BE7C2FA7-7540-44C4-95E4-A4FD27121D16}" type="presParOf" srcId="{AC26ED38-AEDF-42FD-85E7-009B11003AEC}" destId="{3A1D449D-A4B3-4AA6-8790-962AE54C045A}" srcOrd="0" destOrd="0" presId="urn:microsoft.com/office/officeart/2005/8/layout/hierarchy3"/>
    <dgm:cxn modelId="{2191CBF7-C74E-443C-895A-46E44C3AC500}" type="presParOf" srcId="{3A1D449D-A4B3-4AA6-8790-962AE54C045A}" destId="{F49EA3D3-844E-45B5-B9F5-15641B48AE38}" srcOrd="0" destOrd="0" presId="urn:microsoft.com/office/officeart/2005/8/layout/hierarchy3"/>
    <dgm:cxn modelId="{C890DC8A-30DB-45A2-B711-8739E6AD38AC}" type="presParOf" srcId="{3A1D449D-A4B3-4AA6-8790-962AE54C045A}" destId="{B48BA2DF-3238-4990-A167-E33DBDAB2E48}" srcOrd="1" destOrd="0" presId="urn:microsoft.com/office/officeart/2005/8/layout/hierarchy3"/>
    <dgm:cxn modelId="{88C0986A-FF8F-4657-AACF-696E1A15A696}" type="presParOf" srcId="{AC26ED38-AEDF-42FD-85E7-009B11003AEC}" destId="{A93C1672-9229-48DA-9504-099E254B32F7}" srcOrd="1" destOrd="0" presId="urn:microsoft.com/office/officeart/2005/8/layout/hierarchy3"/>
    <dgm:cxn modelId="{AA5AA9B9-9845-4293-AC86-9FE8F2021A77}" type="presParOf" srcId="{A93C1672-9229-48DA-9504-099E254B32F7}" destId="{75C3516C-08AA-445E-BBA9-481F9576389B}" srcOrd="0" destOrd="0" presId="urn:microsoft.com/office/officeart/2005/8/layout/hierarchy3"/>
    <dgm:cxn modelId="{7A1B0974-91AA-40AF-91D1-C414D9A8CB40}" type="presParOf" srcId="{A93C1672-9229-48DA-9504-099E254B32F7}" destId="{718A895B-0597-4FC5-B769-A46D33D8722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FAF4A9-14B1-458E-992A-19115D347342}" type="doc">
      <dgm:prSet loTypeId="urn:microsoft.com/office/officeart/2005/8/layout/process1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29729935-BAE0-479E-A5A3-FD4283C42469}">
      <dgm:prSet/>
      <dgm:spPr/>
      <dgm:t>
        <a:bodyPr/>
        <a:lstStyle/>
        <a:p>
          <a:r>
            <a:rPr lang="en-US"/>
            <a:t>Distance matrix</a:t>
          </a:r>
          <a:endParaRPr lang="fr-FR"/>
        </a:p>
      </dgm:t>
    </dgm:pt>
    <dgm:pt modelId="{7EF4C331-C1F6-472B-9B8B-C78CCA6EED0E}" type="parTrans" cxnId="{9A6EDD67-243D-4127-B4B2-B85A33E52D56}">
      <dgm:prSet/>
      <dgm:spPr/>
      <dgm:t>
        <a:bodyPr/>
        <a:lstStyle/>
        <a:p>
          <a:endParaRPr lang="fr-FR"/>
        </a:p>
      </dgm:t>
    </dgm:pt>
    <dgm:pt modelId="{B4343D4D-EA08-429E-82E2-9314C807CF7D}" type="sibTrans" cxnId="{9A6EDD67-243D-4127-B4B2-B85A33E52D56}">
      <dgm:prSet/>
      <dgm:spPr/>
      <dgm:t>
        <a:bodyPr/>
        <a:lstStyle/>
        <a:p>
          <a:endParaRPr lang="fr-FR"/>
        </a:p>
      </dgm:t>
    </dgm:pt>
    <dgm:pt modelId="{1CA52FEE-5594-41E0-AC24-E03C6A8382B9}">
      <dgm:prSet/>
      <dgm:spPr/>
      <dgm:t>
        <a:bodyPr/>
        <a:lstStyle/>
        <a:p>
          <a:r>
            <a:rPr lang="en-US"/>
            <a:t>Clustering algorithm</a:t>
          </a:r>
          <a:endParaRPr lang="fr-FR"/>
        </a:p>
      </dgm:t>
    </dgm:pt>
    <dgm:pt modelId="{EA5402C4-FF72-43EF-A649-7B7B278DE51C}" type="parTrans" cxnId="{3F63EE00-1677-473F-A990-E74B0C772846}">
      <dgm:prSet/>
      <dgm:spPr/>
      <dgm:t>
        <a:bodyPr/>
        <a:lstStyle/>
        <a:p>
          <a:endParaRPr lang="fr-FR"/>
        </a:p>
      </dgm:t>
    </dgm:pt>
    <dgm:pt modelId="{96EB50E5-8B27-416B-9002-8DF9B100A34C}" type="sibTrans" cxnId="{3F63EE00-1677-473F-A990-E74B0C772846}">
      <dgm:prSet/>
      <dgm:spPr/>
      <dgm:t>
        <a:bodyPr/>
        <a:lstStyle/>
        <a:p>
          <a:endParaRPr lang="fr-FR"/>
        </a:p>
      </dgm:t>
    </dgm:pt>
    <dgm:pt modelId="{3E8239E1-8BEA-42B2-8C32-583D5CFF0AC5}">
      <dgm:prSet/>
      <dgm:spPr/>
      <dgm:t>
        <a:bodyPr/>
        <a:lstStyle/>
        <a:p>
          <a:r>
            <a:rPr lang="en-US"/>
            <a:t>Cluster membership</a:t>
          </a:r>
          <a:endParaRPr lang="fr-FR"/>
        </a:p>
      </dgm:t>
    </dgm:pt>
    <dgm:pt modelId="{2BF55DEA-CBEA-443F-A64D-FCEB48C0489A}" type="parTrans" cxnId="{01849AE3-7939-478D-895A-30C826B23C38}">
      <dgm:prSet/>
      <dgm:spPr/>
      <dgm:t>
        <a:bodyPr/>
        <a:lstStyle/>
        <a:p>
          <a:endParaRPr lang="fr-FR"/>
        </a:p>
      </dgm:t>
    </dgm:pt>
    <dgm:pt modelId="{ED7297D0-9F88-4806-A5C7-805BA08239BA}" type="sibTrans" cxnId="{01849AE3-7939-478D-895A-30C826B23C38}">
      <dgm:prSet/>
      <dgm:spPr/>
      <dgm:t>
        <a:bodyPr/>
        <a:lstStyle/>
        <a:p>
          <a:endParaRPr lang="fr-FR"/>
        </a:p>
      </dgm:t>
    </dgm:pt>
    <dgm:pt modelId="{723BDB29-D61E-4172-A3EE-67A9097F1D1C}">
      <dgm:prSet/>
      <dgm:spPr/>
      <dgm:t>
        <a:bodyPr/>
        <a:lstStyle/>
        <a:p>
          <a:r>
            <a:rPr lang="en-US"/>
            <a:t>Cluster plots and interpretation</a:t>
          </a:r>
          <a:endParaRPr lang="fr-FR"/>
        </a:p>
      </dgm:t>
    </dgm:pt>
    <dgm:pt modelId="{2EE69860-5EF6-4753-B06B-1087EB9005B2}" type="parTrans" cxnId="{450BAC9D-66CF-4A26-B35B-74B382FA8736}">
      <dgm:prSet/>
      <dgm:spPr/>
      <dgm:t>
        <a:bodyPr/>
        <a:lstStyle/>
        <a:p>
          <a:endParaRPr lang="fr-FR"/>
        </a:p>
      </dgm:t>
    </dgm:pt>
    <dgm:pt modelId="{5ABB6C45-8640-4625-83E5-E3987A5A132D}" type="sibTrans" cxnId="{450BAC9D-66CF-4A26-B35B-74B382FA8736}">
      <dgm:prSet/>
      <dgm:spPr/>
      <dgm:t>
        <a:bodyPr/>
        <a:lstStyle/>
        <a:p>
          <a:endParaRPr lang="fr-FR"/>
        </a:p>
      </dgm:t>
    </dgm:pt>
    <dgm:pt modelId="{0ACEA48D-A6D6-49FE-8917-474564401FE3}" type="pres">
      <dgm:prSet presAssocID="{C0FAF4A9-14B1-458E-992A-19115D347342}" presName="Name0" presStyleCnt="0">
        <dgm:presLayoutVars>
          <dgm:dir/>
          <dgm:resizeHandles val="exact"/>
        </dgm:presLayoutVars>
      </dgm:prSet>
      <dgm:spPr/>
    </dgm:pt>
    <dgm:pt modelId="{2B97C03B-1DC7-4B83-93CF-F4A61A16805D}" type="pres">
      <dgm:prSet presAssocID="{29729935-BAE0-479E-A5A3-FD4283C42469}" presName="node" presStyleLbl="node1" presStyleIdx="0" presStyleCnt="4">
        <dgm:presLayoutVars>
          <dgm:bulletEnabled val="1"/>
        </dgm:presLayoutVars>
      </dgm:prSet>
      <dgm:spPr/>
    </dgm:pt>
    <dgm:pt modelId="{A2614720-F054-4B5B-8CFA-929E7FBC13E0}" type="pres">
      <dgm:prSet presAssocID="{B4343D4D-EA08-429E-82E2-9314C807CF7D}" presName="sibTrans" presStyleLbl="sibTrans2D1" presStyleIdx="0" presStyleCnt="3"/>
      <dgm:spPr/>
    </dgm:pt>
    <dgm:pt modelId="{CA3C184B-A3E2-4D4A-98F0-476B26AB46B1}" type="pres">
      <dgm:prSet presAssocID="{B4343D4D-EA08-429E-82E2-9314C807CF7D}" presName="connectorText" presStyleLbl="sibTrans2D1" presStyleIdx="0" presStyleCnt="3"/>
      <dgm:spPr/>
    </dgm:pt>
    <dgm:pt modelId="{0C56EFEB-D056-4B9E-A56D-5F9859696D30}" type="pres">
      <dgm:prSet presAssocID="{1CA52FEE-5594-41E0-AC24-E03C6A8382B9}" presName="node" presStyleLbl="node1" presStyleIdx="1" presStyleCnt="4">
        <dgm:presLayoutVars>
          <dgm:bulletEnabled val="1"/>
        </dgm:presLayoutVars>
      </dgm:prSet>
      <dgm:spPr/>
    </dgm:pt>
    <dgm:pt modelId="{9EDF2A89-9893-4E61-9F0A-1785704D0BF3}" type="pres">
      <dgm:prSet presAssocID="{96EB50E5-8B27-416B-9002-8DF9B100A34C}" presName="sibTrans" presStyleLbl="sibTrans2D1" presStyleIdx="1" presStyleCnt="3"/>
      <dgm:spPr/>
    </dgm:pt>
    <dgm:pt modelId="{707F867A-97EB-4B32-8224-434BF4B15D4A}" type="pres">
      <dgm:prSet presAssocID="{96EB50E5-8B27-416B-9002-8DF9B100A34C}" presName="connectorText" presStyleLbl="sibTrans2D1" presStyleIdx="1" presStyleCnt="3"/>
      <dgm:spPr/>
    </dgm:pt>
    <dgm:pt modelId="{EFDD8C4B-4518-4763-8CCC-37F82D65EFF3}" type="pres">
      <dgm:prSet presAssocID="{3E8239E1-8BEA-42B2-8C32-583D5CFF0AC5}" presName="node" presStyleLbl="node1" presStyleIdx="2" presStyleCnt="4">
        <dgm:presLayoutVars>
          <dgm:bulletEnabled val="1"/>
        </dgm:presLayoutVars>
      </dgm:prSet>
      <dgm:spPr/>
    </dgm:pt>
    <dgm:pt modelId="{B35552FE-38B6-4369-82C2-B3F29E106488}" type="pres">
      <dgm:prSet presAssocID="{ED7297D0-9F88-4806-A5C7-805BA08239BA}" presName="sibTrans" presStyleLbl="sibTrans2D1" presStyleIdx="2" presStyleCnt="3"/>
      <dgm:spPr/>
    </dgm:pt>
    <dgm:pt modelId="{9C9C1BC3-3919-4125-AB5B-7C93553804D3}" type="pres">
      <dgm:prSet presAssocID="{ED7297D0-9F88-4806-A5C7-805BA08239BA}" presName="connectorText" presStyleLbl="sibTrans2D1" presStyleIdx="2" presStyleCnt="3"/>
      <dgm:spPr/>
    </dgm:pt>
    <dgm:pt modelId="{1D895478-C168-4D8A-BD4F-D50AB2129067}" type="pres">
      <dgm:prSet presAssocID="{723BDB29-D61E-4172-A3EE-67A9097F1D1C}" presName="node" presStyleLbl="node1" presStyleIdx="3" presStyleCnt="4">
        <dgm:presLayoutVars>
          <dgm:bulletEnabled val="1"/>
        </dgm:presLayoutVars>
      </dgm:prSet>
      <dgm:spPr/>
    </dgm:pt>
  </dgm:ptLst>
  <dgm:cxnLst>
    <dgm:cxn modelId="{3F63EE00-1677-473F-A990-E74B0C772846}" srcId="{C0FAF4A9-14B1-458E-992A-19115D347342}" destId="{1CA52FEE-5594-41E0-AC24-E03C6A8382B9}" srcOrd="1" destOrd="0" parTransId="{EA5402C4-FF72-43EF-A649-7B7B278DE51C}" sibTransId="{96EB50E5-8B27-416B-9002-8DF9B100A34C}"/>
    <dgm:cxn modelId="{6CFD7222-8E91-40FF-8BFB-4806307C2F69}" type="presOf" srcId="{ED7297D0-9F88-4806-A5C7-805BA08239BA}" destId="{B35552FE-38B6-4369-82C2-B3F29E106488}" srcOrd="0" destOrd="0" presId="urn:microsoft.com/office/officeart/2005/8/layout/process1"/>
    <dgm:cxn modelId="{65E8332A-C8B2-417B-A4F0-05395D2E5967}" type="presOf" srcId="{B4343D4D-EA08-429E-82E2-9314C807CF7D}" destId="{CA3C184B-A3E2-4D4A-98F0-476B26AB46B1}" srcOrd="1" destOrd="0" presId="urn:microsoft.com/office/officeart/2005/8/layout/process1"/>
    <dgm:cxn modelId="{4002FF2F-6685-439E-8F40-19419794FB6B}" type="presOf" srcId="{96EB50E5-8B27-416B-9002-8DF9B100A34C}" destId="{707F867A-97EB-4B32-8224-434BF4B15D4A}" srcOrd="1" destOrd="0" presId="urn:microsoft.com/office/officeart/2005/8/layout/process1"/>
    <dgm:cxn modelId="{9245F13F-EE60-4BEA-B703-7C974501400E}" type="presOf" srcId="{723BDB29-D61E-4172-A3EE-67A9097F1D1C}" destId="{1D895478-C168-4D8A-BD4F-D50AB2129067}" srcOrd="0" destOrd="0" presId="urn:microsoft.com/office/officeart/2005/8/layout/process1"/>
    <dgm:cxn modelId="{8681A543-7CC9-445C-BD5B-64B44568F4DC}" type="presOf" srcId="{29729935-BAE0-479E-A5A3-FD4283C42469}" destId="{2B97C03B-1DC7-4B83-93CF-F4A61A16805D}" srcOrd="0" destOrd="0" presId="urn:microsoft.com/office/officeart/2005/8/layout/process1"/>
    <dgm:cxn modelId="{9A6EDD67-243D-4127-B4B2-B85A33E52D56}" srcId="{C0FAF4A9-14B1-458E-992A-19115D347342}" destId="{29729935-BAE0-479E-A5A3-FD4283C42469}" srcOrd="0" destOrd="0" parTransId="{7EF4C331-C1F6-472B-9B8B-C78CCA6EED0E}" sibTransId="{B4343D4D-EA08-429E-82E2-9314C807CF7D}"/>
    <dgm:cxn modelId="{450BAC9D-66CF-4A26-B35B-74B382FA8736}" srcId="{C0FAF4A9-14B1-458E-992A-19115D347342}" destId="{723BDB29-D61E-4172-A3EE-67A9097F1D1C}" srcOrd="3" destOrd="0" parTransId="{2EE69860-5EF6-4753-B06B-1087EB9005B2}" sibTransId="{5ABB6C45-8640-4625-83E5-E3987A5A132D}"/>
    <dgm:cxn modelId="{84712DB3-5745-4DA3-8A63-FC981A4A4D6B}" type="presOf" srcId="{C0FAF4A9-14B1-458E-992A-19115D347342}" destId="{0ACEA48D-A6D6-49FE-8917-474564401FE3}" srcOrd="0" destOrd="0" presId="urn:microsoft.com/office/officeart/2005/8/layout/process1"/>
    <dgm:cxn modelId="{F58A90B3-A20E-4820-9E52-A9E1E1942E2A}" type="presOf" srcId="{96EB50E5-8B27-416B-9002-8DF9B100A34C}" destId="{9EDF2A89-9893-4E61-9F0A-1785704D0BF3}" srcOrd="0" destOrd="0" presId="urn:microsoft.com/office/officeart/2005/8/layout/process1"/>
    <dgm:cxn modelId="{2F9F76B5-54FE-4326-BF3A-CA42E417E1D1}" type="presOf" srcId="{1CA52FEE-5594-41E0-AC24-E03C6A8382B9}" destId="{0C56EFEB-D056-4B9E-A56D-5F9859696D30}" srcOrd="0" destOrd="0" presId="urn:microsoft.com/office/officeart/2005/8/layout/process1"/>
    <dgm:cxn modelId="{D9B35AE1-E010-4455-9945-7E875F293073}" type="presOf" srcId="{B4343D4D-EA08-429E-82E2-9314C807CF7D}" destId="{A2614720-F054-4B5B-8CFA-929E7FBC13E0}" srcOrd="0" destOrd="0" presId="urn:microsoft.com/office/officeart/2005/8/layout/process1"/>
    <dgm:cxn modelId="{01849AE3-7939-478D-895A-30C826B23C38}" srcId="{C0FAF4A9-14B1-458E-992A-19115D347342}" destId="{3E8239E1-8BEA-42B2-8C32-583D5CFF0AC5}" srcOrd="2" destOrd="0" parTransId="{2BF55DEA-CBEA-443F-A64D-FCEB48C0489A}" sibTransId="{ED7297D0-9F88-4806-A5C7-805BA08239BA}"/>
    <dgm:cxn modelId="{BC0AD9E4-0AA5-40B8-8B7E-84BDB952CE96}" type="presOf" srcId="{ED7297D0-9F88-4806-A5C7-805BA08239BA}" destId="{9C9C1BC3-3919-4125-AB5B-7C93553804D3}" srcOrd="1" destOrd="0" presId="urn:microsoft.com/office/officeart/2005/8/layout/process1"/>
    <dgm:cxn modelId="{15C7F4F5-7826-4591-98B1-2ED19EBC362A}" type="presOf" srcId="{3E8239E1-8BEA-42B2-8C32-583D5CFF0AC5}" destId="{EFDD8C4B-4518-4763-8CCC-37F82D65EFF3}" srcOrd="0" destOrd="0" presId="urn:microsoft.com/office/officeart/2005/8/layout/process1"/>
    <dgm:cxn modelId="{4F45F97A-B071-41BE-ADAD-6370B1F8EE02}" type="presParOf" srcId="{0ACEA48D-A6D6-49FE-8917-474564401FE3}" destId="{2B97C03B-1DC7-4B83-93CF-F4A61A16805D}" srcOrd="0" destOrd="0" presId="urn:microsoft.com/office/officeart/2005/8/layout/process1"/>
    <dgm:cxn modelId="{759DFCC1-DAF2-45C2-958D-9D27220DAAF2}" type="presParOf" srcId="{0ACEA48D-A6D6-49FE-8917-474564401FE3}" destId="{A2614720-F054-4B5B-8CFA-929E7FBC13E0}" srcOrd="1" destOrd="0" presId="urn:microsoft.com/office/officeart/2005/8/layout/process1"/>
    <dgm:cxn modelId="{EE7263A7-449F-4BC1-A4DD-C00E7FF62F8A}" type="presParOf" srcId="{A2614720-F054-4B5B-8CFA-929E7FBC13E0}" destId="{CA3C184B-A3E2-4D4A-98F0-476B26AB46B1}" srcOrd="0" destOrd="0" presId="urn:microsoft.com/office/officeart/2005/8/layout/process1"/>
    <dgm:cxn modelId="{A1AC31DD-2D9F-4A63-AD75-CD0CF8118D48}" type="presParOf" srcId="{0ACEA48D-A6D6-49FE-8917-474564401FE3}" destId="{0C56EFEB-D056-4B9E-A56D-5F9859696D30}" srcOrd="2" destOrd="0" presId="urn:microsoft.com/office/officeart/2005/8/layout/process1"/>
    <dgm:cxn modelId="{1BAFD02C-A624-4615-B058-CEFE0A2EEA8D}" type="presParOf" srcId="{0ACEA48D-A6D6-49FE-8917-474564401FE3}" destId="{9EDF2A89-9893-4E61-9F0A-1785704D0BF3}" srcOrd="3" destOrd="0" presId="urn:microsoft.com/office/officeart/2005/8/layout/process1"/>
    <dgm:cxn modelId="{635A5408-51EF-4DDA-A7CA-964AE93B56F8}" type="presParOf" srcId="{9EDF2A89-9893-4E61-9F0A-1785704D0BF3}" destId="{707F867A-97EB-4B32-8224-434BF4B15D4A}" srcOrd="0" destOrd="0" presId="urn:microsoft.com/office/officeart/2005/8/layout/process1"/>
    <dgm:cxn modelId="{F2742F6A-6D8F-41A9-8CD8-0CBD3C9F4686}" type="presParOf" srcId="{0ACEA48D-A6D6-49FE-8917-474564401FE3}" destId="{EFDD8C4B-4518-4763-8CCC-37F82D65EFF3}" srcOrd="4" destOrd="0" presId="urn:microsoft.com/office/officeart/2005/8/layout/process1"/>
    <dgm:cxn modelId="{A5BE93D6-52C0-44F6-8B9B-C0009FA1F5F0}" type="presParOf" srcId="{0ACEA48D-A6D6-49FE-8917-474564401FE3}" destId="{B35552FE-38B6-4369-82C2-B3F29E106488}" srcOrd="5" destOrd="0" presId="urn:microsoft.com/office/officeart/2005/8/layout/process1"/>
    <dgm:cxn modelId="{E18E4073-7D78-4E50-AAEF-BD1A75A39715}" type="presParOf" srcId="{B35552FE-38B6-4369-82C2-B3F29E106488}" destId="{9C9C1BC3-3919-4125-AB5B-7C93553804D3}" srcOrd="0" destOrd="0" presId="urn:microsoft.com/office/officeart/2005/8/layout/process1"/>
    <dgm:cxn modelId="{4015E67D-C323-49C0-86CE-392358F162E9}" type="presParOf" srcId="{0ACEA48D-A6D6-49FE-8917-474564401FE3}" destId="{1D895478-C168-4D8A-BD4F-D50AB212906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B7F055-EC06-49E1-A8B4-3C3DE23196C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ABD98A-CEAB-416F-90BD-931E41452188}">
      <dgm:prSet/>
      <dgm:spPr/>
      <dgm:t>
        <a:bodyPr/>
        <a:lstStyle/>
        <a:p>
          <a:r>
            <a:rPr lang="fr-FR" b="1" dirty="0"/>
            <a:t>Ward tries to </a:t>
          </a:r>
          <a:r>
            <a:rPr lang="fr-FR" b="1" dirty="0" err="1"/>
            <a:t>create</a:t>
          </a:r>
          <a:r>
            <a:rPr lang="fr-FR" b="1" dirty="0"/>
            <a:t> compact clusters.</a:t>
          </a:r>
          <a:r>
            <a:rPr lang="fr-FR" dirty="0"/>
            <a:t> </a:t>
          </a:r>
          <a:endParaRPr lang="en-US" dirty="0"/>
        </a:p>
      </dgm:t>
    </dgm:pt>
    <dgm:pt modelId="{937214D6-B5E0-4BE6-BF35-F95583C7CEF8}" type="parTrans" cxnId="{6F8CF484-4F89-4BEC-842D-637F8FFA67CC}">
      <dgm:prSet/>
      <dgm:spPr/>
      <dgm:t>
        <a:bodyPr/>
        <a:lstStyle/>
        <a:p>
          <a:endParaRPr lang="en-US"/>
        </a:p>
      </dgm:t>
    </dgm:pt>
    <dgm:pt modelId="{3EF5A5EA-B98F-4B9A-8FE6-91B52CBCDBCA}" type="sibTrans" cxnId="{6F8CF484-4F89-4BEC-842D-637F8FFA67CC}">
      <dgm:prSet/>
      <dgm:spPr/>
      <dgm:t>
        <a:bodyPr/>
        <a:lstStyle/>
        <a:p>
          <a:endParaRPr lang="en-US"/>
        </a:p>
      </dgm:t>
    </dgm:pt>
    <dgm:pt modelId="{1424A076-8196-4E26-B33F-D24CDCE74A20}">
      <dgm:prSet/>
      <dgm:spPr/>
      <dgm:t>
        <a:bodyPr/>
        <a:lstStyle/>
        <a:p>
          <a:r>
            <a:rPr lang="fr-FR" dirty="0"/>
            <a:t>It </a:t>
          </a:r>
          <a:r>
            <a:rPr lang="fr-FR" dirty="0" err="1"/>
            <a:t>is</a:t>
          </a:r>
          <a:r>
            <a:rPr lang="fr-FR" dirty="0"/>
            <a:t> not </a:t>
          </a:r>
          <a:r>
            <a:rPr lang="fr-FR" dirty="0" err="1"/>
            <a:t>automatically</a:t>
          </a:r>
          <a:r>
            <a:rPr lang="fr-FR" dirty="0"/>
            <a:t> the best </a:t>
          </a:r>
          <a:r>
            <a:rPr lang="fr-FR" dirty="0" err="1"/>
            <a:t>method</a:t>
          </a:r>
          <a:r>
            <a:rPr lang="fr-FR" dirty="0"/>
            <a:t>: Ward can </a:t>
          </a:r>
          <a:r>
            <a:rPr lang="fr-FR" dirty="0" err="1"/>
            <a:t>be</a:t>
          </a:r>
          <a:r>
            <a:rPr lang="fr-FR" dirty="0"/>
            <a:t> sensitive to </a:t>
          </a:r>
          <a:r>
            <a:rPr lang="fr-FR" dirty="0" err="1"/>
            <a:t>atypical</a:t>
          </a:r>
          <a:r>
            <a:rPr lang="fr-FR" dirty="0"/>
            <a:t> cases and </a:t>
          </a:r>
          <a:r>
            <a:rPr lang="fr-FR" dirty="0" err="1"/>
            <a:t>should</a:t>
          </a:r>
          <a:r>
            <a:rPr lang="fr-FR" dirty="0"/>
            <a:t>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checked</a:t>
          </a:r>
          <a:r>
            <a:rPr lang="fr-FR" dirty="0"/>
            <a:t> </a:t>
          </a:r>
          <a:r>
            <a:rPr lang="fr-FR" dirty="0" err="1"/>
            <a:t>against</a:t>
          </a:r>
          <a:r>
            <a:rPr lang="fr-FR" dirty="0"/>
            <a:t> plots, cluster sizes and alternative solutions.</a:t>
          </a:r>
          <a:endParaRPr lang="en-US" dirty="0"/>
        </a:p>
      </dgm:t>
    </dgm:pt>
    <dgm:pt modelId="{2A7D4C1C-93CB-4121-BC3F-4916C68235E5}" type="parTrans" cxnId="{209CF60E-09FB-44BE-99AC-D916775CD940}">
      <dgm:prSet/>
      <dgm:spPr/>
      <dgm:t>
        <a:bodyPr/>
        <a:lstStyle/>
        <a:p>
          <a:endParaRPr lang="en-US"/>
        </a:p>
      </dgm:t>
    </dgm:pt>
    <dgm:pt modelId="{F7315278-D751-4E0C-9BAC-033CD9798771}" type="sibTrans" cxnId="{209CF60E-09FB-44BE-99AC-D916775CD940}">
      <dgm:prSet/>
      <dgm:spPr/>
      <dgm:t>
        <a:bodyPr/>
        <a:lstStyle/>
        <a:p>
          <a:endParaRPr lang="en-US"/>
        </a:p>
      </dgm:t>
    </dgm:pt>
    <dgm:pt modelId="{FCB90C88-E391-4AFD-AB2C-A114620BFA39}">
      <dgm:prSet/>
      <dgm:spPr/>
      <dgm:t>
        <a:bodyPr/>
        <a:lstStyle/>
        <a:p>
          <a:r>
            <a:rPr lang="fr-FR" dirty="0"/>
            <a:t>It merges groups </a:t>
          </a:r>
          <a:r>
            <a:rPr lang="fr-FR" dirty="0" err="1"/>
            <a:t>when</a:t>
          </a:r>
          <a:r>
            <a:rPr lang="fr-FR" dirty="0"/>
            <a:t> </a:t>
          </a:r>
          <a:r>
            <a:rPr lang="fr-FR" dirty="0" err="1"/>
            <a:t>doing</a:t>
          </a:r>
          <a:r>
            <a:rPr lang="fr-FR" dirty="0"/>
            <a:t> </a:t>
          </a:r>
          <a:r>
            <a:rPr lang="fr-FR" dirty="0" err="1"/>
            <a:t>so</a:t>
          </a:r>
          <a:r>
            <a:rPr lang="fr-FR" dirty="0"/>
            <a:t> </a:t>
          </a:r>
          <a:r>
            <a:rPr lang="fr-FR" dirty="0" err="1"/>
            <a:t>it</a:t>
          </a:r>
          <a:r>
            <a:rPr lang="fr-FR" dirty="0"/>
            <a:t> </a:t>
          </a:r>
          <a:r>
            <a:rPr lang="fr-FR" dirty="0" err="1"/>
            <a:t>adds</a:t>
          </a:r>
          <a:r>
            <a:rPr lang="fr-FR" dirty="0"/>
            <a:t> the </a:t>
          </a:r>
          <a:r>
            <a:rPr lang="fr-FR" dirty="0" err="1"/>
            <a:t>smallest</a:t>
          </a:r>
          <a:r>
            <a:rPr lang="fr-FR" dirty="0"/>
            <a:t> possible </a:t>
          </a:r>
          <a:r>
            <a:rPr lang="fr-FR" dirty="0" err="1"/>
            <a:t>amount</a:t>
          </a:r>
          <a:r>
            <a:rPr lang="fr-FR" dirty="0"/>
            <a:t> of </a:t>
          </a:r>
          <a:r>
            <a:rPr lang="fr-FR" dirty="0" err="1"/>
            <a:t>within</a:t>
          </a:r>
          <a:r>
            <a:rPr lang="fr-FR" dirty="0"/>
            <a:t>-cluster </a:t>
          </a:r>
          <a:r>
            <a:rPr lang="fr-FR" dirty="0" err="1"/>
            <a:t>heterogeneity</a:t>
          </a:r>
          <a:r>
            <a:rPr lang="fr-FR" dirty="0"/>
            <a:t>. </a:t>
          </a:r>
          <a:endParaRPr lang="en-US" dirty="0"/>
        </a:p>
      </dgm:t>
    </dgm:pt>
    <dgm:pt modelId="{3BBC9818-D225-49BB-BF0D-FFEA522D7358}" type="parTrans" cxnId="{9D72F8C2-AC1B-4AB3-857D-9D3F7F170802}">
      <dgm:prSet/>
      <dgm:spPr/>
      <dgm:t>
        <a:bodyPr/>
        <a:lstStyle/>
        <a:p>
          <a:endParaRPr lang="fr-FR"/>
        </a:p>
      </dgm:t>
    </dgm:pt>
    <dgm:pt modelId="{10454F4D-68E8-4584-B224-9638A7CC10EB}" type="sibTrans" cxnId="{9D72F8C2-AC1B-4AB3-857D-9D3F7F170802}">
      <dgm:prSet/>
      <dgm:spPr/>
      <dgm:t>
        <a:bodyPr/>
        <a:lstStyle/>
        <a:p>
          <a:endParaRPr lang="fr-FR"/>
        </a:p>
      </dgm:t>
    </dgm:pt>
    <dgm:pt modelId="{25F22AB6-34CE-46D8-B6B5-7B2625A1441D}">
      <dgm:prSet/>
      <dgm:spPr/>
      <dgm:t>
        <a:bodyPr/>
        <a:lstStyle/>
        <a:p>
          <a:r>
            <a:rPr lang="fr-FR" dirty="0"/>
            <a:t>It </a:t>
          </a:r>
          <a:r>
            <a:rPr lang="fr-FR" dirty="0" err="1"/>
            <a:t>often</a:t>
          </a:r>
          <a:r>
            <a:rPr lang="fr-FR" dirty="0"/>
            <a:t> </a:t>
          </a:r>
          <a:r>
            <a:rPr lang="fr-FR" dirty="0" err="1"/>
            <a:t>gives</a:t>
          </a:r>
          <a:r>
            <a:rPr lang="fr-FR" dirty="0"/>
            <a:t> </a:t>
          </a:r>
          <a:r>
            <a:rPr lang="fr-FR" dirty="0" err="1"/>
            <a:t>readable</a:t>
          </a:r>
          <a:r>
            <a:rPr lang="fr-FR" dirty="0"/>
            <a:t> typologies in </a:t>
          </a:r>
          <a:r>
            <a:rPr lang="fr-FR" dirty="0" err="1"/>
            <a:t>sequence</a:t>
          </a:r>
          <a:r>
            <a:rPr lang="fr-FR" dirty="0"/>
            <a:t> </a:t>
          </a:r>
          <a:r>
            <a:rPr lang="fr-FR" dirty="0" err="1"/>
            <a:t>analysis</a:t>
          </a:r>
          <a:r>
            <a:rPr lang="fr-FR" dirty="0"/>
            <a:t>. </a:t>
          </a:r>
          <a:endParaRPr lang="en-US" dirty="0"/>
        </a:p>
      </dgm:t>
    </dgm:pt>
    <dgm:pt modelId="{3F4A60ED-E24A-4497-93AD-286D9D7E40FC}" type="parTrans" cxnId="{51FEEC0D-0ABA-4ED3-A375-3358179B01CB}">
      <dgm:prSet/>
      <dgm:spPr/>
      <dgm:t>
        <a:bodyPr/>
        <a:lstStyle/>
        <a:p>
          <a:endParaRPr lang="fr-FR"/>
        </a:p>
      </dgm:t>
    </dgm:pt>
    <dgm:pt modelId="{754CCCB3-3E8E-4C80-BAF6-9A61A695F538}" type="sibTrans" cxnId="{51FEEC0D-0ABA-4ED3-A375-3358179B01CB}">
      <dgm:prSet/>
      <dgm:spPr/>
      <dgm:t>
        <a:bodyPr/>
        <a:lstStyle/>
        <a:p>
          <a:endParaRPr lang="fr-FR"/>
        </a:p>
      </dgm:t>
    </dgm:pt>
    <dgm:pt modelId="{6E9020FE-6BF5-4A89-AE41-90F631378900}">
      <dgm:prSet/>
      <dgm:spPr/>
      <dgm:t>
        <a:bodyPr/>
        <a:lstStyle/>
        <a:p>
          <a:r>
            <a:rPr lang="fr-FR"/>
            <a:t>It is commonly used as a default starting point in sequence-analysis typologies. </a:t>
          </a:r>
          <a:endParaRPr lang="en-US" dirty="0"/>
        </a:p>
      </dgm:t>
    </dgm:pt>
    <dgm:pt modelId="{AD2CAADA-A9EC-4937-87CF-969209C5D822}" type="parTrans" cxnId="{E9A5B246-48B8-490D-9624-F7F0DDCAADE9}">
      <dgm:prSet/>
      <dgm:spPr/>
      <dgm:t>
        <a:bodyPr/>
        <a:lstStyle/>
        <a:p>
          <a:endParaRPr lang="fr-FR"/>
        </a:p>
      </dgm:t>
    </dgm:pt>
    <dgm:pt modelId="{E0A15792-401B-47C5-ACB0-75C6BD69E44D}" type="sibTrans" cxnId="{E9A5B246-48B8-490D-9624-F7F0DDCAADE9}">
      <dgm:prSet/>
      <dgm:spPr/>
      <dgm:t>
        <a:bodyPr/>
        <a:lstStyle/>
        <a:p>
          <a:endParaRPr lang="fr-FR"/>
        </a:p>
      </dgm:t>
    </dgm:pt>
    <dgm:pt modelId="{7F79C1AA-0814-4CF3-9DE2-4B1296C75718}" type="pres">
      <dgm:prSet presAssocID="{C8B7F055-EC06-49E1-A8B4-3C3DE23196CE}" presName="vert0" presStyleCnt="0">
        <dgm:presLayoutVars>
          <dgm:dir/>
          <dgm:animOne val="branch"/>
          <dgm:animLvl val="lvl"/>
        </dgm:presLayoutVars>
      </dgm:prSet>
      <dgm:spPr/>
    </dgm:pt>
    <dgm:pt modelId="{3E5B9865-DAFA-4ACE-A725-A80329A590EE}" type="pres">
      <dgm:prSet presAssocID="{65ABD98A-CEAB-416F-90BD-931E41452188}" presName="thickLine" presStyleLbl="alignNode1" presStyleIdx="0" presStyleCnt="5"/>
      <dgm:spPr/>
    </dgm:pt>
    <dgm:pt modelId="{459F82AA-3238-4891-B5DC-61EF840EA619}" type="pres">
      <dgm:prSet presAssocID="{65ABD98A-CEAB-416F-90BD-931E41452188}" presName="horz1" presStyleCnt="0"/>
      <dgm:spPr/>
    </dgm:pt>
    <dgm:pt modelId="{CB81F417-C6E1-4452-8242-B00F74608172}" type="pres">
      <dgm:prSet presAssocID="{65ABD98A-CEAB-416F-90BD-931E41452188}" presName="tx1" presStyleLbl="revTx" presStyleIdx="0" presStyleCnt="5"/>
      <dgm:spPr/>
    </dgm:pt>
    <dgm:pt modelId="{70E8B7C4-79F2-4450-AC36-BA4E729A7789}" type="pres">
      <dgm:prSet presAssocID="{65ABD98A-CEAB-416F-90BD-931E41452188}" presName="vert1" presStyleCnt="0"/>
      <dgm:spPr/>
    </dgm:pt>
    <dgm:pt modelId="{6FFE8679-81E2-42C1-931F-E8C3106CEE87}" type="pres">
      <dgm:prSet presAssocID="{FCB90C88-E391-4AFD-AB2C-A114620BFA39}" presName="thickLine" presStyleLbl="alignNode1" presStyleIdx="1" presStyleCnt="5"/>
      <dgm:spPr/>
    </dgm:pt>
    <dgm:pt modelId="{D85B165C-3993-437A-9CEA-C4E2A7F97D47}" type="pres">
      <dgm:prSet presAssocID="{FCB90C88-E391-4AFD-AB2C-A114620BFA39}" presName="horz1" presStyleCnt="0"/>
      <dgm:spPr/>
    </dgm:pt>
    <dgm:pt modelId="{ABEE1219-C17E-4557-8B59-5D73A1E5FC50}" type="pres">
      <dgm:prSet presAssocID="{FCB90C88-E391-4AFD-AB2C-A114620BFA39}" presName="tx1" presStyleLbl="revTx" presStyleIdx="1" presStyleCnt="5"/>
      <dgm:spPr/>
    </dgm:pt>
    <dgm:pt modelId="{986CCE85-2B1B-4EB0-8415-6D5DED89C19B}" type="pres">
      <dgm:prSet presAssocID="{FCB90C88-E391-4AFD-AB2C-A114620BFA39}" presName="vert1" presStyleCnt="0"/>
      <dgm:spPr/>
    </dgm:pt>
    <dgm:pt modelId="{50B6DE4A-4BDB-4C4E-8A89-8291A3F8B596}" type="pres">
      <dgm:prSet presAssocID="{25F22AB6-34CE-46D8-B6B5-7B2625A1441D}" presName="thickLine" presStyleLbl="alignNode1" presStyleIdx="2" presStyleCnt="5"/>
      <dgm:spPr/>
    </dgm:pt>
    <dgm:pt modelId="{6FD73763-4232-4A78-B494-F1082C2309A1}" type="pres">
      <dgm:prSet presAssocID="{25F22AB6-34CE-46D8-B6B5-7B2625A1441D}" presName="horz1" presStyleCnt="0"/>
      <dgm:spPr/>
    </dgm:pt>
    <dgm:pt modelId="{6B97159E-797B-4F4A-9749-E14F2B537754}" type="pres">
      <dgm:prSet presAssocID="{25F22AB6-34CE-46D8-B6B5-7B2625A1441D}" presName="tx1" presStyleLbl="revTx" presStyleIdx="2" presStyleCnt="5"/>
      <dgm:spPr/>
    </dgm:pt>
    <dgm:pt modelId="{6D3B9F8F-603E-4005-95B0-9A7D11C9285F}" type="pres">
      <dgm:prSet presAssocID="{25F22AB6-34CE-46D8-B6B5-7B2625A1441D}" presName="vert1" presStyleCnt="0"/>
      <dgm:spPr/>
    </dgm:pt>
    <dgm:pt modelId="{6784476A-F9DA-4989-81AA-0A58CB4ACAC8}" type="pres">
      <dgm:prSet presAssocID="{6E9020FE-6BF5-4A89-AE41-90F631378900}" presName="thickLine" presStyleLbl="alignNode1" presStyleIdx="3" presStyleCnt="5"/>
      <dgm:spPr/>
    </dgm:pt>
    <dgm:pt modelId="{A68D9AE9-7623-4F6D-BA37-68F6A090E54C}" type="pres">
      <dgm:prSet presAssocID="{6E9020FE-6BF5-4A89-AE41-90F631378900}" presName="horz1" presStyleCnt="0"/>
      <dgm:spPr/>
    </dgm:pt>
    <dgm:pt modelId="{568A5A5B-19E7-4A97-A9DA-A7E011811F76}" type="pres">
      <dgm:prSet presAssocID="{6E9020FE-6BF5-4A89-AE41-90F631378900}" presName="tx1" presStyleLbl="revTx" presStyleIdx="3" presStyleCnt="5"/>
      <dgm:spPr/>
    </dgm:pt>
    <dgm:pt modelId="{9B2DCA08-C209-4EE2-8DBD-E8AE04E1E228}" type="pres">
      <dgm:prSet presAssocID="{6E9020FE-6BF5-4A89-AE41-90F631378900}" presName="vert1" presStyleCnt="0"/>
      <dgm:spPr/>
    </dgm:pt>
    <dgm:pt modelId="{CF78BAFC-3F58-41A4-A513-B5218FC45A73}" type="pres">
      <dgm:prSet presAssocID="{1424A076-8196-4E26-B33F-D24CDCE74A20}" presName="thickLine" presStyleLbl="alignNode1" presStyleIdx="4" presStyleCnt="5"/>
      <dgm:spPr/>
    </dgm:pt>
    <dgm:pt modelId="{75255312-A4EB-454E-8B67-7C1589963A05}" type="pres">
      <dgm:prSet presAssocID="{1424A076-8196-4E26-B33F-D24CDCE74A20}" presName="horz1" presStyleCnt="0"/>
      <dgm:spPr/>
    </dgm:pt>
    <dgm:pt modelId="{39765838-FD77-48FD-839D-C92B80C8CC3E}" type="pres">
      <dgm:prSet presAssocID="{1424A076-8196-4E26-B33F-D24CDCE74A20}" presName="tx1" presStyleLbl="revTx" presStyleIdx="4" presStyleCnt="5"/>
      <dgm:spPr/>
    </dgm:pt>
    <dgm:pt modelId="{AE327122-5CCF-4FF7-9D03-0ECFD8972E6B}" type="pres">
      <dgm:prSet presAssocID="{1424A076-8196-4E26-B33F-D24CDCE74A20}" presName="vert1" presStyleCnt="0"/>
      <dgm:spPr/>
    </dgm:pt>
  </dgm:ptLst>
  <dgm:cxnLst>
    <dgm:cxn modelId="{51FEEC0D-0ABA-4ED3-A375-3358179B01CB}" srcId="{C8B7F055-EC06-49E1-A8B4-3C3DE23196CE}" destId="{25F22AB6-34CE-46D8-B6B5-7B2625A1441D}" srcOrd="2" destOrd="0" parTransId="{3F4A60ED-E24A-4497-93AD-286D9D7E40FC}" sibTransId="{754CCCB3-3E8E-4C80-BAF6-9A61A695F538}"/>
    <dgm:cxn modelId="{209CF60E-09FB-44BE-99AC-D916775CD940}" srcId="{C8B7F055-EC06-49E1-A8B4-3C3DE23196CE}" destId="{1424A076-8196-4E26-B33F-D24CDCE74A20}" srcOrd="4" destOrd="0" parTransId="{2A7D4C1C-93CB-4121-BC3F-4916C68235E5}" sibTransId="{F7315278-D751-4E0C-9BAC-033CD9798771}"/>
    <dgm:cxn modelId="{77BC8D12-D04D-4692-AC6F-0F1EB8B273EF}" type="presOf" srcId="{FCB90C88-E391-4AFD-AB2C-A114620BFA39}" destId="{ABEE1219-C17E-4557-8B59-5D73A1E5FC50}" srcOrd="0" destOrd="0" presId="urn:microsoft.com/office/officeart/2008/layout/LinedList"/>
    <dgm:cxn modelId="{E56A2E2C-AA4B-4641-9792-EF6EE1583FAE}" type="presOf" srcId="{1424A076-8196-4E26-B33F-D24CDCE74A20}" destId="{39765838-FD77-48FD-839D-C92B80C8CC3E}" srcOrd="0" destOrd="0" presId="urn:microsoft.com/office/officeart/2008/layout/LinedList"/>
    <dgm:cxn modelId="{E9A5B246-48B8-490D-9624-F7F0DDCAADE9}" srcId="{C8B7F055-EC06-49E1-A8B4-3C3DE23196CE}" destId="{6E9020FE-6BF5-4A89-AE41-90F631378900}" srcOrd="3" destOrd="0" parTransId="{AD2CAADA-A9EC-4937-87CF-969209C5D822}" sibTransId="{E0A15792-401B-47C5-ACB0-75C6BD69E44D}"/>
    <dgm:cxn modelId="{E39C377F-B08A-44D2-9E16-2F4F3301E2DF}" type="presOf" srcId="{C8B7F055-EC06-49E1-A8B4-3C3DE23196CE}" destId="{7F79C1AA-0814-4CF3-9DE2-4B1296C75718}" srcOrd="0" destOrd="0" presId="urn:microsoft.com/office/officeart/2008/layout/LinedList"/>
    <dgm:cxn modelId="{6F8CF484-4F89-4BEC-842D-637F8FFA67CC}" srcId="{C8B7F055-EC06-49E1-A8B4-3C3DE23196CE}" destId="{65ABD98A-CEAB-416F-90BD-931E41452188}" srcOrd="0" destOrd="0" parTransId="{937214D6-B5E0-4BE6-BF35-F95583C7CEF8}" sibTransId="{3EF5A5EA-B98F-4B9A-8FE6-91B52CBCDBCA}"/>
    <dgm:cxn modelId="{9D72F8C2-AC1B-4AB3-857D-9D3F7F170802}" srcId="{C8B7F055-EC06-49E1-A8B4-3C3DE23196CE}" destId="{FCB90C88-E391-4AFD-AB2C-A114620BFA39}" srcOrd="1" destOrd="0" parTransId="{3BBC9818-D225-49BB-BF0D-FFEA522D7358}" sibTransId="{10454F4D-68E8-4584-B224-9638A7CC10EB}"/>
    <dgm:cxn modelId="{F8CDC8C4-B231-4104-A66D-101B7DFBBC86}" type="presOf" srcId="{65ABD98A-CEAB-416F-90BD-931E41452188}" destId="{CB81F417-C6E1-4452-8242-B00F74608172}" srcOrd="0" destOrd="0" presId="urn:microsoft.com/office/officeart/2008/layout/LinedList"/>
    <dgm:cxn modelId="{5F19F9E2-8F29-40B0-A2F7-EBE1D31C775C}" type="presOf" srcId="{25F22AB6-34CE-46D8-B6B5-7B2625A1441D}" destId="{6B97159E-797B-4F4A-9749-E14F2B537754}" srcOrd="0" destOrd="0" presId="urn:microsoft.com/office/officeart/2008/layout/LinedList"/>
    <dgm:cxn modelId="{2019FAEC-E599-48E2-9232-E96383889953}" type="presOf" srcId="{6E9020FE-6BF5-4A89-AE41-90F631378900}" destId="{568A5A5B-19E7-4A97-A9DA-A7E011811F76}" srcOrd="0" destOrd="0" presId="urn:microsoft.com/office/officeart/2008/layout/LinedList"/>
    <dgm:cxn modelId="{278B0590-A1F2-4CB3-B8CD-238166A11566}" type="presParOf" srcId="{7F79C1AA-0814-4CF3-9DE2-4B1296C75718}" destId="{3E5B9865-DAFA-4ACE-A725-A80329A590EE}" srcOrd="0" destOrd="0" presId="urn:microsoft.com/office/officeart/2008/layout/LinedList"/>
    <dgm:cxn modelId="{4509370B-7A33-4340-8B49-86FF8A0517B6}" type="presParOf" srcId="{7F79C1AA-0814-4CF3-9DE2-4B1296C75718}" destId="{459F82AA-3238-4891-B5DC-61EF840EA619}" srcOrd="1" destOrd="0" presId="urn:microsoft.com/office/officeart/2008/layout/LinedList"/>
    <dgm:cxn modelId="{6CCE6B5A-9D60-438B-BADF-BFACAC79D949}" type="presParOf" srcId="{459F82AA-3238-4891-B5DC-61EF840EA619}" destId="{CB81F417-C6E1-4452-8242-B00F74608172}" srcOrd="0" destOrd="0" presId="urn:microsoft.com/office/officeart/2008/layout/LinedList"/>
    <dgm:cxn modelId="{3669FDD2-A245-42F3-BE93-99839D3B675F}" type="presParOf" srcId="{459F82AA-3238-4891-B5DC-61EF840EA619}" destId="{70E8B7C4-79F2-4450-AC36-BA4E729A7789}" srcOrd="1" destOrd="0" presId="urn:microsoft.com/office/officeart/2008/layout/LinedList"/>
    <dgm:cxn modelId="{A9F4AF5B-24EC-488D-8012-FE1685BBDFE2}" type="presParOf" srcId="{7F79C1AA-0814-4CF3-9DE2-4B1296C75718}" destId="{6FFE8679-81E2-42C1-931F-E8C3106CEE87}" srcOrd="2" destOrd="0" presId="urn:microsoft.com/office/officeart/2008/layout/LinedList"/>
    <dgm:cxn modelId="{68F3E642-92A1-4492-830D-C734B8AD5C2B}" type="presParOf" srcId="{7F79C1AA-0814-4CF3-9DE2-4B1296C75718}" destId="{D85B165C-3993-437A-9CEA-C4E2A7F97D47}" srcOrd="3" destOrd="0" presId="urn:microsoft.com/office/officeart/2008/layout/LinedList"/>
    <dgm:cxn modelId="{662A9111-13DF-4057-A798-0E37277A7B3E}" type="presParOf" srcId="{D85B165C-3993-437A-9CEA-C4E2A7F97D47}" destId="{ABEE1219-C17E-4557-8B59-5D73A1E5FC50}" srcOrd="0" destOrd="0" presId="urn:microsoft.com/office/officeart/2008/layout/LinedList"/>
    <dgm:cxn modelId="{85543EAA-C72F-4FDB-839B-9F72F2117066}" type="presParOf" srcId="{D85B165C-3993-437A-9CEA-C4E2A7F97D47}" destId="{986CCE85-2B1B-4EB0-8415-6D5DED89C19B}" srcOrd="1" destOrd="0" presId="urn:microsoft.com/office/officeart/2008/layout/LinedList"/>
    <dgm:cxn modelId="{099A6FDF-8ED0-40CF-906F-34683F666F97}" type="presParOf" srcId="{7F79C1AA-0814-4CF3-9DE2-4B1296C75718}" destId="{50B6DE4A-4BDB-4C4E-8A89-8291A3F8B596}" srcOrd="4" destOrd="0" presId="urn:microsoft.com/office/officeart/2008/layout/LinedList"/>
    <dgm:cxn modelId="{58F36887-B09E-40F1-8315-06901259269C}" type="presParOf" srcId="{7F79C1AA-0814-4CF3-9DE2-4B1296C75718}" destId="{6FD73763-4232-4A78-B494-F1082C2309A1}" srcOrd="5" destOrd="0" presId="urn:microsoft.com/office/officeart/2008/layout/LinedList"/>
    <dgm:cxn modelId="{7368C84F-1363-4F51-95EE-712EA051B1E9}" type="presParOf" srcId="{6FD73763-4232-4A78-B494-F1082C2309A1}" destId="{6B97159E-797B-4F4A-9749-E14F2B537754}" srcOrd="0" destOrd="0" presId="urn:microsoft.com/office/officeart/2008/layout/LinedList"/>
    <dgm:cxn modelId="{EBAFD530-D394-4134-A5EF-971B5BEE161B}" type="presParOf" srcId="{6FD73763-4232-4A78-B494-F1082C2309A1}" destId="{6D3B9F8F-603E-4005-95B0-9A7D11C9285F}" srcOrd="1" destOrd="0" presId="urn:microsoft.com/office/officeart/2008/layout/LinedList"/>
    <dgm:cxn modelId="{9F0818DA-4028-47AA-A214-084A643803E3}" type="presParOf" srcId="{7F79C1AA-0814-4CF3-9DE2-4B1296C75718}" destId="{6784476A-F9DA-4989-81AA-0A58CB4ACAC8}" srcOrd="6" destOrd="0" presId="urn:microsoft.com/office/officeart/2008/layout/LinedList"/>
    <dgm:cxn modelId="{DE206715-9892-4658-970D-79AE6B85724E}" type="presParOf" srcId="{7F79C1AA-0814-4CF3-9DE2-4B1296C75718}" destId="{A68D9AE9-7623-4F6D-BA37-68F6A090E54C}" srcOrd="7" destOrd="0" presId="urn:microsoft.com/office/officeart/2008/layout/LinedList"/>
    <dgm:cxn modelId="{EC90C23C-FEF0-4756-9D70-BA0B8DBBC6CE}" type="presParOf" srcId="{A68D9AE9-7623-4F6D-BA37-68F6A090E54C}" destId="{568A5A5B-19E7-4A97-A9DA-A7E011811F76}" srcOrd="0" destOrd="0" presId="urn:microsoft.com/office/officeart/2008/layout/LinedList"/>
    <dgm:cxn modelId="{365CC4B6-4698-4449-B7E4-F62A69EF3027}" type="presParOf" srcId="{A68D9AE9-7623-4F6D-BA37-68F6A090E54C}" destId="{9B2DCA08-C209-4EE2-8DBD-E8AE04E1E228}" srcOrd="1" destOrd="0" presId="urn:microsoft.com/office/officeart/2008/layout/LinedList"/>
    <dgm:cxn modelId="{2859A787-3655-4BBB-8E4D-0CB89EC04EC5}" type="presParOf" srcId="{7F79C1AA-0814-4CF3-9DE2-4B1296C75718}" destId="{CF78BAFC-3F58-41A4-A513-B5218FC45A73}" srcOrd="8" destOrd="0" presId="urn:microsoft.com/office/officeart/2008/layout/LinedList"/>
    <dgm:cxn modelId="{8253F3A1-471C-4075-8DD0-FF471FE9719B}" type="presParOf" srcId="{7F79C1AA-0814-4CF3-9DE2-4B1296C75718}" destId="{75255312-A4EB-454E-8B67-7C1589963A05}" srcOrd="9" destOrd="0" presId="urn:microsoft.com/office/officeart/2008/layout/LinedList"/>
    <dgm:cxn modelId="{87666BA3-DC9C-4901-8213-4912BB6A5702}" type="presParOf" srcId="{75255312-A4EB-454E-8B67-7C1589963A05}" destId="{39765838-FD77-48FD-839D-C92B80C8CC3E}" srcOrd="0" destOrd="0" presId="urn:microsoft.com/office/officeart/2008/layout/LinedList"/>
    <dgm:cxn modelId="{5FF56BDB-DAC5-47BC-9F42-3D857E1B04A2}" type="presParOf" srcId="{75255312-A4EB-454E-8B67-7C1589963A05}" destId="{AE327122-5CCF-4FF7-9D03-0ECFD8972E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12C0A9-64D0-4E29-8499-A1969E5F2C44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fr-FR"/>
        </a:p>
      </dgm:t>
    </dgm:pt>
    <dgm:pt modelId="{9AE525F4-12E4-4DE4-98BB-EAEF56195AB9}">
      <dgm:prSet/>
      <dgm:spPr/>
      <dgm:t>
        <a:bodyPr/>
        <a:lstStyle/>
        <a:p>
          <a:r>
            <a:rPr lang="fr-FR"/>
            <a:t>Time axis </a:t>
          </a:r>
        </a:p>
      </dgm:t>
    </dgm:pt>
    <dgm:pt modelId="{1E068A8F-C2C3-4C7A-9973-B6339E885C2F}" type="parTrans" cxnId="{E227C52F-728C-46E4-A61D-1D04317FEB6E}">
      <dgm:prSet/>
      <dgm:spPr/>
      <dgm:t>
        <a:bodyPr/>
        <a:lstStyle/>
        <a:p>
          <a:endParaRPr lang="fr-FR"/>
        </a:p>
      </dgm:t>
    </dgm:pt>
    <dgm:pt modelId="{45F40B25-B859-40CC-8909-C1806676C558}" type="sibTrans" cxnId="{E227C52F-728C-46E4-A61D-1D04317FEB6E}">
      <dgm:prSet/>
      <dgm:spPr/>
      <dgm:t>
        <a:bodyPr/>
        <a:lstStyle/>
        <a:p>
          <a:endParaRPr lang="fr-FR"/>
        </a:p>
      </dgm:t>
    </dgm:pt>
    <dgm:pt modelId="{7CC62BCC-B303-4A61-BC6C-81F482BC2C5B}">
      <dgm:prSet/>
      <dgm:spPr/>
      <dgm:t>
        <a:bodyPr/>
        <a:lstStyle/>
        <a:p>
          <a:r>
            <a:rPr lang="fr-FR"/>
            <a:t>State alphabet </a:t>
          </a:r>
        </a:p>
      </dgm:t>
    </dgm:pt>
    <dgm:pt modelId="{39127C8F-267B-4C53-ADB7-AAF35EF0CBEB}" type="parTrans" cxnId="{96F61827-FCF7-453A-8CBB-080D66C4D4F0}">
      <dgm:prSet/>
      <dgm:spPr/>
      <dgm:t>
        <a:bodyPr/>
        <a:lstStyle/>
        <a:p>
          <a:endParaRPr lang="fr-FR"/>
        </a:p>
      </dgm:t>
    </dgm:pt>
    <dgm:pt modelId="{237E9A90-FCDC-4F59-ABF3-284AEE59031D}" type="sibTrans" cxnId="{96F61827-FCF7-453A-8CBB-080D66C4D4F0}">
      <dgm:prSet/>
      <dgm:spPr/>
      <dgm:t>
        <a:bodyPr/>
        <a:lstStyle/>
        <a:p>
          <a:endParaRPr lang="fr-FR"/>
        </a:p>
      </dgm:t>
    </dgm:pt>
    <dgm:pt modelId="{3491E40E-E117-471F-B8F1-96A6D8684331}">
      <dgm:prSet/>
      <dgm:spPr/>
      <dgm:t>
        <a:bodyPr/>
        <a:lstStyle/>
        <a:p>
          <a:r>
            <a:rPr lang="fr-FR" dirty="0"/>
            <a:t>Distance </a:t>
          </a:r>
          <a:r>
            <a:rPr lang="fr-FR" dirty="0" err="1"/>
            <a:t>measure</a:t>
          </a:r>
          <a:r>
            <a:rPr lang="fr-FR" dirty="0"/>
            <a:t> </a:t>
          </a:r>
        </a:p>
      </dgm:t>
    </dgm:pt>
    <dgm:pt modelId="{15C25E3C-C955-42D6-A947-B17ACD561B4C}" type="parTrans" cxnId="{2587ACC0-C1C1-4232-85A3-1C7ED01F8471}">
      <dgm:prSet/>
      <dgm:spPr/>
      <dgm:t>
        <a:bodyPr/>
        <a:lstStyle/>
        <a:p>
          <a:endParaRPr lang="fr-FR"/>
        </a:p>
      </dgm:t>
    </dgm:pt>
    <dgm:pt modelId="{4A1FE0CF-468B-4CB6-AD4F-C98AFDA86E49}" type="sibTrans" cxnId="{2587ACC0-C1C1-4232-85A3-1C7ED01F8471}">
      <dgm:prSet/>
      <dgm:spPr/>
      <dgm:t>
        <a:bodyPr/>
        <a:lstStyle/>
        <a:p>
          <a:endParaRPr lang="fr-FR"/>
        </a:p>
      </dgm:t>
    </dgm:pt>
    <dgm:pt modelId="{4ECD336F-1D1E-4C68-B004-8AF51633B40C}">
      <dgm:prSet/>
      <dgm:spPr/>
      <dgm:t>
        <a:bodyPr/>
        <a:lstStyle/>
        <a:p>
          <a:r>
            <a:rPr lang="fr-FR"/>
            <a:t>Cost settings </a:t>
          </a:r>
        </a:p>
      </dgm:t>
    </dgm:pt>
    <dgm:pt modelId="{B13FDD9B-1DBE-4C61-863A-51E5EF4912B9}" type="parTrans" cxnId="{B65272F7-62BE-4157-824A-B49AA9816507}">
      <dgm:prSet/>
      <dgm:spPr/>
      <dgm:t>
        <a:bodyPr/>
        <a:lstStyle/>
        <a:p>
          <a:endParaRPr lang="fr-FR"/>
        </a:p>
      </dgm:t>
    </dgm:pt>
    <dgm:pt modelId="{D2A8BBB8-C7D2-443F-B5A1-80AF4A40495F}" type="sibTrans" cxnId="{B65272F7-62BE-4157-824A-B49AA9816507}">
      <dgm:prSet/>
      <dgm:spPr/>
      <dgm:t>
        <a:bodyPr/>
        <a:lstStyle/>
        <a:p>
          <a:endParaRPr lang="fr-FR"/>
        </a:p>
      </dgm:t>
    </dgm:pt>
    <dgm:pt modelId="{28AE528D-D19F-467F-B991-2C933EFEDC48}">
      <dgm:prSet/>
      <dgm:spPr/>
      <dgm:t>
        <a:bodyPr/>
        <a:lstStyle/>
        <a:p>
          <a:r>
            <a:rPr lang="fr-FR"/>
            <a:t>Clustering algorithm </a:t>
          </a:r>
        </a:p>
      </dgm:t>
    </dgm:pt>
    <dgm:pt modelId="{7CDF4BDE-169A-4A7A-9A82-09424D31F763}" type="parTrans" cxnId="{8C7D3D27-778C-4741-AD73-487ADDAE56CF}">
      <dgm:prSet/>
      <dgm:spPr/>
      <dgm:t>
        <a:bodyPr/>
        <a:lstStyle/>
        <a:p>
          <a:endParaRPr lang="fr-FR"/>
        </a:p>
      </dgm:t>
    </dgm:pt>
    <dgm:pt modelId="{7684B7A7-992F-4666-9A8F-6017A21203F4}" type="sibTrans" cxnId="{8C7D3D27-778C-4741-AD73-487ADDAE56CF}">
      <dgm:prSet/>
      <dgm:spPr/>
      <dgm:t>
        <a:bodyPr/>
        <a:lstStyle/>
        <a:p>
          <a:endParaRPr lang="fr-FR"/>
        </a:p>
      </dgm:t>
    </dgm:pt>
    <dgm:pt modelId="{2E394A14-5978-4F01-9711-9F6E674E6B30}">
      <dgm:prSet/>
      <dgm:spPr/>
      <dgm:t>
        <a:bodyPr/>
        <a:lstStyle/>
        <a:p>
          <a:r>
            <a:rPr lang="fr-FR"/>
            <a:t>Typology</a:t>
          </a:r>
        </a:p>
      </dgm:t>
    </dgm:pt>
    <dgm:pt modelId="{E38F5325-3C55-4CE4-B50B-2BF1FD7343B4}" type="parTrans" cxnId="{A438DC59-3151-4185-9E18-63B9BC58E7FE}">
      <dgm:prSet/>
      <dgm:spPr/>
      <dgm:t>
        <a:bodyPr/>
        <a:lstStyle/>
        <a:p>
          <a:endParaRPr lang="fr-FR"/>
        </a:p>
      </dgm:t>
    </dgm:pt>
    <dgm:pt modelId="{7B5DAE26-27A4-4CD9-9ABF-6D0F6BEB09DB}" type="sibTrans" cxnId="{A438DC59-3151-4185-9E18-63B9BC58E7FE}">
      <dgm:prSet/>
      <dgm:spPr/>
      <dgm:t>
        <a:bodyPr/>
        <a:lstStyle/>
        <a:p>
          <a:endParaRPr lang="fr-FR"/>
        </a:p>
      </dgm:t>
    </dgm:pt>
    <dgm:pt modelId="{A68E387A-DCD8-4328-9C35-9AF1B5C95944}" type="pres">
      <dgm:prSet presAssocID="{A112C0A9-64D0-4E29-8499-A1969E5F2C44}" presName="Name0" presStyleCnt="0">
        <dgm:presLayoutVars>
          <dgm:dir/>
          <dgm:resizeHandles val="exact"/>
        </dgm:presLayoutVars>
      </dgm:prSet>
      <dgm:spPr/>
    </dgm:pt>
    <dgm:pt modelId="{51660652-3A23-40A2-84E0-F47B14879A51}" type="pres">
      <dgm:prSet presAssocID="{9AE525F4-12E4-4DE4-98BB-EAEF56195AB9}" presName="node" presStyleLbl="node1" presStyleIdx="0" presStyleCnt="6">
        <dgm:presLayoutVars>
          <dgm:bulletEnabled val="1"/>
        </dgm:presLayoutVars>
      </dgm:prSet>
      <dgm:spPr/>
    </dgm:pt>
    <dgm:pt modelId="{52F5F0C0-CCDC-4F97-9481-7F9FAF452376}" type="pres">
      <dgm:prSet presAssocID="{45F40B25-B859-40CC-8909-C1806676C558}" presName="sibTrans" presStyleLbl="sibTrans2D1" presStyleIdx="0" presStyleCnt="5"/>
      <dgm:spPr/>
    </dgm:pt>
    <dgm:pt modelId="{2CDD29F2-1D66-402C-8446-98427C6B807F}" type="pres">
      <dgm:prSet presAssocID="{45F40B25-B859-40CC-8909-C1806676C558}" presName="connectorText" presStyleLbl="sibTrans2D1" presStyleIdx="0" presStyleCnt="5"/>
      <dgm:spPr/>
    </dgm:pt>
    <dgm:pt modelId="{F74C3315-25DD-4472-85C3-5F6A795EB24C}" type="pres">
      <dgm:prSet presAssocID="{7CC62BCC-B303-4A61-BC6C-81F482BC2C5B}" presName="node" presStyleLbl="node1" presStyleIdx="1" presStyleCnt="6">
        <dgm:presLayoutVars>
          <dgm:bulletEnabled val="1"/>
        </dgm:presLayoutVars>
      </dgm:prSet>
      <dgm:spPr/>
    </dgm:pt>
    <dgm:pt modelId="{CBD27A60-3ED8-4422-B023-59258835ECE8}" type="pres">
      <dgm:prSet presAssocID="{237E9A90-FCDC-4F59-ABF3-284AEE59031D}" presName="sibTrans" presStyleLbl="sibTrans2D1" presStyleIdx="1" presStyleCnt="5"/>
      <dgm:spPr/>
    </dgm:pt>
    <dgm:pt modelId="{1DF8418E-1CD0-4088-8D6A-04E298D8C8E6}" type="pres">
      <dgm:prSet presAssocID="{237E9A90-FCDC-4F59-ABF3-284AEE59031D}" presName="connectorText" presStyleLbl="sibTrans2D1" presStyleIdx="1" presStyleCnt="5"/>
      <dgm:spPr/>
    </dgm:pt>
    <dgm:pt modelId="{CFAF8D5E-77BF-4ED4-9373-FD08EBE2A75B}" type="pres">
      <dgm:prSet presAssocID="{3491E40E-E117-471F-B8F1-96A6D8684331}" presName="node" presStyleLbl="node1" presStyleIdx="2" presStyleCnt="6">
        <dgm:presLayoutVars>
          <dgm:bulletEnabled val="1"/>
        </dgm:presLayoutVars>
      </dgm:prSet>
      <dgm:spPr/>
    </dgm:pt>
    <dgm:pt modelId="{92D480DB-D762-436C-9F92-9BA595A8A7AF}" type="pres">
      <dgm:prSet presAssocID="{4A1FE0CF-468B-4CB6-AD4F-C98AFDA86E49}" presName="sibTrans" presStyleLbl="sibTrans2D1" presStyleIdx="2" presStyleCnt="5"/>
      <dgm:spPr/>
    </dgm:pt>
    <dgm:pt modelId="{9043E1F7-4E71-4CAF-828C-1759CC3B13D4}" type="pres">
      <dgm:prSet presAssocID="{4A1FE0CF-468B-4CB6-AD4F-C98AFDA86E49}" presName="connectorText" presStyleLbl="sibTrans2D1" presStyleIdx="2" presStyleCnt="5"/>
      <dgm:spPr/>
    </dgm:pt>
    <dgm:pt modelId="{B7091220-563D-497B-A098-C56D07C2F960}" type="pres">
      <dgm:prSet presAssocID="{4ECD336F-1D1E-4C68-B004-8AF51633B40C}" presName="node" presStyleLbl="node1" presStyleIdx="3" presStyleCnt="6">
        <dgm:presLayoutVars>
          <dgm:bulletEnabled val="1"/>
        </dgm:presLayoutVars>
      </dgm:prSet>
      <dgm:spPr/>
    </dgm:pt>
    <dgm:pt modelId="{39DA5499-A1C4-489E-9135-726A6FC5807B}" type="pres">
      <dgm:prSet presAssocID="{D2A8BBB8-C7D2-443F-B5A1-80AF4A40495F}" presName="sibTrans" presStyleLbl="sibTrans2D1" presStyleIdx="3" presStyleCnt="5"/>
      <dgm:spPr/>
    </dgm:pt>
    <dgm:pt modelId="{1FD6A7AC-ED3A-4632-9434-A2D954959E2B}" type="pres">
      <dgm:prSet presAssocID="{D2A8BBB8-C7D2-443F-B5A1-80AF4A40495F}" presName="connectorText" presStyleLbl="sibTrans2D1" presStyleIdx="3" presStyleCnt="5"/>
      <dgm:spPr/>
    </dgm:pt>
    <dgm:pt modelId="{63A31051-2CAB-49C7-98D4-A633FA9692D9}" type="pres">
      <dgm:prSet presAssocID="{28AE528D-D19F-467F-B991-2C933EFEDC48}" presName="node" presStyleLbl="node1" presStyleIdx="4" presStyleCnt="6">
        <dgm:presLayoutVars>
          <dgm:bulletEnabled val="1"/>
        </dgm:presLayoutVars>
      </dgm:prSet>
      <dgm:spPr/>
    </dgm:pt>
    <dgm:pt modelId="{BE8C1AA8-C2F8-40B9-8EB7-D7C6275800A4}" type="pres">
      <dgm:prSet presAssocID="{7684B7A7-992F-4666-9A8F-6017A21203F4}" presName="sibTrans" presStyleLbl="sibTrans2D1" presStyleIdx="4" presStyleCnt="5"/>
      <dgm:spPr/>
    </dgm:pt>
    <dgm:pt modelId="{938A43CC-96CF-4F1F-B744-F2F20578AF80}" type="pres">
      <dgm:prSet presAssocID="{7684B7A7-992F-4666-9A8F-6017A21203F4}" presName="connectorText" presStyleLbl="sibTrans2D1" presStyleIdx="4" presStyleCnt="5"/>
      <dgm:spPr/>
    </dgm:pt>
    <dgm:pt modelId="{4D0C85DC-86E9-4937-BC93-2E9CFE84618B}" type="pres">
      <dgm:prSet presAssocID="{2E394A14-5978-4F01-9711-9F6E674E6B30}" presName="node" presStyleLbl="node1" presStyleIdx="5" presStyleCnt="6">
        <dgm:presLayoutVars>
          <dgm:bulletEnabled val="1"/>
        </dgm:presLayoutVars>
      </dgm:prSet>
      <dgm:spPr/>
    </dgm:pt>
  </dgm:ptLst>
  <dgm:cxnLst>
    <dgm:cxn modelId="{E735E600-DF54-4265-B3D9-7BC9A5D111D0}" type="presOf" srcId="{9AE525F4-12E4-4DE4-98BB-EAEF56195AB9}" destId="{51660652-3A23-40A2-84E0-F47B14879A51}" srcOrd="0" destOrd="0" presId="urn:microsoft.com/office/officeart/2005/8/layout/process1"/>
    <dgm:cxn modelId="{F1B9B80A-5AE5-4951-B150-22C184406564}" type="presOf" srcId="{4A1FE0CF-468B-4CB6-AD4F-C98AFDA86E49}" destId="{9043E1F7-4E71-4CAF-828C-1759CC3B13D4}" srcOrd="1" destOrd="0" presId="urn:microsoft.com/office/officeart/2005/8/layout/process1"/>
    <dgm:cxn modelId="{16BFED1D-E557-40E8-8DEA-8EFDD88B7653}" type="presOf" srcId="{7CC62BCC-B303-4A61-BC6C-81F482BC2C5B}" destId="{F74C3315-25DD-4472-85C3-5F6A795EB24C}" srcOrd="0" destOrd="0" presId="urn:microsoft.com/office/officeart/2005/8/layout/process1"/>
    <dgm:cxn modelId="{297B3726-A185-4AFA-9829-F0D627C4CB37}" type="presOf" srcId="{7684B7A7-992F-4666-9A8F-6017A21203F4}" destId="{938A43CC-96CF-4F1F-B744-F2F20578AF80}" srcOrd="1" destOrd="0" presId="urn:microsoft.com/office/officeart/2005/8/layout/process1"/>
    <dgm:cxn modelId="{96F61827-FCF7-453A-8CBB-080D66C4D4F0}" srcId="{A112C0A9-64D0-4E29-8499-A1969E5F2C44}" destId="{7CC62BCC-B303-4A61-BC6C-81F482BC2C5B}" srcOrd="1" destOrd="0" parTransId="{39127C8F-267B-4C53-ADB7-AAF35EF0CBEB}" sibTransId="{237E9A90-FCDC-4F59-ABF3-284AEE59031D}"/>
    <dgm:cxn modelId="{8C7D3D27-778C-4741-AD73-487ADDAE56CF}" srcId="{A112C0A9-64D0-4E29-8499-A1969E5F2C44}" destId="{28AE528D-D19F-467F-B991-2C933EFEDC48}" srcOrd="4" destOrd="0" parTransId="{7CDF4BDE-169A-4A7A-9A82-09424D31F763}" sibTransId="{7684B7A7-992F-4666-9A8F-6017A21203F4}"/>
    <dgm:cxn modelId="{E227C52F-728C-46E4-A61D-1D04317FEB6E}" srcId="{A112C0A9-64D0-4E29-8499-A1969E5F2C44}" destId="{9AE525F4-12E4-4DE4-98BB-EAEF56195AB9}" srcOrd="0" destOrd="0" parTransId="{1E068A8F-C2C3-4C7A-9973-B6339E885C2F}" sibTransId="{45F40B25-B859-40CC-8909-C1806676C558}"/>
    <dgm:cxn modelId="{0ABC363F-1A83-4E75-90F6-0FC0AE9E0857}" type="presOf" srcId="{45F40B25-B859-40CC-8909-C1806676C558}" destId="{2CDD29F2-1D66-402C-8446-98427C6B807F}" srcOrd="1" destOrd="0" presId="urn:microsoft.com/office/officeart/2005/8/layout/process1"/>
    <dgm:cxn modelId="{A3983341-E351-4D9B-B7C9-653790615B5D}" type="presOf" srcId="{4A1FE0CF-468B-4CB6-AD4F-C98AFDA86E49}" destId="{92D480DB-D762-436C-9F92-9BA595A8A7AF}" srcOrd="0" destOrd="0" presId="urn:microsoft.com/office/officeart/2005/8/layout/process1"/>
    <dgm:cxn modelId="{744E0A42-82FF-46BE-AC5C-984874DB2CFB}" type="presOf" srcId="{D2A8BBB8-C7D2-443F-B5A1-80AF4A40495F}" destId="{1FD6A7AC-ED3A-4632-9434-A2D954959E2B}" srcOrd="1" destOrd="0" presId="urn:microsoft.com/office/officeart/2005/8/layout/process1"/>
    <dgm:cxn modelId="{60842F46-83A5-4172-8EF5-2C609650FEC7}" type="presOf" srcId="{45F40B25-B859-40CC-8909-C1806676C558}" destId="{52F5F0C0-CCDC-4F97-9481-7F9FAF452376}" srcOrd="0" destOrd="0" presId="urn:microsoft.com/office/officeart/2005/8/layout/process1"/>
    <dgm:cxn modelId="{FA33C166-4CD9-4352-9E13-0788F2B52ADA}" type="presOf" srcId="{4ECD336F-1D1E-4C68-B004-8AF51633B40C}" destId="{B7091220-563D-497B-A098-C56D07C2F960}" srcOrd="0" destOrd="0" presId="urn:microsoft.com/office/officeart/2005/8/layout/process1"/>
    <dgm:cxn modelId="{E7D6824C-52CD-43CE-92AE-333E60A0B180}" type="presOf" srcId="{237E9A90-FCDC-4F59-ABF3-284AEE59031D}" destId="{1DF8418E-1CD0-4088-8D6A-04E298D8C8E6}" srcOrd="1" destOrd="0" presId="urn:microsoft.com/office/officeart/2005/8/layout/process1"/>
    <dgm:cxn modelId="{F53E704D-C1FF-40EC-8934-DBE74FD3BCC2}" type="presOf" srcId="{D2A8BBB8-C7D2-443F-B5A1-80AF4A40495F}" destId="{39DA5499-A1C4-489E-9135-726A6FC5807B}" srcOrd="0" destOrd="0" presId="urn:microsoft.com/office/officeart/2005/8/layout/process1"/>
    <dgm:cxn modelId="{A438DC59-3151-4185-9E18-63B9BC58E7FE}" srcId="{A112C0A9-64D0-4E29-8499-A1969E5F2C44}" destId="{2E394A14-5978-4F01-9711-9F6E674E6B30}" srcOrd="5" destOrd="0" parTransId="{E38F5325-3C55-4CE4-B50B-2BF1FD7343B4}" sibTransId="{7B5DAE26-27A4-4CD9-9ABF-6D0F6BEB09DB}"/>
    <dgm:cxn modelId="{09F5DD9B-4A03-4369-8154-954C695D8748}" type="presOf" srcId="{2E394A14-5978-4F01-9711-9F6E674E6B30}" destId="{4D0C85DC-86E9-4937-BC93-2E9CFE84618B}" srcOrd="0" destOrd="0" presId="urn:microsoft.com/office/officeart/2005/8/layout/process1"/>
    <dgm:cxn modelId="{2D362CA2-B8B1-47B3-999D-D8B3DF5C42AA}" type="presOf" srcId="{3491E40E-E117-471F-B8F1-96A6D8684331}" destId="{CFAF8D5E-77BF-4ED4-9373-FD08EBE2A75B}" srcOrd="0" destOrd="0" presId="urn:microsoft.com/office/officeart/2005/8/layout/process1"/>
    <dgm:cxn modelId="{6502D2A8-5C38-40A0-A220-45B12210ED04}" type="presOf" srcId="{7684B7A7-992F-4666-9A8F-6017A21203F4}" destId="{BE8C1AA8-C2F8-40B9-8EB7-D7C6275800A4}" srcOrd="0" destOrd="0" presId="urn:microsoft.com/office/officeart/2005/8/layout/process1"/>
    <dgm:cxn modelId="{2587ACC0-C1C1-4232-85A3-1C7ED01F8471}" srcId="{A112C0A9-64D0-4E29-8499-A1969E5F2C44}" destId="{3491E40E-E117-471F-B8F1-96A6D8684331}" srcOrd="2" destOrd="0" parTransId="{15C25E3C-C955-42D6-A947-B17ACD561B4C}" sibTransId="{4A1FE0CF-468B-4CB6-AD4F-C98AFDA86E49}"/>
    <dgm:cxn modelId="{9BA881E6-5D9D-4004-A5E0-DCE9C4F13144}" type="presOf" srcId="{A112C0A9-64D0-4E29-8499-A1969E5F2C44}" destId="{A68E387A-DCD8-4328-9C35-9AF1B5C95944}" srcOrd="0" destOrd="0" presId="urn:microsoft.com/office/officeart/2005/8/layout/process1"/>
    <dgm:cxn modelId="{F98F50F2-53DD-48DB-8817-353C286CC181}" type="presOf" srcId="{28AE528D-D19F-467F-B991-2C933EFEDC48}" destId="{63A31051-2CAB-49C7-98D4-A633FA9692D9}" srcOrd="0" destOrd="0" presId="urn:microsoft.com/office/officeart/2005/8/layout/process1"/>
    <dgm:cxn modelId="{7A4160F7-B6C5-4EFC-9B2E-365257FC5947}" type="presOf" srcId="{237E9A90-FCDC-4F59-ABF3-284AEE59031D}" destId="{CBD27A60-3ED8-4422-B023-59258835ECE8}" srcOrd="0" destOrd="0" presId="urn:microsoft.com/office/officeart/2005/8/layout/process1"/>
    <dgm:cxn modelId="{B65272F7-62BE-4157-824A-B49AA9816507}" srcId="{A112C0A9-64D0-4E29-8499-A1969E5F2C44}" destId="{4ECD336F-1D1E-4C68-B004-8AF51633B40C}" srcOrd="3" destOrd="0" parTransId="{B13FDD9B-1DBE-4C61-863A-51E5EF4912B9}" sibTransId="{D2A8BBB8-C7D2-443F-B5A1-80AF4A40495F}"/>
    <dgm:cxn modelId="{2BFF2BBC-B88D-4831-BD0B-B5B275438111}" type="presParOf" srcId="{A68E387A-DCD8-4328-9C35-9AF1B5C95944}" destId="{51660652-3A23-40A2-84E0-F47B14879A51}" srcOrd="0" destOrd="0" presId="urn:microsoft.com/office/officeart/2005/8/layout/process1"/>
    <dgm:cxn modelId="{EDDFD22A-FDD7-443F-9546-E0403DABD292}" type="presParOf" srcId="{A68E387A-DCD8-4328-9C35-9AF1B5C95944}" destId="{52F5F0C0-CCDC-4F97-9481-7F9FAF452376}" srcOrd="1" destOrd="0" presId="urn:microsoft.com/office/officeart/2005/8/layout/process1"/>
    <dgm:cxn modelId="{8D1062F8-8AAA-4010-8EF4-C1F35E1C9009}" type="presParOf" srcId="{52F5F0C0-CCDC-4F97-9481-7F9FAF452376}" destId="{2CDD29F2-1D66-402C-8446-98427C6B807F}" srcOrd="0" destOrd="0" presId="urn:microsoft.com/office/officeart/2005/8/layout/process1"/>
    <dgm:cxn modelId="{2DC77019-A5EC-4BCC-94E4-819850FFDCE7}" type="presParOf" srcId="{A68E387A-DCD8-4328-9C35-9AF1B5C95944}" destId="{F74C3315-25DD-4472-85C3-5F6A795EB24C}" srcOrd="2" destOrd="0" presId="urn:microsoft.com/office/officeart/2005/8/layout/process1"/>
    <dgm:cxn modelId="{2AFBD8B4-BD0A-4376-ACC8-E39C64DF2526}" type="presParOf" srcId="{A68E387A-DCD8-4328-9C35-9AF1B5C95944}" destId="{CBD27A60-3ED8-4422-B023-59258835ECE8}" srcOrd="3" destOrd="0" presId="urn:microsoft.com/office/officeart/2005/8/layout/process1"/>
    <dgm:cxn modelId="{2C9A2F2F-974F-4FAF-8C70-17CFFB88729E}" type="presParOf" srcId="{CBD27A60-3ED8-4422-B023-59258835ECE8}" destId="{1DF8418E-1CD0-4088-8D6A-04E298D8C8E6}" srcOrd="0" destOrd="0" presId="urn:microsoft.com/office/officeart/2005/8/layout/process1"/>
    <dgm:cxn modelId="{24145888-2BB6-4D29-BCF5-D176858DB6A5}" type="presParOf" srcId="{A68E387A-DCD8-4328-9C35-9AF1B5C95944}" destId="{CFAF8D5E-77BF-4ED4-9373-FD08EBE2A75B}" srcOrd="4" destOrd="0" presId="urn:microsoft.com/office/officeart/2005/8/layout/process1"/>
    <dgm:cxn modelId="{1DEE4F3F-FD22-4759-8FB4-726574FC34E3}" type="presParOf" srcId="{A68E387A-DCD8-4328-9C35-9AF1B5C95944}" destId="{92D480DB-D762-436C-9F92-9BA595A8A7AF}" srcOrd="5" destOrd="0" presId="urn:microsoft.com/office/officeart/2005/8/layout/process1"/>
    <dgm:cxn modelId="{F8501DE3-F3A2-4703-B30A-81D93E25B853}" type="presParOf" srcId="{92D480DB-D762-436C-9F92-9BA595A8A7AF}" destId="{9043E1F7-4E71-4CAF-828C-1759CC3B13D4}" srcOrd="0" destOrd="0" presId="urn:microsoft.com/office/officeart/2005/8/layout/process1"/>
    <dgm:cxn modelId="{9C1C8830-B2ED-4CFE-9DCE-CE825D8190C5}" type="presParOf" srcId="{A68E387A-DCD8-4328-9C35-9AF1B5C95944}" destId="{B7091220-563D-497B-A098-C56D07C2F960}" srcOrd="6" destOrd="0" presId="urn:microsoft.com/office/officeart/2005/8/layout/process1"/>
    <dgm:cxn modelId="{C7E0AF67-2983-4175-BE70-A9E094A8ED26}" type="presParOf" srcId="{A68E387A-DCD8-4328-9C35-9AF1B5C95944}" destId="{39DA5499-A1C4-489E-9135-726A6FC5807B}" srcOrd="7" destOrd="0" presId="urn:microsoft.com/office/officeart/2005/8/layout/process1"/>
    <dgm:cxn modelId="{443C1378-C2B8-4E15-B85B-36B379231623}" type="presParOf" srcId="{39DA5499-A1C4-489E-9135-726A6FC5807B}" destId="{1FD6A7AC-ED3A-4632-9434-A2D954959E2B}" srcOrd="0" destOrd="0" presId="urn:microsoft.com/office/officeart/2005/8/layout/process1"/>
    <dgm:cxn modelId="{08CF4A85-8482-4523-98F0-60B19095846C}" type="presParOf" srcId="{A68E387A-DCD8-4328-9C35-9AF1B5C95944}" destId="{63A31051-2CAB-49C7-98D4-A633FA9692D9}" srcOrd="8" destOrd="0" presId="urn:microsoft.com/office/officeart/2005/8/layout/process1"/>
    <dgm:cxn modelId="{663C05D2-F769-4B30-8196-4F01ED6E6F80}" type="presParOf" srcId="{A68E387A-DCD8-4328-9C35-9AF1B5C95944}" destId="{BE8C1AA8-C2F8-40B9-8EB7-D7C6275800A4}" srcOrd="9" destOrd="0" presId="urn:microsoft.com/office/officeart/2005/8/layout/process1"/>
    <dgm:cxn modelId="{CB1AA863-FF32-46EA-AF54-0760DCA8B714}" type="presParOf" srcId="{BE8C1AA8-C2F8-40B9-8EB7-D7C6275800A4}" destId="{938A43CC-96CF-4F1F-B744-F2F20578AF80}" srcOrd="0" destOrd="0" presId="urn:microsoft.com/office/officeart/2005/8/layout/process1"/>
    <dgm:cxn modelId="{9386BA10-CA72-4914-B076-23E851710A33}" type="presParOf" srcId="{A68E387A-DCD8-4328-9C35-9AF1B5C95944}" destId="{4D0C85DC-86E9-4937-BC93-2E9CFE84618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AEC71C-6BEA-4B2E-B4F2-F1B6D957079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24810675-EE0D-4755-9592-648DB455373C}">
      <dgm:prSet/>
      <dgm:spPr/>
      <dgm:t>
        <a:bodyPr/>
        <a:lstStyle/>
        <a:p>
          <a:r>
            <a:rPr lang="fr-FR" dirty="0"/>
            <a:t>Dominant states</a:t>
          </a:r>
        </a:p>
      </dgm:t>
    </dgm:pt>
    <dgm:pt modelId="{06D9DAC0-71C7-4995-8466-FD5CC43E6980}" type="parTrans" cxnId="{21E488CD-A2ED-4280-8E2D-00348A98C50A}">
      <dgm:prSet/>
      <dgm:spPr/>
      <dgm:t>
        <a:bodyPr/>
        <a:lstStyle/>
        <a:p>
          <a:endParaRPr lang="fr-FR"/>
        </a:p>
      </dgm:t>
    </dgm:pt>
    <dgm:pt modelId="{CAD0A517-45BA-48BD-BBFE-897360C80E02}" type="sibTrans" cxnId="{21E488CD-A2ED-4280-8E2D-00348A98C50A}">
      <dgm:prSet/>
      <dgm:spPr/>
      <dgm:t>
        <a:bodyPr/>
        <a:lstStyle/>
        <a:p>
          <a:endParaRPr lang="fr-FR"/>
        </a:p>
      </dgm:t>
    </dgm:pt>
    <dgm:pt modelId="{BE36CFFA-D4A9-4B4D-8DA6-12978BD1C69E}">
      <dgm:prSet/>
      <dgm:spPr/>
      <dgm:t>
        <a:bodyPr/>
        <a:lstStyle/>
        <a:p>
          <a:r>
            <a:rPr lang="fr-FR" dirty="0"/>
            <a:t>Timing of transitions </a:t>
          </a:r>
        </a:p>
      </dgm:t>
    </dgm:pt>
    <dgm:pt modelId="{FE77AE45-91D3-4D5E-977A-674D0C4BEE5D}" type="parTrans" cxnId="{B06FDD43-AA83-4827-9CFD-81C1376161B5}">
      <dgm:prSet/>
      <dgm:spPr/>
      <dgm:t>
        <a:bodyPr/>
        <a:lstStyle/>
        <a:p>
          <a:endParaRPr lang="fr-FR"/>
        </a:p>
      </dgm:t>
    </dgm:pt>
    <dgm:pt modelId="{92B4F15B-BA1E-4103-B914-DA66ACD3D04B}" type="sibTrans" cxnId="{B06FDD43-AA83-4827-9CFD-81C1376161B5}">
      <dgm:prSet/>
      <dgm:spPr/>
      <dgm:t>
        <a:bodyPr/>
        <a:lstStyle/>
        <a:p>
          <a:endParaRPr lang="fr-FR"/>
        </a:p>
      </dgm:t>
    </dgm:pt>
    <dgm:pt modelId="{397B6E0B-928B-44B7-A001-4B60A0D8F4C5}">
      <dgm:prSet/>
      <dgm:spPr/>
      <dgm:t>
        <a:bodyPr/>
        <a:lstStyle/>
        <a:p>
          <a:r>
            <a:rPr lang="fr-FR" dirty="0"/>
            <a:t>Duration in states</a:t>
          </a:r>
        </a:p>
      </dgm:t>
    </dgm:pt>
    <dgm:pt modelId="{8B9BD137-F20E-4EE5-B770-B5F19B7BAC46}" type="parTrans" cxnId="{AFF54783-3A64-42FF-BB84-D5F676E2B032}">
      <dgm:prSet/>
      <dgm:spPr/>
      <dgm:t>
        <a:bodyPr/>
        <a:lstStyle/>
        <a:p>
          <a:endParaRPr lang="fr-FR"/>
        </a:p>
      </dgm:t>
    </dgm:pt>
    <dgm:pt modelId="{0FAFBEC7-6054-491B-9A1B-198B3BD4645A}" type="sibTrans" cxnId="{AFF54783-3A64-42FF-BB84-D5F676E2B032}">
      <dgm:prSet/>
      <dgm:spPr/>
      <dgm:t>
        <a:bodyPr/>
        <a:lstStyle/>
        <a:p>
          <a:endParaRPr lang="fr-FR"/>
        </a:p>
      </dgm:t>
    </dgm:pt>
    <dgm:pt modelId="{EEA6A8AA-088B-4316-A56D-098D00B3BDED}">
      <dgm:prSet/>
      <dgm:spPr/>
      <dgm:t>
        <a:bodyPr/>
        <a:lstStyle/>
        <a:p>
          <a:r>
            <a:rPr lang="fr-FR" dirty="0" err="1"/>
            <a:t>Instability</a:t>
          </a:r>
          <a:r>
            <a:rPr lang="fr-FR" dirty="0"/>
            <a:t> or </a:t>
          </a:r>
          <a:r>
            <a:rPr lang="fr-FR" dirty="0" err="1"/>
            <a:t>continuity</a:t>
          </a:r>
          <a:r>
            <a:rPr lang="fr-FR" dirty="0"/>
            <a:t> </a:t>
          </a:r>
        </a:p>
      </dgm:t>
    </dgm:pt>
    <dgm:pt modelId="{921A5A79-1A30-41EA-9DCA-2102FF2112D7}" type="parTrans" cxnId="{E6D10535-DB28-4351-9788-6FA293B46230}">
      <dgm:prSet/>
      <dgm:spPr/>
      <dgm:t>
        <a:bodyPr/>
        <a:lstStyle/>
        <a:p>
          <a:endParaRPr lang="fr-FR"/>
        </a:p>
      </dgm:t>
    </dgm:pt>
    <dgm:pt modelId="{F32B7561-E522-4ED1-85FF-53C4E4E19174}" type="sibTrans" cxnId="{E6D10535-DB28-4351-9788-6FA293B46230}">
      <dgm:prSet/>
      <dgm:spPr/>
      <dgm:t>
        <a:bodyPr/>
        <a:lstStyle/>
        <a:p>
          <a:endParaRPr lang="fr-FR"/>
        </a:p>
      </dgm:t>
    </dgm:pt>
    <dgm:pt modelId="{A1A936E6-5257-4132-9104-D5903AC0E885}">
      <dgm:prSet/>
      <dgm:spPr/>
      <dgm:t>
        <a:bodyPr/>
        <a:lstStyle/>
        <a:p>
          <a:r>
            <a:rPr lang="fr-FR" dirty="0"/>
            <a:t>How </a:t>
          </a:r>
          <a:r>
            <a:rPr lang="fr-FR" dirty="0" err="1"/>
            <a:t>it</a:t>
          </a:r>
          <a:r>
            <a:rPr lang="fr-FR" dirty="0"/>
            <a:t> </a:t>
          </a:r>
          <a:r>
            <a:rPr lang="fr-FR" dirty="0" err="1"/>
            <a:t>differs</a:t>
          </a:r>
          <a:r>
            <a:rPr lang="fr-FR" dirty="0"/>
            <a:t> </a:t>
          </a:r>
          <a:r>
            <a:rPr lang="fr-FR" dirty="0" err="1"/>
            <a:t>from</a:t>
          </a:r>
          <a:r>
            <a:rPr lang="fr-FR" dirty="0"/>
            <a:t> </a:t>
          </a:r>
          <a:r>
            <a:rPr lang="fr-FR" err="1"/>
            <a:t>other</a:t>
          </a:r>
          <a:r>
            <a:rPr lang="fr-FR"/>
            <a:t> clusters</a:t>
          </a:r>
          <a:endParaRPr lang="fr-FR" dirty="0"/>
        </a:p>
      </dgm:t>
    </dgm:pt>
    <dgm:pt modelId="{90072662-2A06-499B-B697-42274F3D5C89}" type="parTrans" cxnId="{9D6EB46F-1D12-4D59-B80E-D91806E4EA5E}">
      <dgm:prSet/>
      <dgm:spPr/>
      <dgm:t>
        <a:bodyPr/>
        <a:lstStyle/>
        <a:p>
          <a:endParaRPr lang="fr-FR"/>
        </a:p>
      </dgm:t>
    </dgm:pt>
    <dgm:pt modelId="{4CABC6AA-0874-4EB4-AFD7-0195FCBE995F}" type="sibTrans" cxnId="{9D6EB46F-1D12-4D59-B80E-D91806E4EA5E}">
      <dgm:prSet/>
      <dgm:spPr/>
      <dgm:t>
        <a:bodyPr/>
        <a:lstStyle/>
        <a:p>
          <a:endParaRPr lang="fr-FR"/>
        </a:p>
      </dgm:t>
    </dgm:pt>
    <dgm:pt modelId="{922D35AC-EE85-4872-BD20-495B37C99852}" type="pres">
      <dgm:prSet presAssocID="{0EAEC71C-6BEA-4B2E-B4F2-F1B6D957079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0287E7-DB62-4DC1-9E60-C58F02D75251}" type="pres">
      <dgm:prSet presAssocID="{24810675-EE0D-4755-9592-648DB455373C}" presName="root" presStyleCnt="0"/>
      <dgm:spPr/>
    </dgm:pt>
    <dgm:pt modelId="{6FD1D812-7C4F-4B81-B6B3-94D76CE4CF19}" type="pres">
      <dgm:prSet presAssocID="{24810675-EE0D-4755-9592-648DB455373C}" presName="rootComposite" presStyleCnt="0"/>
      <dgm:spPr/>
    </dgm:pt>
    <dgm:pt modelId="{C2ADFB5D-A19B-4AA9-A787-FE1EADD602E8}" type="pres">
      <dgm:prSet presAssocID="{24810675-EE0D-4755-9592-648DB455373C}" presName="rootText" presStyleLbl="node1" presStyleIdx="0" presStyleCnt="5"/>
      <dgm:spPr/>
    </dgm:pt>
    <dgm:pt modelId="{7F409931-DCA0-46B7-B797-334085D9381D}" type="pres">
      <dgm:prSet presAssocID="{24810675-EE0D-4755-9592-648DB455373C}" presName="rootConnector" presStyleLbl="node1" presStyleIdx="0" presStyleCnt="5"/>
      <dgm:spPr/>
    </dgm:pt>
    <dgm:pt modelId="{E17C47EC-94C5-45D0-A197-E4BFF62F627B}" type="pres">
      <dgm:prSet presAssocID="{24810675-EE0D-4755-9592-648DB455373C}" presName="childShape" presStyleCnt="0"/>
      <dgm:spPr/>
    </dgm:pt>
    <dgm:pt modelId="{BAD8EB23-60F4-4915-A7AB-0C7D3492AED8}" type="pres">
      <dgm:prSet presAssocID="{BE36CFFA-D4A9-4B4D-8DA6-12978BD1C69E}" presName="root" presStyleCnt="0"/>
      <dgm:spPr/>
    </dgm:pt>
    <dgm:pt modelId="{3668BAFA-2D53-41A9-BDCB-467584B180BA}" type="pres">
      <dgm:prSet presAssocID="{BE36CFFA-D4A9-4B4D-8DA6-12978BD1C69E}" presName="rootComposite" presStyleCnt="0"/>
      <dgm:spPr/>
    </dgm:pt>
    <dgm:pt modelId="{34FA0C9E-ABBE-440A-ACF5-A9AAE0FAD241}" type="pres">
      <dgm:prSet presAssocID="{BE36CFFA-D4A9-4B4D-8DA6-12978BD1C69E}" presName="rootText" presStyleLbl="node1" presStyleIdx="1" presStyleCnt="5"/>
      <dgm:spPr/>
    </dgm:pt>
    <dgm:pt modelId="{AADDEB83-9001-4B37-B2E1-B4EC9FCB9D6B}" type="pres">
      <dgm:prSet presAssocID="{BE36CFFA-D4A9-4B4D-8DA6-12978BD1C69E}" presName="rootConnector" presStyleLbl="node1" presStyleIdx="1" presStyleCnt="5"/>
      <dgm:spPr/>
    </dgm:pt>
    <dgm:pt modelId="{3CCA6A13-B328-45D8-B1A6-E367E4959773}" type="pres">
      <dgm:prSet presAssocID="{BE36CFFA-D4A9-4B4D-8DA6-12978BD1C69E}" presName="childShape" presStyleCnt="0"/>
      <dgm:spPr/>
    </dgm:pt>
    <dgm:pt modelId="{DC67B920-137B-4236-BC1B-9F91E7E9EED3}" type="pres">
      <dgm:prSet presAssocID="{397B6E0B-928B-44B7-A001-4B60A0D8F4C5}" presName="root" presStyleCnt="0"/>
      <dgm:spPr/>
    </dgm:pt>
    <dgm:pt modelId="{766234BD-393F-4401-829E-46437405FCCD}" type="pres">
      <dgm:prSet presAssocID="{397B6E0B-928B-44B7-A001-4B60A0D8F4C5}" presName="rootComposite" presStyleCnt="0"/>
      <dgm:spPr/>
    </dgm:pt>
    <dgm:pt modelId="{D0BCDBA0-BA42-412E-8A9D-D48861478A4C}" type="pres">
      <dgm:prSet presAssocID="{397B6E0B-928B-44B7-A001-4B60A0D8F4C5}" presName="rootText" presStyleLbl="node1" presStyleIdx="2" presStyleCnt="5"/>
      <dgm:spPr/>
    </dgm:pt>
    <dgm:pt modelId="{6D72E3E3-BD5A-4CE6-B0A9-ED251514F2F8}" type="pres">
      <dgm:prSet presAssocID="{397B6E0B-928B-44B7-A001-4B60A0D8F4C5}" presName="rootConnector" presStyleLbl="node1" presStyleIdx="2" presStyleCnt="5"/>
      <dgm:spPr/>
    </dgm:pt>
    <dgm:pt modelId="{31DB717C-01C3-49D1-B912-CF25ED846F55}" type="pres">
      <dgm:prSet presAssocID="{397B6E0B-928B-44B7-A001-4B60A0D8F4C5}" presName="childShape" presStyleCnt="0"/>
      <dgm:spPr/>
    </dgm:pt>
    <dgm:pt modelId="{E01C8CD2-51E5-4FC5-A4C3-4CA34A6912BA}" type="pres">
      <dgm:prSet presAssocID="{EEA6A8AA-088B-4316-A56D-098D00B3BDED}" presName="root" presStyleCnt="0"/>
      <dgm:spPr/>
    </dgm:pt>
    <dgm:pt modelId="{35560B43-53E8-4E3E-87EF-C75ED305123C}" type="pres">
      <dgm:prSet presAssocID="{EEA6A8AA-088B-4316-A56D-098D00B3BDED}" presName="rootComposite" presStyleCnt="0"/>
      <dgm:spPr/>
    </dgm:pt>
    <dgm:pt modelId="{18D9A22E-7382-4A14-9CAD-F3AD52CFD61E}" type="pres">
      <dgm:prSet presAssocID="{EEA6A8AA-088B-4316-A56D-098D00B3BDED}" presName="rootText" presStyleLbl="node1" presStyleIdx="3" presStyleCnt="5"/>
      <dgm:spPr/>
    </dgm:pt>
    <dgm:pt modelId="{7D9A678F-CA70-4FF3-A8AD-89B8288E1C70}" type="pres">
      <dgm:prSet presAssocID="{EEA6A8AA-088B-4316-A56D-098D00B3BDED}" presName="rootConnector" presStyleLbl="node1" presStyleIdx="3" presStyleCnt="5"/>
      <dgm:spPr/>
    </dgm:pt>
    <dgm:pt modelId="{5E12FDFF-5A81-4772-B18A-398F3DB8CB78}" type="pres">
      <dgm:prSet presAssocID="{EEA6A8AA-088B-4316-A56D-098D00B3BDED}" presName="childShape" presStyleCnt="0"/>
      <dgm:spPr/>
    </dgm:pt>
    <dgm:pt modelId="{3D3F5683-31B5-4C55-BBD4-75122057097B}" type="pres">
      <dgm:prSet presAssocID="{A1A936E6-5257-4132-9104-D5903AC0E885}" presName="root" presStyleCnt="0"/>
      <dgm:spPr/>
    </dgm:pt>
    <dgm:pt modelId="{7C5DF5BB-19F4-43F9-9428-D6649184826B}" type="pres">
      <dgm:prSet presAssocID="{A1A936E6-5257-4132-9104-D5903AC0E885}" presName="rootComposite" presStyleCnt="0"/>
      <dgm:spPr/>
    </dgm:pt>
    <dgm:pt modelId="{FDC53282-73DD-44F9-9FF8-ED55BA6D211A}" type="pres">
      <dgm:prSet presAssocID="{A1A936E6-5257-4132-9104-D5903AC0E885}" presName="rootText" presStyleLbl="node1" presStyleIdx="4" presStyleCnt="5"/>
      <dgm:spPr/>
    </dgm:pt>
    <dgm:pt modelId="{7E7A1B7D-703A-4C1A-BCD2-C86E21EC642C}" type="pres">
      <dgm:prSet presAssocID="{A1A936E6-5257-4132-9104-D5903AC0E885}" presName="rootConnector" presStyleLbl="node1" presStyleIdx="4" presStyleCnt="5"/>
      <dgm:spPr/>
    </dgm:pt>
    <dgm:pt modelId="{D1B6A524-98EB-4B78-9EB2-A2B40382C20C}" type="pres">
      <dgm:prSet presAssocID="{A1A936E6-5257-4132-9104-D5903AC0E885}" presName="childShape" presStyleCnt="0"/>
      <dgm:spPr/>
    </dgm:pt>
  </dgm:ptLst>
  <dgm:cxnLst>
    <dgm:cxn modelId="{589AF70B-EDCE-4F4D-B9F8-A059CF0316B5}" type="presOf" srcId="{BE36CFFA-D4A9-4B4D-8DA6-12978BD1C69E}" destId="{AADDEB83-9001-4B37-B2E1-B4EC9FCB9D6B}" srcOrd="1" destOrd="0" presId="urn:microsoft.com/office/officeart/2005/8/layout/hierarchy3"/>
    <dgm:cxn modelId="{FA7ECF1C-6447-4776-8425-846FAC4C78D4}" type="presOf" srcId="{EEA6A8AA-088B-4316-A56D-098D00B3BDED}" destId="{18D9A22E-7382-4A14-9CAD-F3AD52CFD61E}" srcOrd="0" destOrd="0" presId="urn:microsoft.com/office/officeart/2005/8/layout/hierarchy3"/>
    <dgm:cxn modelId="{E6D10535-DB28-4351-9788-6FA293B46230}" srcId="{0EAEC71C-6BEA-4B2E-B4F2-F1B6D9570793}" destId="{EEA6A8AA-088B-4316-A56D-098D00B3BDED}" srcOrd="3" destOrd="0" parTransId="{921A5A79-1A30-41EA-9DCA-2102FF2112D7}" sibTransId="{F32B7561-E522-4ED1-85FF-53C4E4E19174}"/>
    <dgm:cxn modelId="{A39FEC35-6121-4BBF-BD2B-0FDE3720BA45}" type="presOf" srcId="{EEA6A8AA-088B-4316-A56D-098D00B3BDED}" destId="{7D9A678F-CA70-4FF3-A8AD-89B8288E1C70}" srcOrd="1" destOrd="0" presId="urn:microsoft.com/office/officeart/2005/8/layout/hierarchy3"/>
    <dgm:cxn modelId="{B06FDD43-AA83-4827-9CFD-81C1376161B5}" srcId="{0EAEC71C-6BEA-4B2E-B4F2-F1B6D9570793}" destId="{BE36CFFA-D4A9-4B4D-8DA6-12978BD1C69E}" srcOrd="1" destOrd="0" parTransId="{FE77AE45-91D3-4D5E-977A-674D0C4BEE5D}" sibTransId="{92B4F15B-BA1E-4103-B914-DA66ACD3D04B}"/>
    <dgm:cxn modelId="{2C5DE064-D628-4EF6-8E3D-1AD4519F8582}" type="presOf" srcId="{397B6E0B-928B-44B7-A001-4B60A0D8F4C5}" destId="{D0BCDBA0-BA42-412E-8A9D-D48861478A4C}" srcOrd="0" destOrd="0" presId="urn:microsoft.com/office/officeart/2005/8/layout/hierarchy3"/>
    <dgm:cxn modelId="{9D6EB46F-1D12-4D59-B80E-D91806E4EA5E}" srcId="{0EAEC71C-6BEA-4B2E-B4F2-F1B6D9570793}" destId="{A1A936E6-5257-4132-9104-D5903AC0E885}" srcOrd="4" destOrd="0" parTransId="{90072662-2A06-499B-B697-42274F3D5C89}" sibTransId="{4CABC6AA-0874-4EB4-AFD7-0195FCBE995F}"/>
    <dgm:cxn modelId="{D1325571-52C6-4F23-869A-3BDEA49A3334}" type="presOf" srcId="{0EAEC71C-6BEA-4B2E-B4F2-F1B6D9570793}" destId="{922D35AC-EE85-4872-BD20-495B37C99852}" srcOrd="0" destOrd="0" presId="urn:microsoft.com/office/officeart/2005/8/layout/hierarchy3"/>
    <dgm:cxn modelId="{68975175-2E85-4460-B532-88DB2323560A}" type="presOf" srcId="{24810675-EE0D-4755-9592-648DB455373C}" destId="{7F409931-DCA0-46B7-B797-334085D9381D}" srcOrd="1" destOrd="0" presId="urn:microsoft.com/office/officeart/2005/8/layout/hierarchy3"/>
    <dgm:cxn modelId="{AFF54783-3A64-42FF-BB84-D5F676E2B032}" srcId="{0EAEC71C-6BEA-4B2E-B4F2-F1B6D9570793}" destId="{397B6E0B-928B-44B7-A001-4B60A0D8F4C5}" srcOrd="2" destOrd="0" parTransId="{8B9BD137-F20E-4EE5-B770-B5F19B7BAC46}" sibTransId="{0FAFBEC7-6054-491B-9A1B-198B3BD4645A}"/>
    <dgm:cxn modelId="{E8DAF89A-1C3E-4728-9AC3-083BA389117E}" type="presOf" srcId="{397B6E0B-928B-44B7-A001-4B60A0D8F4C5}" destId="{6D72E3E3-BD5A-4CE6-B0A9-ED251514F2F8}" srcOrd="1" destOrd="0" presId="urn:microsoft.com/office/officeart/2005/8/layout/hierarchy3"/>
    <dgm:cxn modelId="{27A51EAB-259B-4265-9179-F243A0F58A0A}" type="presOf" srcId="{A1A936E6-5257-4132-9104-D5903AC0E885}" destId="{FDC53282-73DD-44F9-9FF8-ED55BA6D211A}" srcOrd="0" destOrd="0" presId="urn:microsoft.com/office/officeart/2005/8/layout/hierarchy3"/>
    <dgm:cxn modelId="{8D6D44B6-D5C7-4271-987F-5251C61557BB}" type="presOf" srcId="{24810675-EE0D-4755-9592-648DB455373C}" destId="{C2ADFB5D-A19B-4AA9-A787-FE1EADD602E8}" srcOrd="0" destOrd="0" presId="urn:microsoft.com/office/officeart/2005/8/layout/hierarchy3"/>
    <dgm:cxn modelId="{099C1EBC-214B-4E26-856E-40A5F40183F2}" type="presOf" srcId="{A1A936E6-5257-4132-9104-D5903AC0E885}" destId="{7E7A1B7D-703A-4C1A-BCD2-C86E21EC642C}" srcOrd="1" destOrd="0" presId="urn:microsoft.com/office/officeart/2005/8/layout/hierarchy3"/>
    <dgm:cxn modelId="{077E8ABC-8564-4B48-A729-179764A2A283}" type="presOf" srcId="{BE36CFFA-D4A9-4B4D-8DA6-12978BD1C69E}" destId="{34FA0C9E-ABBE-440A-ACF5-A9AAE0FAD241}" srcOrd="0" destOrd="0" presId="urn:microsoft.com/office/officeart/2005/8/layout/hierarchy3"/>
    <dgm:cxn modelId="{21E488CD-A2ED-4280-8E2D-00348A98C50A}" srcId="{0EAEC71C-6BEA-4B2E-B4F2-F1B6D9570793}" destId="{24810675-EE0D-4755-9592-648DB455373C}" srcOrd="0" destOrd="0" parTransId="{06D9DAC0-71C7-4995-8466-FD5CC43E6980}" sibTransId="{CAD0A517-45BA-48BD-BBFE-897360C80E02}"/>
    <dgm:cxn modelId="{0FB191A9-8051-4EFC-B4CB-2BF4FC0A2974}" type="presParOf" srcId="{922D35AC-EE85-4872-BD20-495B37C99852}" destId="{920287E7-DB62-4DC1-9E60-C58F02D75251}" srcOrd="0" destOrd="0" presId="urn:microsoft.com/office/officeart/2005/8/layout/hierarchy3"/>
    <dgm:cxn modelId="{4D66D487-A2A5-42F5-99B8-529D1D2BC43C}" type="presParOf" srcId="{920287E7-DB62-4DC1-9E60-C58F02D75251}" destId="{6FD1D812-7C4F-4B81-B6B3-94D76CE4CF19}" srcOrd="0" destOrd="0" presId="urn:microsoft.com/office/officeart/2005/8/layout/hierarchy3"/>
    <dgm:cxn modelId="{57435176-31FC-4D70-93E2-F82B94DB9987}" type="presParOf" srcId="{6FD1D812-7C4F-4B81-B6B3-94D76CE4CF19}" destId="{C2ADFB5D-A19B-4AA9-A787-FE1EADD602E8}" srcOrd="0" destOrd="0" presId="urn:microsoft.com/office/officeart/2005/8/layout/hierarchy3"/>
    <dgm:cxn modelId="{80E12B12-20C3-4318-8E81-603135EB9C34}" type="presParOf" srcId="{6FD1D812-7C4F-4B81-B6B3-94D76CE4CF19}" destId="{7F409931-DCA0-46B7-B797-334085D9381D}" srcOrd="1" destOrd="0" presId="urn:microsoft.com/office/officeart/2005/8/layout/hierarchy3"/>
    <dgm:cxn modelId="{147FF291-E7F2-46D7-A050-DFDE71DA03BF}" type="presParOf" srcId="{920287E7-DB62-4DC1-9E60-C58F02D75251}" destId="{E17C47EC-94C5-45D0-A197-E4BFF62F627B}" srcOrd="1" destOrd="0" presId="urn:microsoft.com/office/officeart/2005/8/layout/hierarchy3"/>
    <dgm:cxn modelId="{5D8C2CF3-E99C-4556-9588-37BD69E91067}" type="presParOf" srcId="{922D35AC-EE85-4872-BD20-495B37C99852}" destId="{BAD8EB23-60F4-4915-A7AB-0C7D3492AED8}" srcOrd="1" destOrd="0" presId="urn:microsoft.com/office/officeart/2005/8/layout/hierarchy3"/>
    <dgm:cxn modelId="{D5300AF8-C9C5-474D-8557-A46E78B49263}" type="presParOf" srcId="{BAD8EB23-60F4-4915-A7AB-0C7D3492AED8}" destId="{3668BAFA-2D53-41A9-BDCB-467584B180BA}" srcOrd="0" destOrd="0" presId="urn:microsoft.com/office/officeart/2005/8/layout/hierarchy3"/>
    <dgm:cxn modelId="{E3739428-FA19-40A4-91A2-86A4BD2A0BC0}" type="presParOf" srcId="{3668BAFA-2D53-41A9-BDCB-467584B180BA}" destId="{34FA0C9E-ABBE-440A-ACF5-A9AAE0FAD241}" srcOrd="0" destOrd="0" presId="urn:microsoft.com/office/officeart/2005/8/layout/hierarchy3"/>
    <dgm:cxn modelId="{5605092E-8D5A-4B4B-BF2F-06CCD2B44D3E}" type="presParOf" srcId="{3668BAFA-2D53-41A9-BDCB-467584B180BA}" destId="{AADDEB83-9001-4B37-B2E1-B4EC9FCB9D6B}" srcOrd="1" destOrd="0" presId="urn:microsoft.com/office/officeart/2005/8/layout/hierarchy3"/>
    <dgm:cxn modelId="{32B19905-0A47-49BE-8E99-D996A3D9DBE7}" type="presParOf" srcId="{BAD8EB23-60F4-4915-A7AB-0C7D3492AED8}" destId="{3CCA6A13-B328-45D8-B1A6-E367E4959773}" srcOrd="1" destOrd="0" presId="urn:microsoft.com/office/officeart/2005/8/layout/hierarchy3"/>
    <dgm:cxn modelId="{92AAC934-2937-4660-AA11-BDD183C3112A}" type="presParOf" srcId="{922D35AC-EE85-4872-BD20-495B37C99852}" destId="{DC67B920-137B-4236-BC1B-9F91E7E9EED3}" srcOrd="2" destOrd="0" presId="urn:microsoft.com/office/officeart/2005/8/layout/hierarchy3"/>
    <dgm:cxn modelId="{970317EF-C5D1-4510-BB72-AB86838E4074}" type="presParOf" srcId="{DC67B920-137B-4236-BC1B-9F91E7E9EED3}" destId="{766234BD-393F-4401-829E-46437405FCCD}" srcOrd="0" destOrd="0" presId="urn:microsoft.com/office/officeart/2005/8/layout/hierarchy3"/>
    <dgm:cxn modelId="{C0219EB0-BC70-4AC1-B5BD-A0DB56CB0A18}" type="presParOf" srcId="{766234BD-393F-4401-829E-46437405FCCD}" destId="{D0BCDBA0-BA42-412E-8A9D-D48861478A4C}" srcOrd="0" destOrd="0" presId="urn:microsoft.com/office/officeart/2005/8/layout/hierarchy3"/>
    <dgm:cxn modelId="{36A291D4-14C1-41AF-9951-5AB2E974D986}" type="presParOf" srcId="{766234BD-393F-4401-829E-46437405FCCD}" destId="{6D72E3E3-BD5A-4CE6-B0A9-ED251514F2F8}" srcOrd="1" destOrd="0" presId="urn:microsoft.com/office/officeart/2005/8/layout/hierarchy3"/>
    <dgm:cxn modelId="{1FDB305E-A268-4A57-94FE-EC945557AFCF}" type="presParOf" srcId="{DC67B920-137B-4236-BC1B-9F91E7E9EED3}" destId="{31DB717C-01C3-49D1-B912-CF25ED846F55}" srcOrd="1" destOrd="0" presId="urn:microsoft.com/office/officeart/2005/8/layout/hierarchy3"/>
    <dgm:cxn modelId="{747621EB-5D59-4904-93EB-2C4A4C070F6F}" type="presParOf" srcId="{922D35AC-EE85-4872-BD20-495B37C99852}" destId="{E01C8CD2-51E5-4FC5-A4C3-4CA34A6912BA}" srcOrd="3" destOrd="0" presId="urn:microsoft.com/office/officeart/2005/8/layout/hierarchy3"/>
    <dgm:cxn modelId="{BD0C4DD6-F0D7-40EC-9DF8-EC97DE1BE830}" type="presParOf" srcId="{E01C8CD2-51E5-4FC5-A4C3-4CA34A6912BA}" destId="{35560B43-53E8-4E3E-87EF-C75ED305123C}" srcOrd="0" destOrd="0" presId="urn:microsoft.com/office/officeart/2005/8/layout/hierarchy3"/>
    <dgm:cxn modelId="{EC22FAFF-9723-46C6-B716-4EE80387D32A}" type="presParOf" srcId="{35560B43-53E8-4E3E-87EF-C75ED305123C}" destId="{18D9A22E-7382-4A14-9CAD-F3AD52CFD61E}" srcOrd="0" destOrd="0" presId="urn:microsoft.com/office/officeart/2005/8/layout/hierarchy3"/>
    <dgm:cxn modelId="{37BEA3C5-EFB1-421A-B654-C67702DC12E0}" type="presParOf" srcId="{35560B43-53E8-4E3E-87EF-C75ED305123C}" destId="{7D9A678F-CA70-4FF3-A8AD-89B8288E1C70}" srcOrd="1" destOrd="0" presId="urn:microsoft.com/office/officeart/2005/8/layout/hierarchy3"/>
    <dgm:cxn modelId="{36C40691-3CAC-4ABF-9B34-E0B91E7D8F23}" type="presParOf" srcId="{E01C8CD2-51E5-4FC5-A4C3-4CA34A6912BA}" destId="{5E12FDFF-5A81-4772-B18A-398F3DB8CB78}" srcOrd="1" destOrd="0" presId="urn:microsoft.com/office/officeart/2005/8/layout/hierarchy3"/>
    <dgm:cxn modelId="{37B0862E-5B9A-468B-BB44-DD004AD69A57}" type="presParOf" srcId="{922D35AC-EE85-4872-BD20-495B37C99852}" destId="{3D3F5683-31B5-4C55-BBD4-75122057097B}" srcOrd="4" destOrd="0" presId="urn:microsoft.com/office/officeart/2005/8/layout/hierarchy3"/>
    <dgm:cxn modelId="{78BA410F-4996-41C5-8E34-2640A3CC9C20}" type="presParOf" srcId="{3D3F5683-31B5-4C55-BBD4-75122057097B}" destId="{7C5DF5BB-19F4-43F9-9428-D6649184826B}" srcOrd="0" destOrd="0" presId="urn:microsoft.com/office/officeart/2005/8/layout/hierarchy3"/>
    <dgm:cxn modelId="{F34C45CA-E491-430D-912F-4805DD0CADE2}" type="presParOf" srcId="{7C5DF5BB-19F4-43F9-9428-D6649184826B}" destId="{FDC53282-73DD-44F9-9FF8-ED55BA6D211A}" srcOrd="0" destOrd="0" presId="urn:microsoft.com/office/officeart/2005/8/layout/hierarchy3"/>
    <dgm:cxn modelId="{4EC4E6F7-1230-4B0B-8D33-9DE73BCC5B17}" type="presParOf" srcId="{7C5DF5BB-19F4-43F9-9428-D6649184826B}" destId="{7E7A1B7D-703A-4C1A-BCD2-C86E21EC642C}" srcOrd="1" destOrd="0" presId="urn:microsoft.com/office/officeart/2005/8/layout/hierarchy3"/>
    <dgm:cxn modelId="{83678F56-0346-45DC-898D-6B7D59CBA669}" type="presParOf" srcId="{3D3F5683-31B5-4C55-BBD4-75122057097B}" destId="{D1B6A524-98EB-4B78-9EB2-A2B40382C20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0C91D6D-4591-4309-AA76-5E6BD87E146A}" type="doc">
      <dgm:prSet loTypeId="urn:microsoft.com/office/officeart/2005/8/layout/hList1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C0165B-8467-4E1B-8941-3A2DFD7D0384}">
      <dgm:prSet/>
      <dgm:spPr/>
      <dgm:t>
        <a:bodyPr/>
        <a:lstStyle/>
        <a:p>
          <a:r>
            <a:rPr lang="fr-FR" b="1"/>
            <a:t>Index plot: </a:t>
          </a:r>
          <a:endParaRPr lang="en-US"/>
        </a:p>
      </dgm:t>
    </dgm:pt>
    <dgm:pt modelId="{09CD20D7-5CAE-48F0-9009-100852D55388}" type="parTrans" cxnId="{C6DD2431-905B-4381-B306-3BE6BAC5661B}">
      <dgm:prSet/>
      <dgm:spPr/>
      <dgm:t>
        <a:bodyPr/>
        <a:lstStyle/>
        <a:p>
          <a:endParaRPr lang="en-US"/>
        </a:p>
      </dgm:t>
    </dgm:pt>
    <dgm:pt modelId="{0CF3EA29-C179-458F-89EF-D144166C8AB1}" type="sibTrans" cxnId="{C6DD2431-905B-4381-B306-3BE6BAC5661B}">
      <dgm:prSet/>
      <dgm:spPr/>
      <dgm:t>
        <a:bodyPr/>
        <a:lstStyle/>
        <a:p>
          <a:endParaRPr lang="en-US"/>
        </a:p>
      </dgm:t>
    </dgm:pt>
    <dgm:pt modelId="{9BB58D7E-817F-4C22-9476-7C0D659CF7D3}">
      <dgm:prSet/>
      <dgm:spPr/>
      <dgm:t>
        <a:bodyPr/>
        <a:lstStyle/>
        <a:p>
          <a:r>
            <a:rPr lang="fr-FR" dirty="0"/>
            <a:t>« </a:t>
          </a:r>
          <a:r>
            <a:rPr lang="fr-FR" dirty="0" err="1"/>
            <a:t>Individual</a:t>
          </a:r>
          <a:r>
            <a:rPr lang="fr-FR" dirty="0"/>
            <a:t> </a:t>
          </a:r>
          <a:r>
            <a:rPr lang="fr-FR" dirty="0" err="1"/>
            <a:t>trajectories</a:t>
          </a:r>
          <a:r>
            <a:rPr lang="fr-FR" dirty="0"/>
            <a:t> </a:t>
          </a:r>
          <a:r>
            <a:rPr lang="fr-FR" dirty="0" err="1"/>
            <a:t>inside</a:t>
          </a:r>
          <a:r>
            <a:rPr lang="fr-FR" dirty="0"/>
            <a:t> the cluster: </a:t>
          </a:r>
          <a:r>
            <a:rPr lang="fr-FR" dirty="0" err="1"/>
            <a:t>many</a:t>
          </a:r>
          <a:r>
            <a:rPr lang="fr-FR" dirty="0"/>
            <a:t> switches </a:t>
          </a:r>
          <a:r>
            <a:rPr lang="fr-FR" dirty="0" err="1"/>
            <a:t>between</a:t>
          </a:r>
          <a:r>
            <a:rPr lang="fr-FR" dirty="0"/>
            <a:t> </a:t>
          </a:r>
          <a:r>
            <a:rPr lang="fr-FR" dirty="0" err="1"/>
            <a:t>employment</a:t>
          </a:r>
          <a:r>
            <a:rPr lang="fr-FR" dirty="0"/>
            <a:t> and </a:t>
          </a:r>
          <a:r>
            <a:rPr lang="fr-FR" dirty="0" err="1"/>
            <a:t>unemployment</a:t>
          </a:r>
          <a:r>
            <a:rPr lang="fr-FR" dirty="0"/>
            <a:t>. »</a:t>
          </a:r>
          <a:endParaRPr lang="en-US" dirty="0"/>
        </a:p>
      </dgm:t>
    </dgm:pt>
    <dgm:pt modelId="{1556964B-4CED-4BFF-B847-8EBC1EBC49A7}" type="parTrans" cxnId="{071C5C39-5F0A-4979-A03C-3C4ED33CE238}">
      <dgm:prSet/>
      <dgm:spPr/>
      <dgm:t>
        <a:bodyPr/>
        <a:lstStyle/>
        <a:p>
          <a:endParaRPr lang="en-US"/>
        </a:p>
      </dgm:t>
    </dgm:pt>
    <dgm:pt modelId="{2ACEC541-9D7A-4382-886C-2BEBBB814D19}" type="sibTrans" cxnId="{071C5C39-5F0A-4979-A03C-3C4ED33CE238}">
      <dgm:prSet/>
      <dgm:spPr/>
      <dgm:t>
        <a:bodyPr/>
        <a:lstStyle/>
        <a:p>
          <a:endParaRPr lang="en-US"/>
        </a:p>
      </dgm:t>
    </dgm:pt>
    <dgm:pt modelId="{A69D45F8-4A01-49EB-90CE-35E78E28008E}">
      <dgm:prSet/>
      <dgm:spPr/>
      <dgm:t>
        <a:bodyPr/>
        <a:lstStyle/>
        <a:p>
          <a:r>
            <a:rPr lang="fr-FR" b="1"/>
            <a:t>State distribution plot: </a:t>
          </a:r>
          <a:endParaRPr lang="en-US"/>
        </a:p>
      </dgm:t>
    </dgm:pt>
    <dgm:pt modelId="{F297779D-67C3-42E2-94EC-C5B5325C0F72}" type="parTrans" cxnId="{2A37D255-64F4-46D2-ACF0-6472E0B44E0E}">
      <dgm:prSet/>
      <dgm:spPr/>
      <dgm:t>
        <a:bodyPr/>
        <a:lstStyle/>
        <a:p>
          <a:endParaRPr lang="en-US"/>
        </a:p>
      </dgm:t>
    </dgm:pt>
    <dgm:pt modelId="{22C33173-F1C8-42C2-B503-4CBF01432C09}" type="sibTrans" cxnId="{2A37D255-64F4-46D2-ACF0-6472E0B44E0E}">
      <dgm:prSet/>
      <dgm:spPr/>
      <dgm:t>
        <a:bodyPr/>
        <a:lstStyle/>
        <a:p>
          <a:endParaRPr lang="en-US"/>
        </a:p>
      </dgm:t>
    </dgm:pt>
    <dgm:pt modelId="{7B36D9C0-31DC-446F-A5D3-FFE9BAE05849}">
      <dgm:prSet/>
      <dgm:spPr/>
      <dgm:t>
        <a:bodyPr/>
        <a:lstStyle/>
        <a:p>
          <a:r>
            <a:rPr lang="fr-FR" b="1"/>
            <a:t>« </a:t>
          </a:r>
          <a:r>
            <a:rPr lang="fr-FR"/>
            <a:t>At each age/month, the share in employment vs unemployment changes often »</a:t>
          </a:r>
          <a:endParaRPr lang="en-US"/>
        </a:p>
      </dgm:t>
    </dgm:pt>
    <dgm:pt modelId="{72273692-D38F-403B-8E5E-EE5C3D85C0CA}" type="parTrans" cxnId="{29F0DA27-5B25-47E5-927F-08E12783772E}">
      <dgm:prSet/>
      <dgm:spPr/>
      <dgm:t>
        <a:bodyPr/>
        <a:lstStyle/>
        <a:p>
          <a:endParaRPr lang="en-US"/>
        </a:p>
      </dgm:t>
    </dgm:pt>
    <dgm:pt modelId="{1305F0BA-4ED3-4741-B97B-8CCC10F42562}" type="sibTrans" cxnId="{29F0DA27-5B25-47E5-927F-08E12783772E}">
      <dgm:prSet/>
      <dgm:spPr/>
      <dgm:t>
        <a:bodyPr/>
        <a:lstStyle/>
        <a:p>
          <a:endParaRPr lang="en-US"/>
        </a:p>
      </dgm:t>
    </dgm:pt>
    <dgm:pt modelId="{E4104764-D664-4731-8E26-6CC3811EDE21}">
      <dgm:prSet/>
      <dgm:spPr/>
      <dgm:t>
        <a:bodyPr/>
        <a:lstStyle/>
        <a:p>
          <a:r>
            <a:rPr lang="fr-FR" b="1"/>
            <a:t>Numerical summary box</a:t>
          </a:r>
          <a:r>
            <a:rPr lang="fr-FR"/>
            <a:t> </a:t>
          </a:r>
          <a:endParaRPr lang="en-US"/>
        </a:p>
      </dgm:t>
    </dgm:pt>
    <dgm:pt modelId="{8D4E24D8-C861-4889-A8D5-256C5A48F6A0}" type="parTrans" cxnId="{BFD65729-765E-4A67-B416-09F634833444}">
      <dgm:prSet/>
      <dgm:spPr/>
      <dgm:t>
        <a:bodyPr/>
        <a:lstStyle/>
        <a:p>
          <a:endParaRPr lang="en-US"/>
        </a:p>
      </dgm:t>
    </dgm:pt>
    <dgm:pt modelId="{254FD6D5-37DA-4D90-AF9F-8FB62F805E85}" type="sibTrans" cxnId="{BFD65729-765E-4A67-B416-09F634833444}">
      <dgm:prSet/>
      <dgm:spPr/>
      <dgm:t>
        <a:bodyPr/>
        <a:lstStyle/>
        <a:p>
          <a:endParaRPr lang="en-US"/>
        </a:p>
      </dgm:t>
    </dgm:pt>
    <dgm:pt modelId="{678D7565-8E29-41CB-8976-42C295546A2C}">
      <dgm:prSet/>
      <dgm:spPr/>
      <dgm:t>
        <a:bodyPr/>
        <a:lstStyle/>
        <a:p>
          <a:r>
            <a:rPr lang="fr-FR"/>
            <a:t>Mean years unemployed: high </a:t>
          </a:r>
          <a:endParaRPr lang="en-US"/>
        </a:p>
      </dgm:t>
    </dgm:pt>
    <dgm:pt modelId="{FFC81310-B3B3-4B0C-A231-11D7AD300AF2}" type="parTrans" cxnId="{AFBFEE8D-FD17-4F9F-A5D2-ABB8C3E51CCF}">
      <dgm:prSet/>
      <dgm:spPr/>
      <dgm:t>
        <a:bodyPr/>
        <a:lstStyle/>
        <a:p>
          <a:endParaRPr lang="en-US"/>
        </a:p>
      </dgm:t>
    </dgm:pt>
    <dgm:pt modelId="{E46C9A0A-9F9F-4927-B022-6983209D4057}" type="sibTrans" cxnId="{AFBFEE8D-FD17-4F9F-A5D2-ABB8C3E51CCF}">
      <dgm:prSet/>
      <dgm:spPr/>
      <dgm:t>
        <a:bodyPr/>
        <a:lstStyle/>
        <a:p>
          <a:endParaRPr lang="en-US"/>
        </a:p>
      </dgm:t>
    </dgm:pt>
    <dgm:pt modelId="{FCE65024-A140-4331-9347-ED2EF3549BB8}">
      <dgm:prSet/>
      <dgm:spPr/>
      <dgm:t>
        <a:bodyPr/>
        <a:lstStyle/>
        <a:p>
          <a:r>
            <a:rPr lang="fr-FR" dirty="0"/>
            <a:t>Mean transitions: high </a:t>
          </a:r>
          <a:endParaRPr lang="en-US" dirty="0"/>
        </a:p>
      </dgm:t>
    </dgm:pt>
    <dgm:pt modelId="{6E30A2D7-A2C8-4AFF-91E8-8B32FE720EC6}" type="parTrans" cxnId="{F1BF157B-CEDB-420E-ADB4-35F0B63A164A}">
      <dgm:prSet/>
      <dgm:spPr/>
      <dgm:t>
        <a:bodyPr/>
        <a:lstStyle/>
        <a:p>
          <a:endParaRPr lang="en-US"/>
        </a:p>
      </dgm:t>
    </dgm:pt>
    <dgm:pt modelId="{91ED5611-1099-494D-9EAF-8626C956098B}" type="sibTrans" cxnId="{F1BF157B-CEDB-420E-ADB4-35F0B63A164A}">
      <dgm:prSet/>
      <dgm:spPr/>
      <dgm:t>
        <a:bodyPr/>
        <a:lstStyle/>
        <a:p>
          <a:endParaRPr lang="en-US"/>
        </a:p>
      </dgm:t>
    </dgm:pt>
    <dgm:pt modelId="{2C16006C-1E4F-4E7F-A4C0-15962AF4B3E6}">
      <dgm:prSet/>
      <dgm:spPr/>
      <dgm:t>
        <a:bodyPr/>
        <a:lstStyle/>
        <a:p>
          <a:r>
            <a:rPr lang="fr-FR"/>
            <a:t>Dominant feature: repeated interruption</a:t>
          </a:r>
          <a:endParaRPr lang="en-US"/>
        </a:p>
      </dgm:t>
    </dgm:pt>
    <dgm:pt modelId="{D271FF8A-9D9A-419E-B62C-9EADA529CE14}" type="parTrans" cxnId="{E75B86F0-D0E8-4E6B-880D-D275CC76FE30}">
      <dgm:prSet/>
      <dgm:spPr/>
      <dgm:t>
        <a:bodyPr/>
        <a:lstStyle/>
        <a:p>
          <a:endParaRPr lang="en-US"/>
        </a:p>
      </dgm:t>
    </dgm:pt>
    <dgm:pt modelId="{9A8E19F3-0382-4C24-9D66-4F8E1A803440}" type="sibTrans" cxnId="{E75B86F0-D0E8-4E6B-880D-D275CC76FE30}">
      <dgm:prSet/>
      <dgm:spPr/>
      <dgm:t>
        <a:bodyPr/>
        <a:lstStyle/>
        <a:p>
          <a:endParaRPr lang="en-US"/>
        </a:p>
      </dgm:t>
    </dgm:pt>
    <dgm:pt modelId="{16D52CA1-8ACB-43DA-B2E8-95852723EB71}" type="pres">
      <dgm:prSet presAssocID="{40C91D6D-4591-4309-AA76-5E6BD87E146A}" presName="Name0" presStyleCnt="0">
        <dgm:presLayoutVars>
          <dgm:dir/>
          <dgm:animLvl val="lvl"/>
          <dgm:resizeHandles val="exact"/>
        </dgm:presLayoutVars>
      </dgm:prSet>
      <dgm:spPr/>
    </dgm:pt>
    <dgm:pt modelId="{5FB8E330-A71B-4720-B34E-A80D33182C4B}" type="pres">
      <dgm:prSet presAssocID="{F3C0165B-8467-4E1B-8941-3A2DFD7D0384}" presName="composite" presStyleCnt="0"/>
      <dgm:spPr/>
    </dgm:pt>
    <dgm:pt modelId="{A7C86BE3-4639-43F4-A86F-CAA483A75216}" type="pres">
      <dgm:prSet presAssocID="{F3C0165B-8467-4E1B-8941-3A2DFD7D038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C30E83C-1216-47CF-B0C5-565C830EF637}" type="pres">
      <dgm:prSet presAssocID="{F3C0165B-8467-4E1B-8941-3A2DFD7D0384}" presName="desTx" presStyleLbl="alignAccFollowNode1" presStyleIdx="0" presStyleCnt="3">
        <dgm:presLayoutVars>
          <dgm:bulletEnabled val="1"/>
        </dgm:presLayoutVars>
      </dgm:prSet>
      <dgm:spPr/>
    </dgm:pt>
    <dgm:pt modelId="{91E58C17-862D-4921-B6CB-1D15F2574DD8}" type="pres">
      <dgm:prSet presAssocID="{0CF3EA29-C179-458F-89EF-D144166C8AB1}" presName="space" presStyleCnt="0"/>
      <dgm:spPr/>
    </dgm:pt>
    <dgm:pt modelId="{EAB970C3-443B-4C96-A913-16FF11B3B671}" type="pres">
      <dgm:prSet presAssocID="{A69D45F8-4A01-49EB-90CE-35E78E28008E}" presName="composite" presStyleCnt="0"/>
      <dgm:spPr/>
    </dgm:pt>
    <dgm:pt modelId="{E427A561-5FB5-4D4E-A704-54D7499B21A4}" type="pres">
      <dgm:prSet presAssocID="{A69D45F8-4A01-49EB-90CE-35E78E2800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FEFFCE1-D914-4552-8FA7-B1EF1242B7A3}" type="pres">
      <dgm:prSet presAssocID="{A69D45F8-4A01-49EB-90CE-35E78E28008E}" presName="desTx" presStyleLbl="alignAccFollowNode1" presStyleIdx="1" presStyleCnt="3">
        <dgm:presLayoutVars>
          <dgm:bulletEnabled val="1"/>
        </dgm:presLayoutVars>
      </dgm:prSet>
      <dgm:spPr/>
    </dgm:pt>
    <dgm:pt modelId="{D5C78A28-B3AF-4700-9D80-031593C3CBAA}" type="pres">
      <dgm:prSet presAssocID="{22C33173-F1C8-42C2-B503-4CBF01432C09}" presName="space" presStyleCnt="0"/>
      <dgm:spPr/>
    </dgm:pt>
    <dgm:pt modelId="{27D16ADE-2873-4B6F-9BEB-EEF38432D4EC}" type="pres">
      <dgm:prSet presAssocID="{E4104764-D664-4731-8E26-6CC3811EDE21}" presName="composite" presStyleCnt="0"/>
      <dgm:spPr/>
    </dgm:pt>
    <dgm:pt modelId="{31D93EB8-63C7-4F7D-AC54-FDD3D6986427}" type="pres">
      <dgm:prSet presAssocID="{E4104764-D664-4731-8E26-6CC3811EDE2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DE6B2B4-9322-4AA8-B9ED-53B9A2588539}" type="pres">
      <dgm:prSet presAssocID="{E4104764-D664-4731-8E26-6CC3811EDE2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47E1309-8E40-4350-9F7E-934E29BAD1BC}" type="presOf" srcId="{A69D45F8-4A01-49EB-90CE-35E78E28008E}" destId="{E427A561-5FB5-4D4E-A704-54D7499B21A4}" srcOrd="0" destOrd="0" presId="urn:microsoft.com/office/officeart/2005/8/layout/hList1"/>
    <dgm:cxn modelId="{1831DE26-7755-49AB-89A7-0EE8DECBECE8}" type="presOf" srcId="{40C91D6D-4591-4309-AA76-5E6BD87E146A}" destId="{16D52CA1-8ACB-43DA-B2E8-95852723EB71}" srcOrd="0" destOrd="0" presId="urn:microsoft.com/office/officeart/2005/8/layout/hList1"/>
    <dgm:cxn modelId="{29F0DA27-5B25-47E5-927F-08E12783772E}" srcId="{A69D45F8-4A01-49EB-90CE-35E78E28008E}" destId="{7B36D9C0-31DC-446F-A5D3-FFE9BAE05849}" srcOrd="0" destOrd="0" parTransId="{72273692-D38F-403B-8E5E-EE5C3D85C0CA}" sibTransId="{1305F0BA-4ED3-4741-B97B-8CCC10F42562}"/>
    <dgm:cxn modelId="{BFD65729-765E-4A67-B416-09F634833444}" srcId="{40C91D6D-4591-4309-AA76-5E6BD87E146A}" destId="{E4104764-D664-4731-8E26-6CC3811EDE21}" srcOrd="2" destOrd="0" parTransId="{8D4E24D8-C861-4889-A8D5-256C5A48F6A0}" sibTransId="{254FD6D5-37DA-4D90-AF9F-8FB62F805E85}"/>
    <dgm:cxn modelId="{C6DD2431-905B-4381-B306-3BE6BAC5661B}" srcId="{40C91D6D-4591-4309-AA76-5E6BD87E146A}" destId="{F3C0165B-8467-4E1B-8941-3A2DFD7D0384}" srcOrd="0" destOrd="0" parTransId="{09CD20D7-5CAE-48F0-9009-100852D55388}" sibTransId="{0CF3EA29-C179-458F-89EF-D144166C8AB1}"/>
    <dgm:cxn modelId="{071C5C39-5F0A-4979-A03C-3C4ED33CE238}" srcId="{F3C0165B-8467-4E1B-8941-3A2DFD7D0384}" destId="{9BB58D7E-817F-4C22-9476-7C0D659CF7D3}" srcOrd="0" destOrd="0" parTransId="{1556964B-4CED-4BFF-B847-8EBC1EBC49A7}" sibTransId="{2ACEC541-9D7A-4382-886C-2BEBBB814D19}"/>
    <dgm:cxn modelId="{9B8D0565-C285-4A15-81BB-D9D23AE4C19C}" type="presOf" srcId="{678D7565-8E29-41CB-8976-42C295546A2C}" destId="{2DE6B2B4-9322-4AA8-B9ED-53B9A2588539}" srcOrd="0" destOrd="0" presId="urn:microsoft.com/office/officeart/2005/8/layout/hList1"/>
    <dgm:cxn modelId="{A1A02149-7FF7-4DB1-805B-FB48CF5B636F}" type="presOf" srcId="{9BB58D7E-817F-4C22-9476-7C0D659CF7D3}" destId="{1C30E83C-1216-47CF-B0C5-565C830EF637}" srcOrd="0" destOrd="0" presId="urn:microsoft.com/office/officeart/2005/8/layout/hList1"/>
    <dgm:cxn modelId="{2A37D255-64F4-46D2-ACF0-6472E0B44E0E}" srcId="{40C91D6D-4591-4309-AA76-5E6BD87E146A}" destId="{A69D45F8-4A01-49EB-90CE-35E78E28008E}" srcOrd="1" destOrd="0" parTransId="{F297779D-67C3-42E2-94EC-C5B5325C0F72}" sibTransId="{22C33173-F1C8-42C2-B503-4CBF01432C09}"/>
    <dgm:cxn modelId="{F1BF157B-CEDB-420E-ADB4-35F0B63A164A}" srcId="{E4104764-D664-4731-8E26-6CC3811EDE21}" destId="{FCE65024-A140-4331-9347-ED2EF3549BB8}" srcOrd="1" destOrd="0" parTransId="{6E30A2D7-A2C8-4AFF-91E8-8B32FE720EC6}" sibTransId="{91ED5611-1099-494D-9EAF-8626C956098B}"/>
    <dgm:cxn modelId="{AFBFEE8D-FD17-4F9F-A5D2-ABB8C3E51CCF}" srcId="{E4104764-D664-4731-8E26-6CC3811EDE21}" destId="{678D7565-8E29-41CB-8976-42C295546A2C}" srcOrd="0" destOrd="0" parTransId="{FFC81310-B3B3-4B0C-A231-11D7AD300AF2}" sibTransId="{E46C9A0A-9F9F-4927-B022-6983209D4057}"/>
    <dgm:cxn modelId="{0F8548BB-1B0F-4E00-9F36-073982176633}" type="presOf" srcId="{FCE65024-A140-4331-9347-ED2EF3549BB8}" destId="{2DE6B2B4-9322-4AA8-B9ED-53B9A2588539}" srcOrd="0" destOrd="1" presId="urn:microsoft.com/office/officeart/2005/8/layout/hList1"/>
    <dgm:cxn modelId="{C99DD4BF-3E4F-4761-8AE4-2B63CD44E506}" type="presOf" srcId="{2C16006C-1E4F-4E7F-A4C0-15962AF4B3E6}" destId="{2DE6B2B4-9322-4AA8-B9ED-53B9A2588539}" srcOrd="0" destOrd="2" presId="urn:microsoft.com/office/officeart/2005/8/layout/hList1"/>
    <dgm:cxn modelId="{E75B86F0-D0E8-4E6B-880D-D275CC76FE30}" srcId="{E4104764-D664-4731-8E26-6CC3811EDE21}" destId="{2C16006C-1E4F-4E7F-A4C0-15962AF4B3E6}" srcOrd="2" destOrd="0" parTransId="{D271FF8A-9D9A-419E-B62C-9EADA529CE14}" sibTransId="{9A8E19F3-0382-4C24-9D66-4F8E1A803440}"/>
    <dgm:cxn modelId="{FC426FF4-62EB-4D27-89F5-D6D65AB26BA3}" type="presOf" srcId="{E4104764-D664-4731-8E26-6CC3811EDE21}" destId="{31D93EB8-63C7-4F7D-AC54-FDD3D6986427}" srcOrd="0" destOrd="0" presId="urn:microsoft.com/office/officeart/2005/8/layout/hList1"/>
    <dgm:cxn modelId="{6A266FF7-8846-4B7A-9E98-7F5F1D408FF4}" type="presOf" srcId="{F3C0165B-8467-4E1B-8941-3A2DFD7D0384}" destId="{A7C86BE3-4639-43F4-A86F-CAA483A75216}" srcOrd="0" destOrd="0" presId="urn:microsoft.com/office/officeart/2005/8/layout/hList1"/>
    <dgm:cxn modelId="{C42140FC-D8AA-4C6B-9B68-6B21E52A27D8}" type="presOf" srcId="{7B36D9C0-31DC-446F-A5D3-FFE9BAE05849}" destId="{3FEFFCE1-D914-4552-8FA7-B1EF1242B7A3}" srcOrd="0" destOrd="0" presId="urn:microsoft.com/office/officeart/2005/8/layout/hList1"/>
    <dgm:cxn modelId="{10FC8024-C5EA-42B9-B13F-12A975AE9A40}" type="presParOf" srcId="{16D52CA1-8ACB-43DA-B2E8-95852723EB71}" destId="{5FB8E330-A71B-4720-B34E-A80D33182C4B}" srcOrd="0" destOrd="0" presId="urn:microsoft.com/office/officeart/2005/8/layout/hList1"/>
    <dgm:cxn modelId="{CE4FD735-D587-4CF7-B74E-FFD12F7331E2}" type="presParOf" srcId="{5FB8E330-A71B-4720-B34E-A80D33182C4B}" destId="{A7C86BE3-4639-43F4-A86F-CAA483A75216}" srcOrd="0" destOrd="0" presId="urn:microsoft.com/office/officeart/2005/8/layout/hList1"/>
    <dgm:cxn modelId="{55EB00EB-E89C-42D2-9FC9-E08792B562E7}" type="presParOf" srcId="{5FB8E330-A71B-4720-B34E-A80D33182C4B}" destId="{1C30E83C-1216-47CF-B0C5-565C830EF637}" srcOrd="1" destOrd="0" presId="urn:microsoft.com/office/officeart/2005/8/layout/hList1"/>
    <dgm:cxn modelId="{1A62A403-1776-4E3E-B38D-BEC058E78A09}" type="presParOf" srcId="{16D52CA1-8ACB-43DA-B2E8-95852723EB71}" destId="{91E58C17-862D-4921-B6CB-1D15F2574DD8}" srcOrd="1" destOrd="0" presId="urn:microsoft.com/office/officeart/2005/8/layout/hList1"/>
    <dgm:cxn modelId="{E0E3CA13-CE33-4FDE-87AF-2D5DA6AFB787}" type="presParOf" srcId="{16D52CA1-8ACB-43DA-B2E8-95852723EB71}" destId="{EAB970C3-443B-4C96-A913-16FF11B3B671}" srcOrd="2" destOrd="0" presId="urn:microsoft.com/office/officeart/2005/8/layout/hList1"/>
    <dgm:cxn modelId="{3C23793E-624E-4C13-902D-FC090163CE13}" type="presParOf" srcId="{EAB970C3-443B-4C96-A913-16FF11B3B671}" destId="{E427A561-5FB5-4D4E-A704-54D7499B21A4}" srcOrd="0" destOrd="0" presId="urn:microsoft.com/office/officeart/2005/8/layout/hList1"/>
    <dgm:cxn modelId="{F5771C87-505F-45D7-945B-7BA962CA520E}" type="presParOf" srcId="{EAB970C3-443B-4C96-A913-16FF11B3B671}" destId="{3FEFFCE1-D914-4552-8FA7-B1EF1242B7A3}" srcOrd="1" destOrd="0" presId="urn:microsoft.com/office/officeart/2005/8/layout/hList1"/>
    <dgm:cxn modelId="{272B26C1-E537-4663-9604-1B2412D53A12}" type="presParOf" srcId="{16D52CA1-8ACB-43DA-B2E8-95852723EB71}" destId="{D5C78A28-B3AF-4700-9D80-031593C3CBAA}" srcOrd="3" destOrd="0" presId="urn:microsoft.com/office/officeart/2005/8/layout/hList1"/>
    <dgm:cxn modelId="{835EF448-9809-4300-8F2D-4DB511CC2165}" type="presParOf" srcId="{16D52CA1-8ACB-43DA-B2E8-95852723EB71}" destId="{27D16ADE-2873-4B6F-9BEB-EEF38432D4EC}" srcOrd="4" destOrd="0" presId="urn:microsoft.com/office/officeart/2005/8/layout/hList1"/>
    <dgm:cxn modelId="{3CD3CBEB-B3C3-4962-9119-6D3E5975A167}" type="presParOf" srcId="{27D16ADE-2873-4B6F-9BEB-EEF38432D4EC}" destId="{31D93EB8-63C7-4F7D-AC54-FDD3D6986427}" srcOrd="0" destOrd="0" presId="urn:microsoft.com/office/officeart/2005/8/layout/hList1"/>
    <dgm:cxn modelId="{5053DEA2-D9CE-4F42-8D87-B1C820D6655A}" type="presParOf" srcId="{27D16ADE-2873-4B6F-9BEB-EEF38432D4EC}" destId="{2DE6B2B4-9322-4AA8-B9ED-53B9A25885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6964EB-48F0-4AB9-842D-7E388D4E484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0390F44-4547-414A-8AC2-906064CE2D2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sz="4400" b="1"/>
            <a:t>Bad labels:</a:t>
          </a:r>
          <a:endParaRPr lang="en-US" sz="4400"/>
        </a:p>
      </dgm:t>
    </dgm:pt>
    <dgm:pt modelId="{ACF7F2D8-3CDB-47F1-9739-E0DC4072A9CD}" type="parTrans" cxnId="{34F74E60-732D-4675-ABD6-14EB3160B11C}">
      <dgm:prSet/>
      <dgm:spPr/>
      <dgm:t>
        <a:bodyPr/>
        <a:lstStyle/>
        <a:p>
          <a:endParaRPr lang="en-US" sz="2400"/>
        </a:p>
      </dgm:t>
    </dgm:pt>
    <dgm:pt modelId="{5780A325-5100-40FE-80FD-270058F7F4CE}" type="sibTrans" cxnId="{34F74E60-732D-4675-ABD6-14EB3160B11C}">
      <dgm:prSet/>
      <dgm:spPr/>
      <dgm:t>
        <a:bodyPr/>
        <a:lstStyle/>
        <a:p>
          <a:endParaRPr lang="en-US" sz="2400"/>
        </a:p>
      </dgm:t>
    </dgm:pt>
    <dgm:pt modelId="{3C222F03-5607-4397-B804-8D9742761F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“successful” </a:t>
          </a:r>
          <a:endParaRPr lang="en-US" sz="2000"/>
        </a:p>
      </dgm:t>
    </dgm:pt>
    <dgm:pt modelId="{327F7C5F-5B9B-4E34-9B29-51F87E951272}" type="parTrans" cxnId="{EB27A14D-082D-4100-97FC-FFCE558F4EEB}">
      <dgm:prSet/>
      <dgm:spPr/>
      <dgm:t>
        <a:bodyPr/>
        <a:lstStyle/>
        <a:p>
          <a:endParaRPr lang="en-US" sz="2400"/>
        </a:p>
      </dgm:t>
    </dgm:pt>
    <dgm:pt modelId="{B16EBAB4-71AE-493D-A9A3-650FE273FEE4}" type="sibTrans" cxnId="{EB27A14D-082D-4100-97FC-FFCE558F4EEB}">
      <dgm:prSet/>
      <dgm:spPr/>
      <dgm:t>
        <a:bodyPr/>
        <a:lstStyle/>
        <a:p>
          <a:endParaRPr lang="en-US" sz="2400"/>
        </a:p>
      </dgm:t>
    </dgm:pt>
    <dgm:pt modelId="{F4E30806-0E77-4AF4-B621-8CFF23B2ED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“failed” </a:t>
          </a:r>
          <a:endParaRPr lang="en-US" sz="2000"/>
        </a:p>
      </dgm:t>
    </dgm:pt>
    <dgm:pt modelId="{DC1CCBE1-C24F-4277-A778-04954DDCF428}" type="parTrans" cxnId="{83408496-86DE-490A-B4DD-F380484C87B3}">
      <dgm:prSet/>
      <dgm:spPr/>
      <dgm:t>
        <a:bodyPr/>
        <a:lstStyle/>
        <a:p>
          <a:endParaRPr lang="en-US" sz="2400"/>
        </a:p>
      </dgm:t>
    </dgm:pt>
    <dgm:pt modelId="{7537EE03-08A8-4726-91AB-7C5B4BF792D3}" type="sibTrans" cxnId="{83408496-86DE-490A-B4DD-F380484C87B3}">
      <dgm:prSet/>
      <dgm:spPr/>
      <dgm:t>
        <a:bodyPr/>
        <a:lstStyle/>
        <a:p>
          <a:endParaRPr lang="en-US" sz="2400"/>
        </a:p>
      </dgm:t>
    </dgm:pt>
    <dgm:pt modelId="{537CFBB2-AC14-49FF-894F-B80E60E91AC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“problematic” </a:t>
          </a:r>
          <a:endParaRPr lang="en-US" sz="2000"/>
        </a:p>
      </dgm:t>
    </dgm:pt>
    <dgm:pt modelId="{C8AF265D-0959-4CA7-8D29-F6C681DF0237}" type="parTrans" cxnId="{C4B5FCE7-29BC-44B8-8367-4AD5C0BC45D2}">
      <dgm:prSet/>
      <dgm:spPr/>
      <dgm:t>
        <a:bodyPr/>
        <a:lstStyle/>
        <a:p>
          <a:endParaRPr lang="en-US" sz="2400"/>
        </a:p>
      </dgm:t>
    </dgm:pt>
    <dgm:pt modelId="{C2E5DDBE-EF17-4693-9A91-B7DE1BC92887}" type="sibTrans" cxnId="{C4B5FCE7-29BC-44B8-8367-4AD5C0BC45D2}">
      <dgm:prSet/>
      <dgm:spPr/>
      <dgm:t>
        <a:bodyPr/>
        <a:lstStyle/>
        <a:p>
          <a:endParaRPr lang="en-US" sz="2400"/>
        </a:p>
      </dgm:t>
    </dgm:pt>
    <dgm:pt modelId="{EA7274FC-462D-439E-807B-560CBCD324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“normal” </a:t>
          </a:r>
          <a:endParaRPr lang="en-US" sz="2000"/>
        </a:p>
      </dgm:t>
    </dgm:pt>
    <dgm:pt modelId="{C8B34829-ABD8-4156-85A6-7EEDD9554736}" type="parTrans" cxnId="{1D1BF92D-945A-4E5D-804A-867946B40E29}">
      <dgm:prSet/>
      <dgm:spPr/>
      <dgm:t>
        <a:bodyPr/>
        <a:lstStyle/>
        <a:p>
          <a:endParaRPr lang="en-US" sz="2400"/>
        </a:p>
      </dgm:t>
    </dgm:pt>
    <dgm:pt modelId="{21908185-5BD0-4B48-A46A-D9FE2A3796E7}" type="sibTrans" cxnId="{1D1BF92D-945A-4E5D-804A-867946B40E29}">
      <dgm:prSet/>
      <dgm:spPr/>
      <dgm:t>
        <a:bodyPr/>
        <a:lstStyle/>
        <a:p>
          <a:endParaRPr lang="en-US" sz="2400"/>
        </a:p>
      </dgm:t>
    </dgm:pt>
    <dgm:pt modelId="{B6A464FF-7D95-46DB-90C1-44C9EF0B79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“deviant” </a:t>
          </a:r>
          <a:endParaRPr lang="en-US" sz="2000"/>
        </a:p>
      </dgm:t>
    </dgm:pt>
    <dgm:pt modelId="{6F6127D1-9C2C-4239-A2CE-54F2C3CEFABF}" type="parTrans" cxnId="{02259122-9A91-4F1E-80A1-09E2ECAB86E9}">
      <dgm:prSet/>
      <dgm:spPr/>
      <dgm:t>
        <a:bodyPr/>
        <a:lstStyle/>
        <a:p>
          <a:endParaRPr lang="en-US" sz="2400"/>
        </a:p>
      </dgm:t>
    </dgm:pt>
    <dgm:pt modelId="{00C63DF4-D0F1-4973-B5D0-4EB1D08F9514}" type="sibTrans" cxnId="{02259122-9A91-4F1E-80A1-09E2ECAB86E9}">
      <dgm:prSet/>
      <dgm:spPr/>
      <dgm:t>
        <a:bodyPr/>
        <a:lstStyle/>
        <a:p>
          <a:endParaRPr lang="en-US" sz="2400"/>
        </a:p>
      </dgm:t>
    </dgm:pt>
    <dgm:pt modelId="{AFDB795E-FE95-4A79-9FD1-425F7622EA6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sz="4400" b="1"/>
            <a:t>Better labels:</a:t>
          </a:r>
          <a:endParaRPr lang="en-US" sz="4400"/>
        </a:p>
      </dgm:t>
    </dgm:pt>
    <dgm:pt modelId="{632D633C-0226-4678-ABAE-1EF45C1214C4}" type="parTrans" cxnId="{2FC1F9E1-6F6C-4345-A35E-84E36D074AF0}">
      <dgm:prSet/>
      <dgm:spPr/>
      <dgm:t>
        <a:bodyPr/>
        <a:lstStyle/>
        <a:p>
          <a:endParaRPr lang="en-US" sz="2400"/>
        </a:p>
      </dgm:t>
    </dgm:pt>
    <dgm:pt modelId="{3A6A4697-0A6C-4920-8B8F-53930E3A927D}" type="sibTrans" cxnId="{2FC1F9E1-6F6C-4345-A35E-84E36D074AF0}">
      <dgm:prSet/>
      <dgm:spPr/>
      <dgm:t>
        <a:bodyPr/>
        <a:lstStyle/>
        <a:p>
          <a:endParaRPr lang="en-US" sz="2400"/>
        </a:p>
      </dgm:t>
    </dgm:pt>
    <dgm:pt modelId="{2A4EF417-4790-43B5-B8FF-5C25BBB8F5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“stable employment” </a:t>
          </a:r>
          <a:endParaRPr lang="en-US" sz="2000"/>
        </a:p>
      </dgm:t>
    </dgm:pt>
    <dgm:pt modelId="{DA31E808-EE18-4C4C-9F17-8556BDDA76FE}" type="parTrans" cxnId="{6F88AF4E-FFE5-4942-85F4-E038C8149363}">
      <dgm:prSet/>
      <dgm:spPr/>
      <dgm:t>
        <a:bodyPr/>
        <a:lstStyle/>
        <a:p>
          <a:endParaRPr lang="en-US" sz="2400"/>
        </a:p>
      </dgm:t>
    </dgm:pt>
    <dgm:pt modelId="{1DC30B9A-6555-4EF2-B13E-01C2FFC10AB3}" type="sibTrans" cxnId="{6F88AF4E-FFE5-4942-85F4-E038C8149363}">
      <dgm:prSet/>
      <dgm:spPr/>
      <dgm:t>
        <a:bodyPr/>
        <a:lstStyle/>
        <a:p>
          <a:endParaRPr lang="en-US" sz="2400"/>
        </a:p>
      </dgm:t>
    </dgm:pt>
    <dgm:pt modelId="{F75DF458-1C4F-4678-AC59-951FF0AD14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“delayed employment entry” </a:t>
          </a:r>
          <a:endParaRPr lang="en-US" sz="2000"/>
        </a:p>
      </dgm:t>
    </dgm:pt>
    <dgm:pt modelId="{729ECCA8-E0C9-41AB-96AD-489C838FF1C3}" type="parTrans" cxnId="{EBC50A78-925F-4595-9857-5FC086C34604}">
      <dgm:prSet/>
      <dgm:spPr/>
      <dgm:t>
        <a:bodyPr/>
        <a:lstStyle/>
        <a:p>
          <a:endParaRPr lang="en-US" sz="2400"/>
        </a:p>
      </dgm:t>
    </dgm:pt>
    <dgm:pt modelId="{2578EB54-80B9-46F7-AFD5-773355CA698E}" type="sibTrans" cxnId="{EBC50A78-925F-4595-9857-5FC086C34604}">
      <dgm:prSet/>
      <dgm:spPr/>
      <dgm:t>
        <a:bodyPr/>
        <a:lstStyle/>
        <a:p>
          <a:endParaRPr lang="en-US" sz="2400"/>
        </a:p>
      </dgm:t>
    </dgm:pt>
    <dgm:pt modelId="{51518306-929B-4F07-AA9F-223A0218C8A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“repeated unemployment” </a:t>
          </a:r>
          <a:endParaRPr lang="en-US" sz="2000"/>
        </a:p>
      </dgm:t>
    </dgm:pt>
    <dgm:pt modelId="{8EFE8120-D28B-4D24-B5E8-BDFD2029A338}" type="parTrans" cxnId="{A52B8408-8E37-41E8-9ADE-9D0539AA9C3F}">
      <dgm:prSet/>
      <dgm:spPr/>
      <dgm:t>
        <a:bodyPr/>
        <a:lstStyle/>
        <a:p>
          <a:endParaRPr lang="en-US" sz="2400"/>
        </a:p>
      </dgm:t>
    </dgm:pt>
    <dgm:pt modelId="{A632D210-F436-49EF-8190-5F522B5AB4D1}" type="sibTrans" cxnId="{A52B8408-8E37-41E8-9ADE-9D0539AA9C3F}">
      <dgm:prSet/>
      <dgm:spPr/>
      <dgm:t>
        <a:bodyPr/>
        <a:lstStyle/>
        <a:p>
          <a:endParaRPr lang="en-US" sz="2400"/>
        </a:p>
      </dgm:t>
    </dgm:pt>
    <dgm:pt modelId="{48645F69-0277-4B8E-A43C-72A44807F7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“early family-care interruption” </a:t>
          </a:r>
          <a:endParaRPr lang="en-US" sz="2000"/>
        </a:p>
      </dgm:t>
    </dgm:pt>
    <dgm:pt modelId="{69EF4050-289F-4F66-B83C-2362B3FD9FD3}" type="parTrans" cxnId="{BE5E6761-E644-41B8-ABB0-57CFC6AB3830}">
      <dgm:prSet/>
      <dgm:spPr/>
      <dgm:t>
        <a:bodyPr/>
        <a:lstStyle/>
        <a:p>
          <a:endParaRPr lang="en-US" sz="2400"/>
        </a:p>
      </dgm:t>
    </dgm:pt>
    <dgm:pt modelId="{98AA9BBB-29C8-4FF7-9421-56AB819DB0FC}" type="sibTrans" cxnId="{BE5E6761-E644-41B8-ABB0-57CFC6AB3830}">
      <dgm:prSet/>
      <dgm:spPr/>
      <dgm:t>
        <a:bodyPr/>
        <a:lstStyle/>
        <a:p>
          <a:endParaRPr lang="en-US" sz="2400"/>
        </a:p>
      </dgm:t>
    </dgm:pt>
    <dgm:pt modelId="{B28F6B44-4AB5-4114-BB7B-F740F4F0705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/>
            <a:t>“late transition to employment”</a:t>
          </a:r>
          <a:endParaRPr lang="en-US" sz="2000"/>
        </a:p>
      </dgm:t>
    </dgm:pt>
    <dgm:pt modelId="{25FF4FA3-6876-42D9-B8DE-5AA0CE56AFD2}" type="parTrans" cxnId="{FEFF6A45-EAB6-46FD-A29C-1EE19A3C1B03}">
      <dgm:prSet/>
      <dgm:spPr/>
      <dgm:t>
        <a:bodyPr/>
        <a:lstStyle/>
        <a:p>
          <a:endParaRPr lang="en-US" sz="2400"/>
        </a:p>
      </dgm:t>
    </dgm:pt>
    <dgm:pt modelId="{6C889108-CB59-49F0-AA5D-FD71B672E927}" type="sibTrans" cxnId="{FEFF6A45-EAB6-46FD-A29C-1EE19A3C1B03}">
      <dgm:prSet/>
      <dgm:spPr/>
      <dgm:t>
        <a:bodyPr/>
        <a:lstStyle/>
        <a:p>
          <a:endParaRPr lang="en-US" sz="2400"/>
        </a:p>
      </dgm:t>
    </dgm:pt>
    <dgm:pt modelId="{0FCE438D-90F7-45CD-9A59-4695A6A3B453}" type="pres">
      <dgm:prSet presAssocID="{736964EB-48F0-4AB9-842D-7E388D4E4844}" presName="root" presStyleCnt="0">
        <dgm:presLayoutVars>
          <dgm:dir/>
          <dgm:resizeHandles val="exact"/>
        </dgm:presLayoutVars>
      </dgm:prSet>
      <dgm:spPr/>
    </dgm:pt>
    <dgm:pt modelId="{60E5943C-8E3A-48BC-851C-4898DB43A942}" type="pres">
      <dgm:prSet presAssocID="{C0390F44-4547-414A-8AC2-906064CE2D20}" presName="compNode" presStyleCnt="0"/>
      <dgm:spPr/>
    </dgm:pt>
    <dgm:pt modelId="{9BEFEFA1-ACE1-4C5C-92D1-6048B8D73A70}" type="pres">
      <dgm:prSet presAssocID="{C0390F44-4547-414A-8AC2-906064CE2D20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Down with solid fill"/>
        </a:ext>
      </dgm:extLst>
    </dgm:pt>
    <dgm:pt modelId="{92BF9186-8FB6-46B4-AB2C-68FD944522F1}" type="pres">
      <dgm:prSet presAssocID="{C0390F44-4547-414A-8AC2-906064CE2D20}" presName="iconSpace" presStyleCnt="0"/>
      <dgm:spPr/>
    </dgm:pt>
    <dgm:pt modelId="{7A66E6CF-BCC9-4A4C-8DC5-4A4C520959DF}" type="pres">
      <dgm:prSet presAssocID="{C0390F44-4547-414A-8AC2-906064CE2D20}" presName="parTx" presStyleLbl="revTx" presStyleIdx="0" presStyleCnt="4">
        <dgm:presLayoutVars>
          <dgm:chMax val="0"/>
          <dgm:chPref val="0"/>
        </dgm:presLayoutVars>
      </dgm:prSet>
      <dgm:spPr/>
    </dgm:pt>
    <dgm:pt modelId="{020B43C2-5E8B-4870-A1A1-1DFAAFF6D7D1}" type="pres">
      <dgm:prSet presAssocID="{C0390F44-4547-414A-8AC2-906064CE2D20}" presName="txSpace" presStyleCnt="0"/>
      <dgm:spPr/>
    </dgm:pt>
    <dgm:pt modelId="{834ECF5D-A740-4747-8BCA-B51F03C11297}" type="pres">
      <dgm:prSet presAssocID="{C0390F44-4547-414A-8AC2-906064CE2D20}" presName="desTx" presStyleLbl="revTx" presStyleIdx="1" presStyleCnt="4">
        <dgm:presLayoutVars/>
      </dgm:prSet>
      <dgm:spPr/>
    </dgm:pt>
    <dgm:pt modelId="{A20FADB9-D745-4FC5-A319-C95337B0F3B0}" type="pres">
      <dgm:prSet presAssocID="{5780A325-5100-40FE-80FD-270058F7F4CE}" presName="sibTrans" presStyleCnt="0"/>
      <dgm:spPr/>
    </dgm:pt>
    <dgm:pt modelId="{D2DDE3EF-087C-4BFC-8813-29465EA74044}" type="pres">
      <dgm:prSet presAssocID="{AFDB795E-FE95-4A79-9FD1-425F7622EA63}" presName="compNode" presStyleCnt="0"/>
      <dgm:spPr/>
    </dgm:pt>
    <dgm:pt modelId="{79E305A0-4AAD-411C-A130-2D2F7A7261A6}" type="pres">
      <dgm:prSet presAssocID="{AFDB795E-FE95-4A79-9FD1-425F7622EA63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 with solid fill"/>
        </a:ext>
      </dgm:extLst>
    </dgm:pt>
    <dgm:pt modelId="{4D8D5858-ADBA-4183-BE4B-BA4B10F47868}" type="pres">
      <dgm:prSet presAssocID="{AFDB795E-FE95-4A79-9FD1-425F7622EA63}" presName="iconSpace" presStyleCnt="0"/>
      <dgm:spPr/>
    </dgm:pt>
    <dgm:pt modelId="{75126E84-9DA1-47FB-8203-0B08FC7C6AD9}" type="pres">
      <dgm:prSet presAssocID="{AFDB795E-FE95-4A79-9FD1-425F7622EA63}" presName="parTx" presStyleLbl="revTx" presStyleIdx="2" presStyleCnt="4">
        <dgm:presLayoutVars>
          <dgm:chMax val="0"/>
          <dgm:chPref val="0"/>
        </dgm:presLayoutVars>
      </dgm:prSet>
      <dgm:spPr/>
    </dgm:pt>
    <dgm:pt modelId="{D2D8756F-DAFE-45B9-9CDF-12332C769875}" type="pres">
      <dgm:prSet presAssocID="{AFDB795E-FE95-4A79-9FD1-425F7622EA63}" presName="txSpace" presStyleCnt="0"/>
      <dgm:spPr/>
    </dgm:pt>
    <dgm:pt modelId="{C3496999-EF3F-43C0-B666-0A3B24A29BD7}" type="pres">
      <dgm:prSet presAssocID="{AFDB795E-FE95-4A79-9FD1-425F7622EA63}" presName="desTx" presStyleLbl="revTx" presStyleIdx="3" presStyleCnt="4">
        <dgm:presLayoutVars/>
      </dgm:prSet>
      <dgm:spPr/>
    </dgm:pt>
  </dgm:ptLst>
  <dgm:cxnLst>
    <dgm:cxn modelId="{BA0E2801-4B77-4B44-B55D-5BA6460D9524}" type="presOf" srcId="{F4E30806-0E77-4AF4-B621-8CFF23B2EDD6}" destId="{834ECF5D-A740-4747-8BCA-B51F03C11297}" srcOrd="0" destOrd="1" presId="urn:microsoft.com/office/officeart/2018/2/layout/IconLabelDescriptionList"/>
    <dgm:cxn modelId="{A52B8408-8E37-41E8-9ADE-9D0539AA9C3F}" srcId="{AFDB795E-FE95-4A79-9FD1-425F7622EA63}" destId="{51518306-929B-4F07-AA9F-223A0218C8A3}" srcOrd="2" destOrd="0" parTransId="{8EFE8120-D28B-4D24-B5E8-BDFD2029A338}" sibTransId="{A632D210-F436-49EF-8190-5F522B5AB4D1}"/>
    <dgm:cxn modelId="{7947AE0D-6BD6-4A40-B11F-11C56CA26A6D}" type="presOf" srcId="{EA7274FC-462D-439E-807B-560CBCD32429}" destId="{834ECF5D-A740-4747-8BCA-B51F03C11297}" srcOrd="0" destOrd="3" presId="urn:microsoft.com/office/officeart/2018/2/layout/IconLabelDescriptionList"/>
    <dgm:cxn modelId="{EE4D730E-8D67-44C7-BCD4-C5610DF5F35D}" type="presOf" srcId="{2A4EF417-4790-43B5-B8FF-5C25BBB8F56B}" destId="{C3496999-EF3F-43C0-B666-0A3B24A29BD7}" srcOrd="0" destOrd="0" presId="urn:microsoft.com/office/officeart/2018/2/layout/IconLabelDescriptionList"/>
    <dgm:cxn modelId="{02259122-9A91-4F1E-80A1-09E2ECAB86E9}" srcId="{C0390F44-4547-414A-8AC2-906064CE2D20}" destId="{B6A464FF-7D95-46DB-90C1-44C9EF0B799C}" srcOrd="4" destOrd="0" parTransId="{6F6127D1-9C2C-4239-A2CE-54F2C3CEFABF}" sibTransId="{00C63DF4-D0F1-4973-B5D0-4EB1D08F9514}"/>
    <dgm:cxn modelId="{1D1BF92D-945A-4E5D-804A-867946B40E29}" srcId="{C0390F44-4547-414A-8AC2-906064CE2D20}" destId="{EA7274FC-462D-439E-807B-560CBCD32429}" srcOrd="3" destOrd="0" parTransId="{C8B34829-ABD8-4156-85A6-7EEDD9554736}" sibTransId="{21908185-5BD0-4B48-A46A-D9FE2A3796E7}"/>
    <dgm:cxn modelId="{35B8E133-E6DD-48AE-A58F-2F2D0F3279DA}" type="presOf" srcId="{48645F69-0277-4B8E-A43C-72A44807F7A5}" destId="{C3496999-EF3F-43C0-B666-0A3B24A29BD7}" srcOrd="0" destOrd="3" presId="urn:microsoft.com/office/officeart/2018/2/layout/IconLabelDescriptionList"/>
    <dgm:cxn modelId="{8673195D-2398-4853-8B38-3E1EBF35ECF3}" type="presOf" srcId="{B28F6B44-4AB5-4114-BB7B-F740F4F07054}" destId="{C3496999-EF3F-43C0-B666-0A3B24A29BD7}" srcOrd="0" destOrd="4" presId="urn:microsoft.com/office/officeart/2018/2/layout/IconLabelDescriptionList"/>
    <dgm:cxn modelId="{34F74E60-732D-4675-ABD6-14EB3160B11C}" srcId="{736964EB-48F0-4AB9-842D-7E388D4E4844}" destId="{C0390F44-4547-414A-8AC2-906064CE2D20}" srcOrd="0" destOrd="0" parTransId="{ACF7F2D8-3CDB-47F1-9739-E0DC4072A9CD}" sibTransId="{5780A325-5100-40FE-80FD-270058F7F4CE}"/>
    <dgm:cxn modelId="{BE5E6761-E644-41B8-ABB0-57CFC6AB3830}" srcId="{AFDB795E-FE95-4A79-9FD1-425F7622EA63}" destId="{48645F69-0277-4B8E-A43C-72A44807F7A5}" srcOrd="3" destOrd="0" parTransId="{69EF4050-289F-4F66-B83C-2362B3FD9FD3}" sibTransId="{98AA9BBB-29C8-4FF7-9421-56AB819DB0FC}"/>
    <dgm:cxn modelId="{FEFF6A45-EAB6-46FD-A29C-1EE19A3C1B03}" srcId="{AFDB795E-FE95-4A79-9FD1-425F7622EA63}" destId="{B28F6B44-4AB5-4114-BB7B-F740F4F07054}" srcOrd="4" destOrd="0" parTransId="{25FF4FA3-6876-42D9-B8DE-5AA0CE56AFD2}" sibTransId="{6C889108-CB59-49F0-AA5D-FD71B672E927}"/>
    <dgm:cxn modelId="{EB27A14D-082D-4100-97FC-FFCE558F4EEB}" srcId="{C0390F44-4547-414A-8AC2-906064CE2D20}" destId="{3C222F03-5607-4397-B804-8D9742761F1A}" srcOrd="0" destOrd="0" parTransId="{327F7C5F-5B9B-4E34-9B29-51F87E951272}" sibTransId="{B16EBAB4-71AE-493D-A9A3-650FE273FEE4}"/>
    <dgm:cxn modelId="{6F88AF4E-FFE5-4942-85F4-E038C8149363}" srcId="{AFDB795E-FE95-4A79-9FD1-425F7622EA63}" destId="{2A4EF417-4790-43B5-B8FF-5C25BBB8F56B}" srcOrd="0" destOrd="0" parTransId="{DA31E808-EE18-4C4C-9F17-8556BDDA76FE}" sibTransId="{1DC30B9A-6555-4EF2-B13E-01C2FFC10AB3}"/>
    <dgm:cxn modelId="{0559DB6E-C208-4EB9-877F-366ADF3F912B}" type="presOf" srcId="{736964EB-48F0-4AB9-842D-7E388D4E4844}" destId="{0FCE438D-90F7-45CD-9A59-4695A6A3B453}" srcOrd="0" destOrd="0" presId="urn:microsoft.com/office/officeart/2018/2/layout/IconLabelDescriptionList"/>
    <dgm:cxn modelId="{7091B357-F416-4197-8FE2-8812E3E41C4E}" type="presOf" srcId="{AFDB795E-FE95-4A79-9FD1-425F7622EA63}" destId="{75126E84-9DA1-47FB-8203-0B08FC7C6AD9}" srcOrd="0" destOrd="0" presId="urn:microsoft.com/office/officeart/2018/2/layout/IconLabelDescriptionList"/>
    <dgm:cxn modelId="{EBC50A78-925F-4595-9857-5FC086C34604}" srcId="{AFDB795E-FE95-4A79-9FD1-425F7622EA63}" destId="{F75DF458-1C4F-4678-AC59-951FF0AD14DF}" srcOrd="1" destOrd="0" parTransId="{729ECCA8-E0C9-41AB-96AD-489C838FF1C3}" sibTransId="{2578EB54-80B9-46F7-AFD5-773355CA698E}"/>
    <dgm:cxn modelId="{7D810681-FD2C-46B4-A535-DE10910C8257}" type="presOf" srcId="{B6A464FF-7D95-46DB-90C1-44C9EF0B799C}" destId="{834ECF5D-A740-4747-8BCA-B51F03C11297}" srcOrd="0" destOrd="4" presId="urn:microsoft.com/office/officeart/2018/2/layout/IconLabelDescriptionList"/>
    <dgm:cxn modelId="{90737289-646B-4427-A67C-1703A554A4A9}" type="presOf" srcId="{F75DF458-1C4F-4678-AC59-951FF0AD14DF}" destId="{C3496999-EF3F-43C0-B666-0A3B24A29BD7}" srcOrd="0" destOrd="1" presId="urn:microsoft.com/office/officeart/2018/2/layout/IconLabelDescriptionList"/>
    <dgm:cxn modelId="{83408496-86DE-490A-B4DD-F380484C87B3}" srcId="{C0390F44-4547-414A-8AC2-906064CE2D20}" destId="{F4E30806-0E77-4AF4-B621-8CFF23B2EDD6}" srcOrd="1" destOrd="0" parTransId="{DC1CCBE1-C24F-4277-A778-04954DDCF428}" sibTransId="{7537EE03-08A8-4726-91AB-7C5B4BF792D3}"/>
    <dgm:cxn modelId="{F0B02BA0-C142-484B-A45B-B34020E35646}" type="presOf" srcId="{537CFBB2-AC14-49FF-894F-B80E60E91AC3}" destId="{834ECF5D-A740-4747-8BCA-B51F03C11297}" srcOrd="0" destOrd="2" presId="urn:microsoft.com/office/officeart/2018/2/layout/IconLabelDescriptionList"/>
    <dgm:cxn modelId="{5E9B3BAA-C0E0-430A-BAED-E58B832FE299}" type="presOf" srcId="{C0390F44-4547-414A-8AC2-906064CE2D20}" destId="{7A66E6CF-BCC9-4A4C-8DC5-4A4C520959DF}" srcOrd="0" destOrd="0" presId="urn:microsoft.com/office/officeart/2018/2/layout/IconLabelDescriptionList"/>
    <dgm:cxn modelId="{06924EB9-C3F5-4239-83B6-DD4F6D488734}" type="presOf" srcId="{51518306-929B-4F07-AA9F-223A0218C8A3}" destId="{C3496999-EF3F-43C0-B666-0A3B24A29BD7}" srcOrd="0" destOrd="2" presId="urn:microsoft.com/office/officeart/2018/2/layout/IconLabelDescriptionList"/>
    <dgm:cxn modelId="{2FC1F9E1-6F6C-4345-A35E-84E36D074AF0}" srcId="{736964EB-48F0-4AB9-842D-7E388D4E4844}" destId="{AFDB795E-FE95-4A79-9FD1-425F7622EA63}" srcOrd="1" destOrd="0" parTransId="{632D633C-0226-4678-ABAE-1EF45C1214C4}" sibTransId="{3A6A4697-0A6C-4920-8B8F-53930E3A927D}"/>
    <dgm:cxn modelId="{C4B5FCE7-29BC-44B8-8367-4AD5C0BC45D2}" srcId="{C0390F44-4547-414A-8AC2-906064CE2D20}" destId="{537CFBB2-AC14-49FF-894F-B80E60E91AC3}" srcOrd="2" destOrd="0" parTransId="{C8AF265D-0959-4CA7-8D29-F6C681DF0237}" sibTransId="{C2E5DDBE-EF17-4693-9A91-B7DE1BC92887}"/>
    <dgm:cxn modelId="{1AED52F1-686B-43F0-A145-83ABB853857E}" type="presOf" srcId="{3C222F03-5607-4397-B804-8D9742761F1A}" destId="{834ECF5D-A740-4747-8BCA-B51F03C11297}" srcOrd="0" destOrd="0" presId="urn:microsoft.com/office/officeart/2018/2/layout/IconLabelDescriptionList"/>
    <dgm:cxn modelId="{58E252DF-163F-4C04-939E-7683DEE5CC68}" type="presParOf" srcId="{0FCE438D-90F7-45CD-9A59-4695A6A3B453}" destId="{60E5943C-8E3A-48BC-851C-4898DB43A942}" srcOrd="0" destOrd="0" presId="urn:microsoft.com/office/officeart/2018/2/layout/IconLabelDescriptionList"/>
    <dgm:cxn modelId="{2C0AAFC2-AFA4-43A5-826C-FD857858BE99}" type="presParOf" srcId="{60E5943C-8E3A-48BC-851C-4898DB43A942}" destId="{9BEFEFA1-ACE1-4C5C-92D1-6048B8D73A70}" srcOrd="0" destOrd="0" presId="urn:microsoft.com/office/officeart/2018/2/layout/IconLabelDescriptionList"/>
    <dgm:cxn modelId="{C9D3F43E-7FF3-4D48-BD54-862DC0BB4BF2}" type="presParOf" srcId="{60E5943C-8E3A-48BC-851C-4898DB43A942}" destId="{92BF9186-8FB6-46B4-AB2C-68FD944522F1}" srcOrd="1" destOrd="0" presId="urn:microsoft.com/office/officeart/2018/2/layout/IconLabelDescriptionList"/>
    <dgm:cxn modelId="{112C6FC8-2924-4572-8A30-2A53AEDE8FF2}" type="presParOf" srcId="{60E5943C-8E3A-48BC-851C-4898DB43A942}" destId="{7A66E6CF-BCC9-4A4C-8DC5-4A4C520959DF}" srcOrd="2" destOrd="0" presId="urn:microsoft.com/office/officeart/2018/2/layout/IconLabelDescriptionList"/>
    <dgm:cxn modelId="{D9A9F986-4DF6-4C54-A590-B7664CAE593B}" type="presParOf" srcId="{60E5943C-8E3A-48BC-851C-4898DB43A942}" destId="{020B43C2-5E8B-4870-A1A1-1DFAAFF6D7D1}" srcOrd="3" destOrd="0" presId="urn:microsoft.com/office/officeart/2018/2/layout/IconLabelDescriptionList"/>
    <dgm:cxn modelId="{B4EC929C-9367-4CA5-8DE0-2FD07DC9A8AA}" type="presParOf" srcId="{60E5943C-8E3A-48BC-851C-4898DB43A942}" destId="{834ECF5D-A740-4747-8BCA-B51F03C11297}" srcOrd="4" destOrd="0" presId="urn:microsoft.com/office/officeart/2018/2/layout/IconLabelDescriptionList"/>
    <dgm:cxn modelId="{777AC699-4E8C-4381-861C-6AE27CDF7D95}" type="presParOf" srcId="{0FCE438D-90F7-45CD-9A59-4695A6A3B453}" destId="{A20FADB9-D745-4FC5-A319-C95337B0F3B0}" srcOrd="1" destOrd="0" presId="urn:microsoft.com/office/officeart/2018/2/layout/IconLabelDescriptionList"/>
    <dgm:cxn modelId="{152DC21B-A09B-40AD-9C08-AE9EDC7639D2}" type="presParOf" srcId="{0FCE438D-90F7-45CD-9A59-4695A6A3B453}" destId="{D2DDE3EF-087C-4BFC-8813-29465EA74044}" srcOrd="2" destOrd="0" presId="urn:microsoft.com/office/officeart/2018/2/layout/IconLabelDescriptionList"/>
    <dgm:cxn modelId="{62505D78-5B06-457A-9B72-9A22939DCBCD}" type="presParOf" srcId="{D2DDE3EF-087C-4BFC-8813-29465EA74044}" destId="{79E305A0-4AAD-411C-A130-2D2F7A7261A6}" srcOrd="0" destOrd="0" presId="urn:microsoft.com/office/officeart/2018/2/layout/IconLabelDescriptionList"/>
    <dgm:cxn modelId="{196458FD-A5AF-451F-BFD8-93194190B3ED}" type="presParOf" srcId="{D2DDE3EF-087C-4BFC-8813-29465EA74044}" destId="{4D8D5858-ADBA-4183-BE4B-BA4B10F47868}" srcOrd="1" destOrd="0" presId="urn:microsoft.com/office/officeart/2018/2/layout/IconLabelDescriptionList"/>
    <dgm:cxn modelId="{877741E8-9AB1-4034-A55C-8AC8BD775E08}" type="presParOf" srcId="{D2DDE3EF-087C-4BFC-8813-29465EA74044}" destId="{75126E84-9DA1-47FB-8203-0B08FC7C6AD9}" srcOrd="2" destOrd="0" presId="urn:microsoft.com/office/officeart/2018/2/layout/IconLabelDescriptionList"/>
    <dgm:cxn modelId="{A6C084F5-B424-4263-AEAC-F9E2F67398E6}" type="presParOf" srcId="{D2DDE3EF-087C-4BFC-8813-29465EA74044}" destId="{D2D8756F-DAFE-45B9-9CDF-12332C769875}" srcOrd="3" destOrd="0" presId="urn:microsoft.com/office/officeart/2018/2/layout/IconLabelDescriptionList"/>
    <dgm:cxn modelId="{7939B107-F09A-4567-ABC1-BE35854094E2}" type="presParOf" srcId="{D2DDE3EF-087C-4BFC-8813-29465EA74044}" destId="{C3496999-EF3F-43C0-B666-0A3B24A29BD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4C03A-739F-4673-8625-304FA9CDF41F}">
      <dsp:nvSpPr>
        <dsp:cNvPr id="0" name=""/>
        <dsp:cNvSpPr/>
      </dsp:nvSpPr>
      <dsp:spPr>
        <a:xfrm>
          <a:off x="788669" y="0"/>
          <a:ext cx="8938260" cy="365923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D502F-704A-49E0-AE4E-38BA049E3163}">
      <dsp:nvSpPr>
        <dsp:cNvPr id="0" name=""/>
        <dsp:cNvSpPr/>
      </dsp:nvSpPr>
      <dsp:spPr>
        <a:xfrm>
          <a:off x="5262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1: build and describe</a:t>
          </a:r>
          <a:endParaRPr lang="fr-FR" sz="2000" kern="1200"/>
        </a:p>
      </dsp:txBody>
      <dsp:txXfrm>
        <a:off x="76714" y="1169221"/>
        <a:ext cx="2388439" cy="1320788"/>
      </dsp:txXfrm>
    </dsp:sp>
    <dsp:sp modelId="{EF9762C0-F1D8-4153-AA3C-17E57B932797}">
      <dsp:nvSpPr>
        <dsp:cNvPr id="0" name=""/>
        <dsp:cNvSpPr/>
      </dsp:nvSpPr>
      <dsp:spPr>
        <a:xfrm>
          <a:off x="266317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2: distances and OM</a:t>
          </a:r>
          <a:endParaRPr lang="fr-FR" sz="2000" kern="1200"/>
        </a:p>
      </dsp:txBody>
      <dsp:txXfrm>
        <a:off x="2734625" y="1169221"/>
        <a:ext cx="2388439" cy="1320788"/>
      </dsp:txXfrm>
    </dsp:sp>
    <dsp:sp modelId="{00C9F4EA-0119-47C7-B69B-9BB48C6F1006}">
      <dsp:nvSpPr>
        <dsp:cNvPr id="0" name=""/>
        <dsp:cNvSpPr/>
      </dsp:nvSpPr>
      <dsp:spPr>
        <a:xfrm>
          <a:off x="532108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3: clustering and typologies</a:t>
          </a:r>
          <a:endParaRPr lang="fr-FR" sz="2000" kern="1200"/>
        </a:p>
      </dsp:txBody>
      <dsp:txXfrm>
        <a:off x="5392535" y="1169221"/>
        <a:ext cx="2388439" cy="1320788"/>
      </dsp:txXfrm>
    </dsp:sp>
    <dsp:sp modelId="{E3B98A3D-E9DB-48B9-BD34-1347D1D97E0D}">
      <dsp:nvSpPr>
        <dsp:cNvPr id="0" name=""/>
        <dsp:cNvSpPr/>
      </dsp:nvSpPr>
      <dsp:spPr>
        <a:xfrm>
          <a:off x="797899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4: interpretation, mini-projects, presentations</a:t>
          </a:r>
          <a:endParaRPr lang="fr-FR" sz="2000" kern="1200"/>
        </a:p>
      </dsp:txBody>
      <dsp:txXfrm>
        <a:off x="8050445" y="1169221"/>
        <a:ext cx="2388439" cy="1320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9479E-FEC9-44EE-8A96-BF0A78CBF5BD}">
      <dsp:nvSpPr>
        <dsp:cNvPr id="0" name=""/>
        <dsp:cNvSpPr/>
      </dsp:nvSpPr>
      <dsp:spPr>
        <a:xfrm>
          <a:off x="123029" y="1752"/>
          <a:ext cx="2478003" cy="12390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kern="1200"/>
            <a:t>Before clustering</a:t>
          </a:r>
          <a:endParaRPr lang="en-US" sz="3800" kern="1200"/>
        </a:p>
      </dsp:txBody>
      <dsp:txXfrm>
        <a:off x="159318" y="38041"/>
        <a:ext cx="2405425" cy="1166423"/>
      </dsp:txXfrm>
    </dsp:sp>
    <dsp:sp modelId="{F2F4EFF4-A37A-4F71-99F8-CBEC26E7051C}">
      <dsp:nvSpPr>
        <dsp:cNvPr id="0" name=""/>
        <dsp:cNvSpPr/>
      </dsp:nvSpPr>
      <dsp:spPr>
        <a:xfrm>
          <a:off x="370829" y="1240754"/>
          <a:ext cx="247800" cy="929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251"/>
              </a:lnTo>
              <a:lnTo>
                <a:pt x="247800" y="92925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EC8502-E4B5-44DD-ABED-7914053C8126}">
      <dsp:nvSpPr>
        <dsp:cNvPr id="0" name=""/>
        <dsp:cNvSpPr/>
      </dsp:nvSpPr>
      <dsp:spPr>
        <a:xfrm>
          <a:off x="618629" y="1550504"/>
          <a:ext cx="1982403" cy="12390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Many </a:t>
          </a:r>
          <a:r>
            <a:rPr lang="fr-FR" sz="1900" kern="1200" dirty="0" err="1"/>
            <a:t>trajectories</a:t>
          </a:r>
          <a:r>
            <a:rPr lang="fr-FR" sz="1900" kern="1200" dirty="0"/>
            <a:t>, </a:t>
          </a:r>
          <a:r>
            <a:rPr lang="fr-FR" sz="1900" kern="1200" dirty="0" err="1"/>
            <a:t>difficult</a:t>
          </a:r>
          <a:r>
            <a:rPr lang="fr-FR" sz="1900" kern="1200" dirty="0"/>
            <a:t> to </a:t>
          </a:r>
          <a:r>
            <a:rPr lang="fr-FR" sz="1900" kern="1200" dirty="0" err="1"/>
            <a:t>summarise</a:t>
          </a:r>
          <a:r>
            <a:rPr lang="fr-FR" sz="1900" kern="1200" dirty="0"/>
            <a:t>.</a:t>
          </a:r>
          <a:endParaRPr lang="en-US" sz="1900" kern="1200" dirty="0"/>
        </a:p>
      </dsp:txBody>
      <dsp:txXfrm>
        <a:off x="654918" y="1586793"/>
        <a:ext cx="1909825" cy="1166423"/>
      </dsp:txXfrm>
    </dsp:sp>
    <dsp:sp modelId="{8B449AD2-B1AB-44AA-8540-E1D2B4471CC6}">
      <dsp:nvSpPr>
        <dsp:cNvPr id="0" name=""/>
        <dsp:cNvSpPr/>
      </dsp:nvSpPr>
      <dsp:spPr>
        <a:xfrm>
          <a:off x="3220534" y="1752"/>
          <a:ext cx="2478003" cy="12390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kern="1200"/>
            <a:t>After clustering</a:t>
          </a:r>
          <a:endParaRPr lang="en-US" sz="3800" kern="1200"/>
        </a:p>
      </dsp:txBody>
      <dsp:txXfrm>
        <a:off x="3256823" y="38041"/>
        <a:ext cx="2405425" cy="1166423"/>
      </dsp:txXfrm>
    </dsp:sp>
    <dsp:sp modelId="{6887D7A2-5705-4400-B67F-E61AC31324A9}">
      <dsp:nvSpPr>
        <dsp:cNvPr id="0" name=""/>
        <dsp:cNvSpPr/>
      </dsp:nvSpPr>
      <dsp:spPr>
        <a:xfrm>
          <a:off x="3468334" y="1240754"/>
          <a:ext cx="247800" cy="929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251"/>
              </a:lnTo>
              <a:lnTo>
                <a:pt x="247800" y="92925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14480-5B45-437A-B982-C67CFDECE3A5}">
      <dsp:nvSpPr>
        <dsp:cNvPr id="0" name=""/>
        <dsp:cNvSpPr/>
      </dsp:nvSpPr>
      <dsp:spPr>
        <a:xfrm>
          <a:off x="3716134" y="1550504"/>
          <a:ext cx="1982403" cy="12390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 </a:t>
          </a:r>
          <a:r>
            <a:rPr lang="fr-FR" sz="1900" kern="1200" dirty="0" err="1"/>
            <a:t>smaller</a:t>
          </a:r>
          <a:r>
            <a:rPr lang="fr-FR" sz="1900" kern="1200" dirty="0"/>
            <a:t> </a:t>
          </a:r>
          <a:r>
            <a:rPr lang="fr-FR" sz="1900" kern="1200" dirty="0" err="1"/>
            <a:t>number</a:t>
          </a:r>
          <a:r>
            <a:rPr lang="fr-FR" sz="1900" kern="1200" dirty="0"/>
            <a:t> of </a:t>
          </a:r>
          <a:r>
            <a:rPr lang="fr-FR" sz="1900" kern="1200" dirty="0" err="1"/>
            <a:t>trajectory</a:t>
          </a:r>
          <a:r>
            <a:rPr lang="fr-FR" sz="1900" kern="1200" dirty="0"/>
            <a:t> types.</a:t>
          </a:r>
          <a:endParaRPr lang="en-US" sz="1900" kern="1200" dirty="0"/>
        </a:p>
      </dsp:txBody>
      <dsp:txXfrm>
        <a:off x="3752423" y="1586793"/>
        <a:ext cx="1909825" cy="1166423"/>
      </dsp:txXfrm>
    </dsp:sp>
    <dsp:sp modelId="{F49EA3D3-844E-45B5-B9F5-15641B48AE38}">
      <dsp:nvSpPr>
        <dsp:cNvPr id="0" name=""/>
        <dsp:cNvSpPr/>
      </dsp:nvSpPr>
      <dsp:spPr>
        <a:xfrm>
          <a:off x="6318038" y="1752"/>
          <a:ext cx="2478003" cy="12390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kern="1200"/>
            <a:t>Risk</a:t>
          </a:r>
          <a:endParaRPr lang="en-US" sz="3800" kern="1200"/>
        </a:p>
      </dsp:txBody>
      <dsp:txXfrm>
        <a:off x="6354327" y="38041"/>
        <a:ext cx="2405425" cy="1166423"/>
      </dsp:txXfrm>
    </dsp:sp>
    <dsp:sp modelId="{75C3516C-08AA-445E-BBA9-481F9576389B}">
      <dsp:nvSpPr>
        <dsp:cNvPr id="0" name=""/>
        <dsp:cNvSpPr/>
      </dsp:nvSpPr>
      <dsp:spPr>
        <a:xfrm>
          <a:off x="6565839" y="1240754"/>
          <a:ext cx="247800" cy="929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251"/>
              </a:lnTo>
              <a:lnTo>
                <a:pt x="247800" y="92925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8A895B-0597-4FC5-B769-A46D33D87225}">
      <dsp:nvSpPr>
        <dsp:cNvPr id="0" name=""/>
        <dsp:cNvSpPr/>
      </dsp:nvSpPr>
      <dsp:spPr>
        <a:xfrm>
          <a:off x="6813639" y="1550504"/>
          <a:ext cx="1982403" cy="12390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Some </a:t>
          </a:r>
          <a:r>
            <a:rPr lang="fr-FR" sz="1900" kern="1200" dirty="0" err="1"/>
            <a:t>individual</a:t>
          </a:r>
          <a:r>
            <a:rPr lang="fr-FR" sz="1900" kern="1200" dirty="0"/>
            <a:t> </a:t>
          </a:r>
          <a:r>
            <a:rPr lang="fr-FR" sz="1900" kern="1200" dirty="0" err="1"/>
            <a:t>detail</a:t>
          </a:r>
          <a:r>
            <a:rPr lang="fr-FR" sz="1900" kern="1200" dirty="0"/>
            <a:t> </a:t>
          </a:r>
          <a:r>
            <a:rPr lang="fr-FR" sz="1900" kern="1200" dirty="0" err="1"/>
            <a:t>is</a:t>
          </a:r>
          <a:r>
            <a:rPr lang="fr-FR" sz="1900" kern="1200" dirty="0"/>
            <a:t> </a:t>
          </a:r>
          <a:r>
            <a:rPr lang="fr-FR" sz="1900" kern="1200" dirty="0" err="1"/>
            <a:t>lost</a:t>
          </a:r>
          <a:r>
            <a:rPr lang="fr-FR" sz="1900" kern="1200" dirty="0"/>
            <a:t>.</a:t>
          </a:r>
          <a:endParaRPr lang="en-US" sz="1900" kern="1200" dirty="0"/>
        </a:p>
      </dsp:txBody>
      <dsp:txXfrm>
        <a:off x="6849928" y="1586793"/>
        <a:ext cx="1909825" cy="11664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7C03B-1DC7-4B83-93CF-F4A61A16805D}">
      <dsp:nvSpPr>
        <dsp:cNvPr id="0" name=""/>
        <dsp:cNvSpPr/>
      </dsp:nvSpPr>
      <dsp:spPr>
        <a:xfrm>
          <a:off x="4621" y="56385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Distance matrix</a:t>
          </a:r>
          <a:endParaRPr lang="fr-FR" sz="2300" kern="1200"/>
        </a:p>
      </dsp:txBody>
      <dsp:txXfrm>
        <a:off x="40127" y="599357"/>
        <a:ext cx="1949441" cy="1141260"/>
      </dsp:txXfrm>
    </dsp:sp>
    <dsp:sp modelId="{A2614720-F054-4B5B-8CFA-929E7FBC13E0}">
      <dsp:nvSpPr>
        <dsp:cNvPr id="0" name=""/>
        <dsp:cNvSpPr/>
      </dsp:nvSpPr>
      <dsp:spPr>
        <a:xfrm>
          <a:off x="2227119" y="91945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2227119" y="1019665"/>
        <a:ext cx="299835" cy="300644"/>
      </dsp:txXfrm>
    </dsp:sp>
    <dsp:sp modelId="{0C56EFEB-D056-4B9E-A56D-5F9859696D30}">
      <dsp:nvSpPr>
        <dsp:cNvPr id="0" name=""/>
        <dsp:cNvSpPr/>
      </dsp:nvSpPr>
      <dsp:spPr>
        <a:xfrm>
          <a:off x="2833255" y="56385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Clustering algorithm</a:t>
          </a:r>
          <a:endParaRPr lang="fr-FR" sz="2300" kern="1200"/>
        </a:p>
      </dsp:txBody>
      <dsp:txXfrm>
        <a:off x="2868761" y="599357"/>
        <a:ext cx="1949441" cy="1141260"/>
      </dsp:txXfrm>
    </dsp:sp>
    <dsp:sp modelId="{9EDF2A89-9893-4E61-9F0A-1785704D0BF3}">
      <dsp:nvSpPr>
        <dsp:cNvPr id="0" name=""/>
        <dsp:cNvSpPr/>
      </dsp:nvSpPr>
      <dsp:spPr>
        <a:xfrm>
          <a:off x="5055754" y="91945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5055754" y="1019665"/>
        <a:ext cx="299835" cy="300644"/>
      </dsp:txXfrm>
    </dsp:sp>
    <dsp:sp modelId="{EFDD8C4B-4518-4763-8CCC-37F82D65EFF3}">
      <dsp:nvSpPr>
        <dsp:cNvPr id="0" name=""/>
        <dsp:cNvSpPr/>
      </dsp:nvSpPr>
      <dsp:spPr>
        <a:xfrm>
          <a:off x="5661890" y="56385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Cluster membership</a:t>
          </a:r>
          <a:endParaRPr lang="fr-FR" sz="2300" kern="1200"/>
        </a:p>
      </dsp:txBody>
      <dsp:txXfrm>
        <a:off x="5697396" y="599357"/>
        <a:ext cx="1949441" cy="1141260"/>
      </dsp:txXfrm>
    </dsp:sp>
    <dsp:sp modelId="{B35552FE-38B6-4369-82C2-B3F29E106488}">
      <dsp:nvSpPr>
        <dsp:cNvPr id="0" name=""/>
        <dsp:cNvSpPr/>
      </dsp:nvSpPr>
      <dsp:spPr>
        <a:xfrm>
          <a:off x="7884389" y="91945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7884389" y="1019665"/>
        <a:ext cx="299835" cy="300644"/>
      </dsp:txXfrm>
    </dsp:sp>
    <dsp:sp modelId="{1D895478-C168-4D8A-BD4F-D50AB2129067}">
      <dsp:nvSpPr>
        <dsp:cNvPr id="0" name=""/>
        <dsp:cNvSpPr/>
      </dsp:nvSpPr>
      <dsp:spPr>
        <a:xfrm>
          <a:off x="8490525" y="563851"/>
          <a:ext cx="2020453" cy="12122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Cluster plots and interpretation</a:t>
          </a:r>
          <a:endParaRPr lang="fr-FR" sz="2300" kern="1200"/>
        </a:p>
      </dsp:txBody>
      <dsp:txXfrm>
        <a:off x="8526031" y="599357"/>
        <a:ext cx="1949441" cy="1141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B9865-DAFA-4ACE-A725-A80329A590EE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1F417-C6E1-4452-8242-B00F74608172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Ward tries to </a:t>
          </a:r>
          <a:r>
            <a:rPr lang="fr-FR" sz="2400" b="1" kern="1200" dirty="0" err="1"/>
            <a:t>create</a:t>
          </a:r>
          <a:r>
            <a:rPr lang="fr-FR" sz="2400" b="1" kern="1200" dirty="0"/>
            <a:t> compact clusters.</a:t>
          </a:r>
          <a:r>
            <a:rPr lang="fr-FR" sz="2400" kern="1200" dirty="0"/>
            <a:t> </a:t>
          </a:r>
          <a:endParaRPr lang="en-US" sz="2400" kern="1200" dirty="0"/>
        </a:p>
      </dsp:txBody>
      <dsp:txXfrm>
        <a:off x="0" y="531"/>
        <a:ext cx="10515600" cy="870055"/>
      </dsp:txXfrm>
    </dsp:sp>
    <dsp:sp modelId="{6FFE8679-81E2-42C1-931F-E8C3106CEE87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E1219-C17E-4557-8B59-5D73A1E5FC50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It merges groups </a:t>
          </a:r>
          <a:r>
            <a:rPr lang="fr-FR" sz="2400" kern="1200" dirty="0" err="1"/>
            <a:t>when</a:t>
          </a:r>
          <a:r>
            <a:rPr lang="fr-FR" sz="2400" kern="1200" dirty="0"/>
            <a:t> </a:t>
          </a:r>
          <a:r>
            <a:rPr lang="fr-FR" sz="2400" kern="1200" dirty="0" err="1"/>
            <a:t>doing</a:t>
          </a:r>
          <a:r>
            <a:rPr lang="fr-FR" sz="2400" kern="1200" dirty="0"/>
            <a:t> </a:t>
          </a:r>
          <a:r>
            <a:rPr lang="fr-FR" sz="2400" kern="1200" dirty="0" err="1"/>
            <a:t>so</a:t>
          </a:r>
          <a:r>
            <a:rPr lang="fr-FR" sz="2400" kern="1200" dirty="0"/>
            <a:t> </a:t>
          </a:r>
          <a:r>
            <a:rPr lang="fr-FR" sz="2400" kern="1200" dirty="0" err="1"/>
            <a:t>it</a:t>
          </a:r>
          <a:r>
            <a:rPr lang="fr-FR" sz="2400" kern="1200" dirty="0"/>
            <a:t> </a:t>
          </a:r>
          <a:r>
            <a:rPr lang="fr-FR" sz="2400" kern="1200" dirty="0" err="1"/>
            <a:t>adds</a:t>
          </a:r>
          <a:r>
            <a:rPr lang="fr-FR" sz="2400" kern="1200" dirty="0"/>
            <a:t> the </a:t>
          </a:r>
          <a:r>
            <a:rPr lang="fr-FR" sz="2400" kern="1200" dirty="0" err="1"/>
            <a:t>smallest</a:t>
          </a:r>
          <a:r>
            <a:rPr lang="fr-FR" sz="2400" kern="1200" dirty="0"/>
            <a:t> possible </a:t>
          </a:r>
          <a:r>
            <a:rPr lang="fr-FR" sz="2400" kern="1200" dirty="0" err="1"/>
            <a:t>amount</a:t>
          </a:r>
          <a:r>
            <a:rPr lang="fr-FR" sz="2400" kern="1200" dirty="0"/>
            <a:t> of </a:t>
          </a:r>
          <a:r>
            <a:rPr lang="fr-FR" sz="2400" kern="1200" dirty="0" err="1"/>
            <a:t>within</a:t>
          </a:r>
          <a:r>
            <a:rPr lang="fr-FR" sz="2400" kern="1200" dirty="0"/>
            <a:t>-cluster </a:t>
          </a:r>
          <a:r>
            <a:rPr lang="fr-FR" sz="2400" kern="1200" dirty="0" err="1"/>
            <a:t>heterogeneity</a:t>
          </a:r>
          <a:r>
            <a:rPr lang="fr-FR" sz="2400" kern="1200" dirty="0"/>
            <a:t>. </a:t>
          </a:r>
          <a:endParaRPr lang="en-US" sz="2400" kern="1200" dirty="0"/>
        </a:p>
      </dsp:txBody>
      <dsp:txXfrm>
        <a:off x="0" y="870586"/>
        <a:ext cx="10515600" cy="870055"/>
      </dsp:txXfrm>
    </dsp:sp>
    <dsp:sp modelId="{50B6DE4A-4BDB-4C4E-8A89-8291A3F8B596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7159E-797B-4F4A-9749-E14F2B537754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It </a:t>
          </a:r>
          <a:r>
            <a:rPr lang="fr-FR" sz="2400" kern="1200" dirty="0" err="1"/>
            <a:t>often</a:t>
          </a:r>
          <a:r>
            <a:rPr lang="fr-FR" sz="2400" kern="1200" dirty="0"/>
            <a:t> </a:t>
          </a:r>
          <a:r>
            <a:rPr lang="fr-FR" sz="2400" kern="1200" dirty="0" err="1"/>
            <a:t>gives</a:t>
          </a:r>
          <a:r>
            <a:rPr lang="fr-FR" sz="2400" kern="1200" dirty="0"/>
            <a:t> </a:t>
          </a:r>
          <a:r>
            <a:rPr lang="fr-FR" sz="2400" kern="1200" dirty="0" err="1"/>
            <a:t>readable</a:t>
          </a:r>
          <a:r>
            <a:rPr lang="fr-FR" sz="2400" kern="1200" dirty="0"/>
            <a:t> typologies in </a:t>
          </a:r>
          <a:r>
            <a:rPr lang="fr-FR" sz="2400" kern="1200" dirty="0" err="1"/>
            <a:t>sequence</a:t>
          </a:r>
          <a:r>
            <a:rPr lang="fr-FR" sz="2400" kern="1200" dirty="0"/>
            <a:t> </a:t>
          </a:r>
          <a:r>
            <a:rPr lang="fr-FR" sz="2400" kern="1200" dirty="0" err="1"/>
            <a:t>analysis</a:t>
          </a:r>
          <a:r>
            <a:rPr lang="fr-FR" sz="2400" kern="1200" dirty="0"/>
            <a:t>. </a:t>
          </a:r>
          <a:endParaRPr lang="en-US" sz="2400" kern="1200" dirty="0"/>
        </a:p>
      </dsp:txBody>
      <dsp:txXfrm>
        <a:off x="0" y="1740641"/>
        <a:ext cx="10515600" cy="870055"/>
      </dsp:txXfrm>
    </dsp:sp>
    <dsp:sp modelId="{6784476A-F9DA-4989-81AA-0A58CB4ACAC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A5A5B-19E7-4A97-A9DA-A7E011811F76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It is commonly used as a default starting point in sequence-analysis typologies. </a:t>
          </a:r>
          <a:endParaRPr lang="en-US" sz="2400" kern="1200" dirty="0"/>
        </a:p>
      </dsp:txBody>
      <dsp:txXfrm>
        <a:off x="0" y="2610696"/>
        <a:ext cx="10515600" cy="870055"/>
      </dsp:txXfrm>
    </dsp:sp>
    <dsp:sp modelId="{CF78BAFC-3F58-41A4-A513-B5218FC45A73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65838-FD77-48FD-839D-C92B80C8CC3E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It </a:t>
          </a:r>
          <a:r>
            <a:rPr lang="fr-FR" sz="2400" kern="1200" dirty="0" err="1"/>
            <a:t>is</a:t>
          </a:r>
          <a:r>
            <a:rPr lang="fr-FR" sz="2400" kern="1200" dirty="0"/>
            <a:t> not </a:t>
          </a:r>
          <a:r>
            <a:rPr lang="fr-FR" sz="2400" kern="1200" dirty="0" err="1"/>
            <a:t>automatically</a:t>
          </a:r>
          <a:r>
            <a:rPr lang="fr-FR" sz="2400" kern="1200" dirty="0"/>
            <a:t> the best </a:t>
          </a:r>
          <a:r>
            <a:rPr lang="fr-FR" sz="2400" kern="1200" dirty="0" err="1"/>
            <a:t>method</a:t>
          </a:r>
          <a:r>
            <a:rPr lang="fr-FR" sz="2400" kern="1200" dirty="0"/>
            <a:t>: Ward can </a:t>
          </a:r>
          <a:r>
            <a:rPr lang="fr-FR" sz="2400" kern="1200" dirty="0" err="1"/>
            <a:t>be</a:t>
          </a:r>
          <a:r>
            <a:rPr lang="fr-FR" sz="2400" kern="1200" dirty="0"/>
            <a:t> sensitive to </a:t>
          </a:r>
          <a:r>
            <a:rPr lang="fr-FR" sz="2400" kern="1200" dirty="0" err="1"/>
            <a:t>atypical</a:t>
          </a:r>
          <a:r>
            <a:rPr lang="fr-FR" sz="2400" kern="1200" dirty="0"/>
            <a:t> cases and </a:t>
          </a:r>
          <a:r>
            <a:rPr lang="fr-FR" sz="2400" kern="1200" dirty="0" err="1"/>
            <a:t>should</a:t>
          </a:r>
          <a:r>
            <a:rPr lang="fr-FR" sz="2400" kern="1200" dirty="0"/>
            <a:t> </a:t>
          </a:r>
          <a:r>
            <a:rPr lang="fr-FR" sz="2400" kern="1200" dirty="0" err="1"/>
            <a:t>be</a:t>
          </a:r>
          <a:r>
            <a:rPr lang="fr-FR" sz="2400" kern="1200" dirty="0"/>
            <a:t> </a:t>
          </a:r>
          <a:r>
            <a:rPr lang="fr-FR" sz="2400" kern="1200" dirty="0" err="1"/>
            <a:t>checked</a:t>
          </a:r>
          <a:r>
            <a:rPr lang="fr-FR" sz="2400" kern="1200" dirty="0"/>
            <a:t> </a:t>
          </a:r>
          <a:r>
            <a:rPr lang="fr-FR" sz="2400" kern="1200" dirty="0" err="1"/>
            <a:t>against</a:t>
          </a:r>
          <a:r>
            <a:rPr lang="fr-FR" sz="2400" kern="1200" dirty="0"/>
            <a:t> plots, cluster sizes and alternative solutions.</a:t>
          </a:r>
          <a:endParaRPr lang="en-US" sz="2400" kern="1200" dirty="0"/>
        </a:p>
      </dsp:txBody>
      <dsp:txXfrm>
        <a:off x="0" y="3480751"/>
        <a:ext cx="10515600" cy="8700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60652-3A23-40A2-84E0-F47B14879A51}">
      <dsp:nvSpPr>
        <dsp:cNvPr id="0" name=""/>
        <dsp:cNvSpPr/>
      </dsp:nvSpPr>
      <dsp:spPr>
        <a:xfrm>
          <a:off x="0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Time axis </a:t>
          </a:r>
        </a:p>
      </dsp:txBody>
      <dsp:txXfrm>
        <a:off x="23099" y="500449"/>
        <a:ext cx="1268251" cy="742472"/>
      </dsp:txXfrm>
    </dsp:sp>
    <dsp:sp modelId="{52F5F0C0-CCDC-4F97-9481-7F9FAF452376}">
      <dsp:nvSpPr>
        <dsp:cNvPr id="0" name=""/>
        <dsp:cNvSpPr/>
      </dsp:nvSpPr>
      <dsp:spPr>
        <a:xfrm>
          <a:off x="1445895" y="708693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45895" y="773890"/>
        <a:ext cx="195064" cy="195589"/>
      </dsp:txXfrm>
    </dsp:sp>
    <dsp:sp modelId="{F74C3315-25DD-4472-85C3-5F6A795EB24C}">
      <dsp:nvSpPr>
        <dsp:cNvPr id="0" name=""/>
        <dsp:cNvSpPr/>
      </dsp:nvSpPr>
      <dsp:spPr>
        <a:xfrm>
          <a:off x="1840230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State alphabet </a:t>
          </a:r>
        </a:p>
      </dsp:txBody>
      <dsp:txXfrm>
        <a:off x="1863329" y="500449"/>
        <a:ext cx="1268251" cy="742472"/>
      </dsp:txXfrm>
    </dsp:sp>
    <dsp:sp modelId="{CBD27A60-3ED8-4422-B023-59258835ECE8}">
      <dsp:nvSpPr>
        <dsp:cNvPr id="0" name=""/>
        <dsp:cNvSpPr/>
      </dsp:nvSpPr>
      <dsp:spPr>
        <a:xfrm>
          <a:off x="3286125" y="708693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286125" y="773890"/>
        <a:ext cx="195064" cy="195589"/>
      </dsp:txXfrm>
    </dsp:sp>
    <dsp:sp modelId="{CFAF8D5E-77BF-4ED4-9373-FD08EBE2A75B}">
      <dsp:nvSpPr>
        <dsp:cNvPr id="0" name=""/>
        <dsp:cNvSpPr/>
      </dsp:nvSpPr>
      <dsp:spPr>
        <a:xfrm>
          <a:off x="3680460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Distance </a:t>
          </a:r>
          <a:r>
            <a:rPr lang="fr-FR" sz="1900" kern="1200" dirty="0" err="1"/>
            <a:t>measure</a:t>
          </a:r>
          <a:r>
            <a:rPr lang="fr-FR" sz="1900" kern="1200" dirty="0"/>
            <a:t> </a:t>
          </a:r>
        </a:p>
      </dsp:txBody>
      <dsp:txXfrm>
        <a:off x="3703559" y="500449"/>
        <a:ext cx="1268251" cy="742472"/>
      </dsp:txXfrm>
    </dsp:sp>
    <dsp:sp modelId="{92D480DB-D762-436C-9F92-9BA595A8A7AF}">
      <dsp:nvSpPr>
        <dsp:cNvPr id="0" name=""/>
        <dsp:cNvSpPr/>
      </dsp:nvSpPr>
      <dsp:spPr>
        <a:xfrm>
          <a:off x="5126355" y="708693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5126355" y="773890"/>
        <a:ext cx="195064" cy="195589"/>
      </dsp:txXfrm>
    </dsp:sp>
    <dsp:sp modelId="{B7091220-563D-497B-A098-C56D07C2F960}">
      <dsp:nvSpPr>
        <dsp:cNvPr id="0" name=""/>
        <dsp:cNvSpPr/>
      </dsp:nvSpPr>
      <dsp:spPr>
        <a:xfrm>
          <a:off x="5520690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Cost settings </a:t>
          </a:r>
        </a:p>
      </dsp:txBody>
      <dsp:txXfrm>
        <a:off x="5543789" y="500449"/>
        <a:ext cx="1268251" cy="742472"/>
      </dsp:txXfrm>
    </dsp:sp>
    <dsp:sp modelId="{39DA5499-A1C4-489E-9135-726A6FC5807B}">
      <dsp:nvSpPr>
        <dsp:cNvPr id="0" name=""/>
        <dsp:cNvSpPr/>
      </dsp:nvSpPr>
      <dsp:spPr>
        <a:xfrm>
          <a:off x="6966585" y="708693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6966585" y="773890"/>
        <a:ext cx="195064" cy="195589"/>
      </dsp:txXfrm>
    </dsp:sp>
    <dsp:sp modelId="{63A31051-2CAB-49C7-98D4-A633FA9692D9}">
      <dsp:nvSpPr>
        <dsp:cNvPr id="0" name=""/>
        <dsp:cNvSpPr/>
      </dsp:nvSpPr>
      <dsp:spPr>
        <a:xfrm>
          <a:off x="7360920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Clustering algorithm </a:t>
          </a:r>
        </a:p>
      </dsp:txBody>
      <dsp:txXfrm>
        <a:off x="7384019" y="500449"/>
        <a:ext cx="1268251" cy="742472"/>
      </dsp:txXfrm>
    </dsp:sp>
    <dsp:sp modelId="{BE8C1AA8-C2F8-40B9-8EB7-D7C6275800A4}">
      <dsp:nvSpPr>
        <dsp:cNvPr id="0" name=""/>
        <dsp:cNvSpPr/>
      </dsp:nvSpPr>
      <dsp:spPr>
        <a:xfrm>
          <a:off x="8806814" y="708693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8806814" y="773890"/>
        <a:ext cx="195064" cy="195589"/>
      </dsp:txXfrm>
    </dsp:sp>
    <dsp:sp modelId="{4D0C85DC-86E9-4937-BC93-2E9CFE84618B}">
      <dsp:nvSpPr>
        <dsp:cNvPr id="0" name=""/>
        <dsp:cNvSpPr/>
      </dsp:nvSpPr>
      <dsp:spPr>
        <a:xfrm>
          <a:off x="9201149" y="477350"/>
          <a:ext cx="1314449" cy="7886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Typology</a:t>
          </a:r>
        </a:p>
      </dsp:txBody>
      <dsp:txXfrm>
        <a:off x="9224248" y="500449"/>
        <a:ext cx="1268251" cy="7424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DFB5D-A19B-4AA9-A787-FE1EADD602E8}">
      <dsp:nvSpPr>
        <dsp:cNvPr id="0" name=""/>
        <dsp:cNvSpPr/>
      </dsp:nvSpPr>
      <dsp:spPr>
        <a:xfrm>
          <a:off x="5134" y="693907"/>
          <a:ext cx="1750888" cy="8754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Dominant states</a:t>
          </a:r>
        </a:p>
      </dsp:txBody>
      <dsp:txXfrm>
        <a:off x="30775" y="719548"/>
        <a:ext cx="1699606" cy="824162"/>
      </dsp:txXfrm>
    </dsp:sp>
    <dsp:sp modelId="{34FA0C9E-ABBE-440A-ACF5-A9AAE0FAD241}">
      <dsp:nvSpPr>
        <dsp:cNvPr id="0" name=""/>
        <dsp:cNvSpPr/>
      </dsp:nvSpPr>
      <dsp:spPr>
        <a:xfrm>
          <a:off x="2193745" y="693907"/>
          <a:ext cx="1750888" cy="8754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Timing of transitions </a:t>
          </a:r>
        </a:p>
      </dsp:txBody>
      <dsp:txXfrm>
        <a:off x="2219386" y="719548"/>
        <a:ext cx="1699606" cy="824162"/>
      </dsp:txXfrm>
    </dsp:sp>
    <dsp:sp modelId="{D0BCDBA0-BA42-412E-8A9D-D48861478A4C}">
      <dsp:nvSpPr>
        <dsp:cNvPr id="0" name=""/>
        <dsp:cNvSpPr/>
      </dsp:nvSpPr>
      <dsp:spPr>
        <a:xfrm>
          <a:off x="4382355" y="693907"/>
          <a:ext cx="1750888" cy="8754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Duration in states</a:t>
          </a:r>
        </a:p>
      </dsp:txBody>
      <dsp:txXfrm>
        <a:off x="4407996" y="719548"/>
        <a:ext cx="1699606" cy="824162"/>
      </dsp:txXfrm>
    </dsp:sp>
    <dsp:sp modelId="{18D9A22E-7382-4A14-9CAD-F3AD52CFD61E}">
      <dsp:nvSpPr>
        <dsp:cNvPr id="0" name=""/>
        <dsp:cNvSpPr/>
      </dsp:nvSpPr>
      <dsp:spPr>
        <a:xfrm>
          <a:off x="6570966" y="693907"/>
          <a:ext cx="1750888" cy="8754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Instability</a:t>
          </a:r>
          <a:r>
            <a:rPr lang="fr-FR" sz="1800" kern="1200" dirty="0"/>
            <a:t> or </a:t>
          </a:r>
          <a:r>
            <a:rPr lang="fr-FR" sz="1800" kern="1200" dirty="0" err="1"/>
            <a:t>continuity</a:t>
          </a:r>
          <a:r>
            <a:rPr lang="fr-FR" sz="1800" kern="1200" dirty="0"/>
            <a:t> </a:t>
          </a:r>
        </a:p>
      </dsp:txBody>
      <dsp:txXfrm>
        <a:off x="6596607" y="719548"/>
        <a:ext cx="1699606" cy="824162"/>
      </dsp:txXfrm>
    </dsp:sp>
    <dsp:sp modelId="{FDC53282-73DD-44F9-9FF8-ED55BA6D211A}">
      <dsp:nvSpPr>
        <dsp:cNvPr id="0" name=""/>
        <dsp:cNvSpPr/>
      </dsp:nvSpPr>
      <dsp:spPr>
        <a:xfrm>
          <a:off x="8759576" y="693907"/>
          <a:ext cx="1750888" cy="8754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How </a:t>
          </a:r>
          <a:r>
            <a:rPr lang="fr-FR" sz="1800" kern="1200" dirty="0" err="1"/>
            <a:t>it</a:t>
          </a:r>
          <a:r>
            <a:rPr lang="fr-FR" sz="1800" kern="1200" dirty="0"/>
            <a:t> </a:t>
          </a:r>
          <a:r>
            <a:rPr lang="fr-FR" sz="1800" kern="1200" dirty="0" err="1"/>
            <a:t>differs</a:t>
          </a:r>
          <a:r>
            <a:rPr lang="fr-FR" sz="1800" kern="1200" dirty="0"/>
            <a:t> </a:t>
          </a:r>
          <a:r>
            <a:rPr lang="fr-FR" sz="1800" kern="1200" dirty="0" err="1"/>
            <a:t>from</a:t>
          </a:r>
          <a:r>
            <a:rPr lang="fr-FR" sz="1800" kern="1200" dirty="0"/>
            <a:t> </a:t>
          </a:r>
          <a:r>
            <a:rPr lang="fr-FR" sz="1800" kern="1200" err="1"/>
            <a:t>other</a:t>
          </a:r>
          <a:r>
            <a:rPr lang="fr-FR" sz="1800" kern="1200"/>
            <a:t> clusters</a:t>
          </a:r>
          <a:endParaRPr lang="fr-FR" sz="1800" kern="1200" dirty="0"/>
        </a:p>
      </dsp:txBody>
      <dsp:txXfrm>
        <a:off x="8785217" y="719548"/>
        <a:ext cx="1699606" cy="8241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86BE3-4639-43F4-A86F-CAA483A75216}">
      <dsp:nvSpPr>
        <dsp:cNvPr id="0" name=""/>
        <dsp:cNvSpPr/>
      </dsp:nvSpPr>
      <dsp:spPr>
        <a:xfrm>
          <a:off x="3405" y="79211"/>
          <a:ext cx="3320057" cy="6048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Index plot: </a:t>
          </a:r>
          <a:endParaRPr lang="en-US" sz="2100" kern="1200"/>
        </a:p>
      </dsp:txBody>
      <dsp:txXfrm>
        <a:off x="3405" y="79211"/>
        <a:ext cx="3320057" cy="604800"/>
      </dsp:txXfrm>
    </dsp:sp>
    <dsp:sp modelId="{1C30E83C-1216-47CF-B0C5-565C830EF637}">
      <dsp:nvSpPr>
        <dsp:cNvPr id="0" name=""/>
        <dsp:cNvSpPr/>
      </dsp:nvSpPr>
      <dsp:spPr>
        <a:xfrm>
          <a:off x="3405" y="684011"/>
          <a:ext cx="3320057" cy="186805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« </a:t>
          </a:r>
          <a:r>
            <a:rPr lang="fr-FR" sz="2100" kern="1200" dirty="0" err="1"/>
            <a:t>Individual</a:t>
          </a:r>
          <a:r>
            <a:rPr lang="fr-FR" sz="2100" kern="1200" dirty="0"/>
            <a:t> </a:t>
          </a:r>
          <a:r>
            <a:rPr lang="fr-FR" sz="2100" kern="1200" dirty="0" err="1"/>
            <a:t>trajectories</a:t>
          </a:r>
          <a:r>
            <a:rPr lang="fr-FR" sz="2100" kern="1200" dirty="0"/>
            <a:t> </a:t>
          </a:r>
          <a:r>
            <a:rPr lang="fr-FR" sz="2100" kern="1200" dirty="0" err="1"/>
            <a:t>inside</a:t>
          </a:r>
          <a:r>
            <a:rPr lang="fr-FR" sz="2100" kern="1200" dirty="0"/>
            <a:t> the cluster: </a:t>
          </a:r>
          <a:r>
            <a:rPr lang="fr-FR" sz="2100" kern="1200" dirty="0" err="1"/>
            <a:t>many</a:t>
          </a:r>
          <a:r>
            <a:rPr lang="fr-FR" sz="2100" kern="1200" dirty="0"/>
            <a:t> switches </a:t>
          </a:r>
          <a:r>
            <a:rPr lang="fr-FR" sz="2100" kern="1200" dirty="0" err="1"/>
            <a:t>between</a:t>
          </a:r>
          <a:r>
            <a:rPr lang="fr-FR" sz="2100" kern="1200" dirty="0"/>
            <a:t> </a:t>
          </a:r>
          <a:r>
            <a:rPr lang="fr-FR" sz="2100" kern="1200" dirty="0" err="1"/>
            <a:t>employment</a:t>
          </a:r>
          <a:r>
            <a:rPr lang="fr-FR" sz="2100" kern="1200" dirty="0"/>
            <a:t> and </a:t>
          </a:r>
          <a:r>
            <a:rPr lang="fr-FR" sz="2100" kern="1200" dirty="0" err="1"/>
            <a:t>unemployment</a:t>
          </a:r>
          <a:r>
            <a:rPr lang="fr-FR" sz="2100" kern="1200" dirty="0"/>
            <a:t>. »</a:t>
          </a:r>
          <a:endParaRPr lang="en-US" sz="2100" kern="1200" dirty="0"/>
        </a:p>
      </dsp:txBody>
      <dsp:txXfrm>
        <a:off x="3405" y="684011"/>
        <a:ext cx="3320057" cy="1868058"/>
      </dsp:txXfrm>
    </dsp:sp>
    <dsp:sp modelId="{E427A561-5FB5-4D4E-A704-54D7499B21A4}">
      <dsp:nvSpPr>
        <dsp:cNvPr id="0" name=""/>
        <dsp:cNvSpPr/>
      </dsp:nvSpPr>
      <dsp:spPr>
        <a:xfrm>
          <a:off x="3788271" y="79211"/>
          <a:ext cx="3320057" cy="6048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State distribution plot: </a:t>
          </a:r>
          <a:endParaRPr lang="en-US" sz="2100" kern="1200"/>
        </a:p>
      </dsp:txBody>
      <dsp:txXfrm>
        <a:off x="3788271" y="79211"/>
        <a:ext cx="3320057" cy="604800"/>
      </dsp:txXfrm>
    </dsp:sp>
    <dsp:sp modelId="{3FEFFCE1-D914-4552-8FA7-B1EF1242B7A3}">
      <dsp:nvSpPr>
        <dsp:cNvPr id="0" name=""/>
        <dsp:cNvSpPr/>
      </dsp:nvSpPr>
      <dsp:spPr>
        <a:xfrm>
          <a:off x="3788271" y="684011"/>
          <a:ext cx="3320057" cy="186805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b="1" kern="1200"/>
            <a:t>« </a:t>
          </a:r>
          <a:r>
            <a:rPr lang="fr-FR" sz="2100" kern="1200"/>
            <a:t>At each age/month, the share in employment vs unemployment changes often »</a:t>
          </a:r>
          <a:endParaRPr lang="en-US" sz="2100" kern="1200"/>
        </a:p>
      </dsp:txBody>
      <dsp:txXfrm>
        <a:off x="3788271" y="684011"/>
        <a:ext cx="3320057" cy="1868058"/>
      </dsp:txXfrm>
    </dsp:sp>
    <dsp:sp modelId="{31D93EB8-63C7-4F7D-AC54-FDD3D6986427}">
      <dsp:nvSpPr>
        <dsp:cNvPr id="0" name=""/>
        <dsp:cNvSpPr/>
      </dsp:nvSpPr>
      <dsp:spPr>
        <a:xfrm>
          <a:off x="7573137" y="79211"/>
          <a:ext cx="3320057" cy="6048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Numerical summary box</a:t>
          </a:r>
          <a:r>
            <a:rPr lang="fr-FR" sz="2100" kern="1200"/>
            <a:t> </a:t>
          </a:r>
          <a:endParaRPr lang="en-US" sz="2100" kern="1200"/>
        </a:p>
      </dsp:txBody>
      <dsp:txXfrm>
        <a:off x="7573137" y="79211"/>
        <a:ext cx="3320057" cy="604800"/>
      </dsp:txXfrm>
    </dsp:sp>
    <dsp:sp modelId="{2DE6B2B4-9322-4AA8-B9ED-53B9A2588539}">
      <dsp:nvSpPr>
        <dsp:cNvPr id="0" name=""/>
        <dsp:cNvSpPr/>
      </dsp:nvSpPr>
      <dsp:spPr>
        <a:xfrm>
          <a:off x="7573137" y="684011"/>
          <a:ext cx="3320057" cy="186805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Mean years unemployed: high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Mean transitions: high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Dominant feature: repeated interruption</a:t>
          </a:r>
          <a:endParaRPr lang="en-US" sz="2100" kern="1200"/>
        </a:p>
      </dsp:txBody>
      <dsp:txXfrm>
        <a:off x="7573137" y="684011"/>
        <a:ext cx="3320057" cy="18680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FEFA1-ACE1-4C5C-92D1-6048B8D73A70}">
      <dsp:nvSpPr>
        <dsp:cNvPr id="0" name=""/>
        <dsp:cNvSpPr/>
      </dsp:nvSpPr>
      <dsp:spPr>
        <a:xfrm>
          <a:off x="568971" y="0"/>
          <a:ext cx="1509048" cy="14708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6E6CF-BCC9-4A4C-8DC5-4A4C520959DF}">
      <dsp:nvSpPr>
        <dsp:cNvPr id="0" name=""/>
        <dsp:cNvSpPr/>
      </dsp:nvSpPr>
      <dsp:spPr>
        <a:xfrm>
          <a:off x="568971" y="1653036"/>
          <a:ext cx="4311566" cy="670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4400" b="1" kern="1200"/>
            <a:t>Bad labels:</a:t>
          </a:r>
          <a:endParaRPr lang="en-US" sz="4400" kern="1200"/>
        </a:p>
      </dsp:txBody>
      <dsp:txXfrm>
        <a:off x="568971" y="1653036"/>
        <a:ext cx="4311566" cy="670414"/>
      </dsp:txXfrm>
    </dsp:sp>
    <dsp:sp modelId="{834ECF5D-A740-4747-8BCA-B51F03C11297}">
      <dsp:nvSpPr>
        <dsp:cNvPr id="0" name=""/>
        <dsp:cNvSpPr/>
      </dsp:nvSpPr>
      <dsp:spPr>
        <a:xfrm>
          <a:off x="568971" y="2408191"/>
          <a:ext cx="4311566" cy="194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“successful”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“failed”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“problematic”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“normal”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“deviant” </a:t>
          </a:r>
          <a:endParaRPr lang="en-US" sz="2000" kern="1200"/>
        </a:p>
      </dsp:txBody>
      <dsp:txXfrm>
        <a:off x="568971" y="2408191"/>
        <a:ext cx="4311566" cy="1943146"/>
      </dsp:txXfrm>
    </dsp:sp>
    <dsp:sp modelId="{79E305A0-4AAD-411C-A130-2D2F7A7261A6}">
      <dsp:nvSpPr>
        <dsp:cNvPr id="0" name=""/>
        <dsp:cNvSpPr/>
      </dsp:nvSpPr>
      <dsp:spPr>
        <a:xfrm>
          <a:off x="5635062" y="0"/>
          <a:ext cx="1509048" cy="14708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26E84-9DA1-47FB-8203-0B08FC7C6AD9}">
      <dsp:nvSpPr>
        <dsp:cNvPr id="0" name=""/>
        <dsp:cNvSpPr/>
      </dsp:nvSpPr>
      <dsp:spPr>
        <a:xfrm>
          <a:off x="5635062" y="1653036"/>
          <a:ext cx="4311566" cy="670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4400" b="1" kern="1200"/>
            <a:t>Better labels:</a:t>
          </a:r>
          <a:endParaRPr lang="en-US" sz="4400" kern="1200"/>
        </a:p>
      </dsp:txBody>
      <dsp:txXfrm>
        <a:off x="5635062" y="1653036"/>
        <a:ext cx="4311566" cy="670414"/>
      </dsp:txXfrm>
    </dsp:sp>
    <dsp:sp modelId="{C3496999-EF3F-43C0-B666-0A3B24A29BD7}">
      <dsp:nvSpPr>
        <dsp:cNvPr id="0" name=""/>
        <dsp:cNvSpPr/>
      </dsp:nvSpPr>
      <dsp:spPr>
        <a:xfrm>
          <a:off x="5635062" y="2408191"/>
          <a:ext cx="4311566" cy="1943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“stable employment”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“delayed employment entry”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“repeated unemployment”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“early family-care interruption” </a:t>
          </a:r>
          <a:endParaRPr lang="en-US" sz="2000" kern="120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“late transition to employment”</a:t>
          </a:r>
          <a:endParaRPr lang="en-US" sz="2000" kern="1200"/>
        </a:p>
      </dsp:txBody>
      <dsp:txXfrm>
        <a:off x="5635062" y="2408191"/>
        <a:ext cx="4311566" cy="1943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B079E-32E6-43E1-BC52-A12B19C75C79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D381F-854D-4AF2-AC90-727E9865A2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00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13:00–13:15</a:t>
            </a:r>
            <a:r>
              <a:rPr lang="fr-FR" dirty="0"/>
              <a:t> </a:t>
            </a:r>
            <a:r>
              <a:rPr lang="fr-FR" dirty="0" err="1"/>
              <a:t>recap</a:t>
            </a:r>
            <a:r>
              <a:rPr lang="fr-FR" dirty="0"/>
              <a:t> of Lesson 2</a:t>
            </a:r>
            <a:br>
              <a:rPr lang="fr-FR" dirty="0"/>
            </a:br>
            <a:r>
              <a:rPr lang="fr-FR" b="1" dirty="0"/>
              <a:t>13:15–14:00</a:t>
            </a:r>
            <a:r>
              <a:rPr lang="fr-FR" dirty="0"/>
              <a:t> </a:t>
            </a:r>
            <a:r>
              <a:rPr lang="fr-FR" dirty="0" err="1"/>
              <a:t>why</a:t>
            </a:r>
            <a:r>
              <a:rPr lang="fr-FR" dirty="0"/>
              <a:t> cluster </a:t>
            </a:r>
            <a:r>
              <a:rPr lang="fr-FR" dirty="0" err="1"/>
              <a:t>sequences</a:t>
            </a:r>
            <a:r>
              <a:rPr lang="fr-FR" dirty="0"/>
              <a:t> + </a:t>
            </a:r>
            <a:r>
              <a:rPr lang="fr-FR" dirty="0" err="1"/>
              <a:t>what</a:t>
            </a:r>
            <a:r>
              <a:rPr lang="fr-FR" dirty="0"/>
              <a:t> clustering </a:t>
            </a:r>
            <a:r>
              <a:rPr lang="fr-FR" dirty="0" err="1"/>
              <a:t>means</a:t>
            </a:r>
            <a:br>
              <a:rPr lang="fr-FR" dirty="0"/>
            </a:br>
            <a:r>
              <a:rPr lang="fr-FR" b="1" dirty="0"/>
              <a:t>14:00–14:45</a:t>
            </a:r>
            <a:r>
              <a:rPr lang="fr-FR" dirty="0"/>
              <a:t> </a:t>
            </a:r>
            <a:r>
              <a:rPr lang="fr-FR" dirty="0" err="1"/>
              <a:t>hierarchical</a:t>
            </a:r>
            <a:r>
              <a:rPr lang="fr-FR" dirty="0"/>
              <a:t> clustering + </a:t>
            </a:r>
            <a:r>
              <a:rPr lang="fr-FR" dirty="0" err="1"/>
              <a:t>choosing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clusters</a:t>
            </a:r>
            <a:br>
              <a:rPr lang="fr-FR" dirty="0"/>
            </a:br>
            <a:r>
              <a:rPr lang="fr-FR" b="1" dirty="0"/>
              <a:t>14:45–15:00</a:t>
            </a:r>
            <a:r>
              <a:rPr lang="fr-FR" dirty="0"/>
              <a:t> break</a:t>
            </a:r>
            <a:br>
              <a:rPr lang="fr-FR" dirty="0"/>
            </a:br>
            <a:r>
              <a:rPr lang="fr-FR" b="1" dirty="0"/>
              <a:t>15:00–15:25</a:t>
            </a:r>
            <a:r>
              <a:rPr lang="fr-FR" dirty="0"/>
              <a:t> </a:t>
            </a:r>
            <a:r>
              <a:rPr lang="fr-FR" dirty="0" err="1"/>
              <a:t>interpreting</a:t>
            </a:r>
            <a:r>
              <a:rPr lang="fr-FR" dirty="0"/>
              <a:t> and labelling clusters</a:t>
            </a:r>
            <a:br>
              <a:rPr lang="fr-FR" dirty="0"/>
            </a:br>
            <a:r>
              <a:rPr lang="fr-FR" b="1" dirty="0"/>
              <a:t>15:25–16:40</a:t>
            </a:r>
            <a:r>
              <a:rPr lang="fr-FR" dirty="0"/>
              <a:t> R </a:t>
            </a:r>
            <a:r>
              <a:rPr lang="fr-FR" dirty="0" err="1"/>
              <a:t>lab</a:t>
            </a:r>
            <a:r>
              <a:rPr lang="fr-FR" dirty="0"/>
              <a:t>: clustering, plots, cluster </a:t>
            </a:r>
            <a:r>
              <a:rPr lang="fr-FR" dirty="0" err="1"/>
              <a:t>summaries</a:t>
            </a:r>
            <a:br>
              <a:rPr lang="fr-FR" dirty="0"/>
            </a:br>
            <a:r>
              <a:rPr lang="fr-FR" b="1" dirty="0"/>
              <a:t>16:40–17:00</a:t>
            </a:r>
            <a:r>
              <a:rPr lang="fr-FR" dirty="0"/>
              <a:t> </a:t>
            </a:r>
            <a:r>
              <a:rPr lang="fr-FR" dirty="0" err="1"/>
              <a:t>interpretation</a:t>
            </a:r>
            <a:r>
              <a:rPr lang="fr-FR" dirty="0"/>
              <a:t> </a:t>
            </a:r>
            <a:r>
              <a:rPr lang="fr-FR" dirty="0" err="1"/>
              <a:t>exercise</a:t>
            </a:r>
            <a:r>
              <a:rPr lang="fr-FR" dirty="0"/>
              <a:t> + mini-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preparation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837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From </a:t>
            </a:r>
            <a:r>
              <a:rPr lang="fr-FR" dirty="0" err="1"/>
              <a:t>hundreds</a:t>
            </a:r>
            <a:r>
              <a:rPr lang="fr-FR" dirty="0"/>
              <a:t> of </a:t>
            </a:r>
            <a:r>
              <a:rPr lang="fr-FR" dirty="0" err="1"/>
              <a:t>individual</a:t>
            </a:r>
            <a:r>
              <a:rPr lang="fr-FR" dirty="0"/>
              <a:t> histories to a </a:t>
            </a:r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interpretable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patterns.</a:t>
            </a:r>
          </a:p>
          <a:p>
            <a:r>
              <a:rPr lang="fr-FR" dirty="0"/>
              <a:t>Clustering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way</a:t>
            </a:r>
            <a:r>
              <a:rPr lang="fr-FR" dirty="0"/>
              <a:t> to </a:t>
            </a:r>
            <a:r>
              <a:rPr lang="fr-FR" dirty="0" err="1"/>
              <a:t>summarise</a:t>
            </a:r>
            <a:r>
              <a:rPr lang="fr-FR" dirty="0"/>
              <a:t> </a:t>
            </a:r>
            <a:r>
              <a:rPr lang="fr-FR" dirty="0" err="1"/>
              <a:t>complexity</a:t>
            </a:r>
            <a:r>
              <a:rPr lang="fr-FR" dirty="0"/>
              <a:t>, not to </a:t>
            </a:r>
            <a:r>
              <a:rPr lang="fr-FR" dirty="0" err="1"/>
              <a:t>erase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92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one by one?</a:t>
            </a:r>
          </a:p>
          <a:p>
            <a:r>
              <a:rPr lang="fr-FR" dirty="0" err="1"/>
              <a:t>Usually</a:t>
            </a:r>
            <a:r>
              <a:rPr lang="fr-FR" dirty="0"/>
              <a:t> no.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a </a:t>
            </a:r>
            <a:r>
              <a:rPr lang="fr-FR" dirty="0" err="1"/>
              <a:t>smaller</a:t>
            </a:r>
            <a:r>
              <a:rPr lang="fr-FR" dirty="0"/>
              <a:t> </a:t>
            </a:r>
            <a:r>
              <a:rPr lang="fr-FR" dirty="0" err="1"/>
              <a:t>vocabulary</a:t>
            </a:r>
            <a:r>
              <a:rPr lang="fr-FR" dirty="0"/>
              <a:t> of </a:t>
            </a:r>
            <a:r>
              <a:rPr lang="fr-FR" dirty="0" err="1"/>
              <a:t>trajectory</a:t>
            </a:r>
            <a:r>
              <a:rPr lang="fr-FR" dirty="0"/>
              <a:t> types.</a:t>
            </a:r>
          </a:p>
          <a:p>
            <a:r>
              <a:rPr lang="fr-FR" dirty="0"/>
              <a:t>Example of groups: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Early partnership and </a:t>
            </a:r>
            <a:r>
              <a:rPr lang="fr-FR" dirty="0" err="1"/>
              <a:t>parenthood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Stable </a:t>
            </a:r>
            <a:r>
              <a:rPr lang="fr-FR" dirty="0" err="1"/>
              <a:t>family</a:t>
            </a:r>
            <a:r>
              <a:rPr lang="fr-FR" dirty="0"/>
              <a:t> life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Less stable </a:t>
            </a:r>
            <a:r>
              <a:rPr lang="fr-FR" dirty="0" err="1"/>
              <a:t>family</a:t>
            </a:r>
            <a:r>
              <a:rPr lang="fr-FR" dirty="0"/>
              <a:t> life and </a:t>
            </a:r>
            <a:r>
              <a:rPr lang="fr-FR" dirty="0" err="1"/>
              <a:t>several</a:t>
            </a:r>
            <a:r>
              <a:rPr lang="fr-FR" dirty="0"/>
              <a:t> transitions in and out of partnerships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Stable in </a:t>
            </a:r>
            <a:r>
              <a:rPr lang="fr-FR" dirty="0" err="1"/>
              <a:t>singlehood</a:t>
            </a:r>
            <a:r>
              <a:rPr lang="fr-FR" dirty="0"/>
              <a:t> and </a:t>
            </a:r>
            <a:r>
              <a:rPr lang="fr-FR" dirty="0" err="1"/>
              <a:t>childlessness</a:t>
            </a:r>
            <a:r>
              <a:rPr lang="fr-FR" dirty="0"/>
              <a:t>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548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goal </a:t>
            </a:r>
            <a:r>
              <a:rPr lang="fr-FR" dirty="0" err="1"/>
              <a:t>is</a:t>
            </a:r>
            <a:r>
              <a:rPr lang="fr-FR" dirty="0"/>
              <a:t> simplification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interpretation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53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 </a:t>
            </a:r>
            <a:r>
              <a:rPr lang="fr-FR" dirty="0" err="1"/>
              <a:t>feel</a:t>
            </a:r>
            <a:r>
              <a:rPr lang="fr-FR" dirty="0"/>
              <a:t> close?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 </a:t>
            </a:r>
            <a:r>
              <a:rPr lang="fr-FR" dirty="0" err="1"/>
              <a:t>feel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467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cluster label </a:t>
            </a:r>
            <a:r>
              <a:rPr lang="fr-FR" dirty="0" err="1"/>
              <a:t>is</a:t>
            </a:r>
            <a:r>
              <a:rPr lang="fr-FR" dirty="0"/>
              <a:t> a simplification, not a full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825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Agglomerative</a:t>
            </a:r>
            <a:r>
              <a:rPr lang="fr-FR" dirty="0"/>
              <a:t> = </a:t>
            </a:r>
            <a:r>
              <a:rPr lang="fr-FR" dirty="0" err="1"/>
              <a:t>bottom</a:t>
            </a:r>
            <a:r>
              <a:rPr lang="fr-FR" dirty="0"/>
              <a:t>-up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876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Cutting the </a:t>
            </a:r>
            <a:r>
              <a:rPr lang="fr-FR" dirty="0" err="1"/>
              <a:t>tree</a:t>
            </a:r>
            <a:r>
              <a:rPr lang="fr-FR" dirty="0"/>
              <a:t> at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heights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 of clusters.</a:t>
            </a:r>
          </a:p>
          <a:p>
            <a:r>
              <a:rPr lang="fr-FR" dirty="0"/>
              <a:t>Where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cut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: 2, 3 or 4 groups?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526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Linkage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b="1" dirty="0"/>
              <a:t>how distance </a:t>
            </a:r>
            <a:r>
              <a:rPr lang="fr-FR" b="1" dirty="0" err="1"/>
              <a:t>between</a:t>
            </a:r>
            <a:r>
              <a:rPr lang="fr-FR" b="1" dirty="0"/>
              <a:t> groups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calculated</a:t>
            </a:r>
            <a:r>
              <a:rPr lang="fr-FR" b="1" dirty="0"/>
              <a:t> </a:t>
            </a:r>
            <a:r>
              <a:rPr lang="fr-FR" b="1" dirty="0" err="1"/>
              <a:t>after</a:t>
            </a:r>
            <a:r>
              <a:rPr lang="fr-FR" b="1" dirty="0"/>
              <a:t> </a:t>
            </a:r>
            <a:r>
              <a:rPr lang="fr-FR" b="1" dirty="0" err="1"/>
              <a:t>individuals</a:t>
            </a:r>
            <a:r>
              <a:rPr lang="fr-FR" b="1" dirty="0"/>
              <a:t> have </a:t>
            </a:r>
            <a:r>
              <a:rPr lang="fr-FR" b="1" dirty="0" err="1"/>
              <a:t>already</a:t>
            </a:r>
            <a:r>
              <a:rPr lang="fr-FR" b="1" dirty="0"/>
              <a:t> been </a:t>
            </a:r>
            <a:r>
              <a:rPr lang="fr-FR" b="1" dirty="0" err="1"/>
              <a:t>merged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Example: if cluster A has 3 people and cluster B has 3 people, do </a:t>
            </a:r>
            <a:r>
              <a:rPr lang="fr-FR" dirty="0" err="1"/>
              <a:t>we</a:t>
            </a:r>
            <a:r>
              <a:rPr lang="fr-FR" dirty="0"/>
              <a:t> compare the </a:t>
            </a:r>
            <a:r>
              <a:rPr lang="fr-FR" dirty="0" err="1"/>
              <a:t>closest</a:t>
            </a:r>
            <a:r>
              <a:rPr lang="fr-FR" dirty="0"/>
              <a:t> pair, the </a:t>
            </a:r>
            <a:r>
              <a:rPr lang="fr-FR" dirty="0" err="1"/>
              <a:t>farthest</a:t>
            </a:r>
            <a:r>
              <a:rPr lang="fr-FR" dirty="0"/>
              <a:t> pair, the </a:t>
            </a:r>
            <a:r>
              <a:rPr lang="fr-FR" dirty="0" err="1"/>
              <a:t>average</a:t>
            </a:r>
            <a:r>
              <a:rPr lang="fr-FR" dirty="0"/>
              <a:t> distance, or the </a:t>
            </a:r>
            <a:r>
              <a:rPr lang="fr-FR" dirty="0" err="1"/>
              <a:t>increase</a:t>
            </a:r>
            <a:r>
              <a:rPr lang="fr-FR" dirty="0"/>
              <a:t> in </a:t>
            </a:r>
            <a:r>
              <a:rPr lang="fr-FR" dirty="0" err="1"/>
              <a:t>within</a:t>
            </a:r>
            <a:r>
              <a:rPr lang="fr-FR" dirty="0"/>
              <a:t>-cluster variation? That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linkage </a:t>
            </a:r>
            <a:r>
              <a:rPr lang="fr-FR" dirty="0" err="1"/>
              <a:t>means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964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final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end of a </a:t>
            </a:r>
            <a:r>
              <a:rPr lang="fr-FR" dirty="0" err="1"/>
              <a:t>chain</a:t>
            </a:r>
            <a:r>
              <a:rPr lang="fr-FR" dirty="0"/>
              <a:t> of </a:t>
            </a:r>
            <a:r>
              <a:rPr lang="fr-FR" dirty="0" err="1"/>
              <a:t>decisions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212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ASW </a:t>
            </a:r>
            <a:r>
              <a:rPr lang="fr-FR" dirty="0" err="1"/>
              <a:t>evaluates</a:t>
            </a:r>
            <a:r>
              <a:rPr lang="fr-FR" dirty="0"/>
              <a:t> </a:t>
            </a:r>
            <a:r>
              <a:rPr lang="fr-FR" dirty="0" err="1"/>
              <a:t>coherence</a:t>
            </a:r>
            <a:r>
              <a:rPr lang="fr-FR" dirty="0"/>
              <a:t> of </a:t>
            </a:r>
            <a:r>
              <a:rPr lang="fr-FR" dirty="0" err="1"/>
              <a:t>assignments</a:t>
            </a:r>
            <a:r>
              <a:rPr lang="fr-FR" dirty="0"/>
              <a:t>; CH </a:t>
            </a:r>
            <a:r>
              <a:rPr lang="fr-FR" dirty="0" err="1"/>
              <a:t>is</a:t>
            </a:r>
            <a:r>
              <a:rPr lang="fr-FR" dirty="0"/>
              <a:t> a pseudo-F </a:t>
            </a:r>
            <a:r>
              <a:rPr lang="fr-FR" dirty="0" err="1"/>
              <a:t>statistic</a:t>
            </a:r>
            <a:r>
              <a:rPr lang="fr-FR" dirty="0"/>
              <a:t>; </a:t>
            </a:r>
            <a:r>
              <a:rPr lang="fr-FR" dirty="0" err="1"/>
              <a:t>Hubert’s</a:t>
            </a:r>
            <a:r>
              <a:rPr lang="fr-FR" dirty="0"/>
              <a:t> Gamma </a:t>
            </a:r>
            <a:r>
              <a:rPr lang="fr-FR" dirty="0" err="1"/>
              <a:t>assesses</a:t>
            </a:r>
            <a:r>
              <a:rPr lang="fr-FR" dirty="0"/>
              <a:t> how </a:t>
            </a:r>
            <a:r>
              <a:rPr lang="fr-FR" dirty="0" err="1"/>
              <a:t>well</a:t>
            </a:r>
            <a:r>
              <a:rPr lang="fr-FR" dirty="0"/>
              <a:t> the partition </a:t>
            </a:r>
            <a:r>
              <a:rPr lang="fr-FR" dirty="0" err="1"/>
              <a:t>reproduces</a:t>
            </a:r>
            <a:r>
              <a:rPr lang="fr-FR" dirty="0"/>
              <a:t> the distance matrix.</a:t>
            </a:r>
          </a:p>
          <a:p>
            <a:r>
              <a:rPr lang="fr-FR" dirty="0"/>
              <a:t>ASW, CH or </a:t>
            </a:r>
            <a:r>
              <a:rPr lang="fr-FR" dirty="0" err="1"/>
              <a:t>Hubert’s</a:t>
            </a:r>
            <a:r>
              <a:rPr lang="fr-FR" dirty="0"/>
              <a:t> Gamma can help us compare solutions, but </a:t>
            </a:r>
            <a:r>
              <a:rPr lang="fr-FR" dirty="0" err="1"/>
              <a:t>they</a:t>
            </a:r>
            <a:r>
              <a:rPr lang="fr-FR" dirty="0"/>
              <a:t> do not </a:t>
            </a:r>
            <a:r>
              <a:rPr lang="fr-FR" dirty="0" err="1"/>
              <a:t>choose</a:t>
            </a:r>
            <a:r>
              <a:rPr lang="fr-FR" dirty="0"/>
              <a:t> for us. They </a:t>
            </a:r>
            <a:r>
              <a:rPr lang="fr-FR" dirty="0" err="1"/>
              <a:t>answer</a:t>
            </a:r>
            <a:r>
              <a:rPr lang="fr-FR" dirty="0"/>
              <a:t> questions like: are cases close to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cluster? Are clusters </a:t>
            </a:r>
            <a:r>
              <a:rPr lang="fr-FR" dirty="0" err="1"/>
              <a:t>separated</a:t>
            </a:r>
            <a:r>
              <a:rPr lang="fr-FR" dirty="0"/>
              <a:t>? Does the partition </a:t>
            </a:r>
            <a:r>
              <a:rPr lang="fr-FR" dirty="0" err="1"/>
              <a:t>reflect</a:t>
            </a:r>
            <a:r>
              <a:rPr lang="fr-FR" dirty="0"/>
              <a:t> the distance matrix? But a </a:t>
            </a:r>
            <a:r>
              <a:rPr lang="fr-FR" dirty="0" err="1"/>
              <a:t>statistically</a:t>
            </a:r>
            <a:r>
              <a:rPr lang="fr-FR" dirty="0"/>
              <a:t> good solution can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substantively</a:t>
            </a:r>
            <a:r>
              <a:rPr lang="fr-FR" dirty="0"/>
              <a:t> </a:t>
            </a:r>
            <a:r>
              <a:rPr lang="fr-FR" dirty="0" err="1"/>
              <a:t>useless</a:t>
            </a:r>
            <a:r>
              <a:rPr lang="fr-FR" dirty="0"/>
              <a:t> if the clusters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interpreted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056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statistically</a:t>
            </a:r>
            <a:r>
              <a:rPr lang="fr-FR" dirty="0"/>
              <a:t> </a:t>
            </a:r>
            <a:r>
              <a:rPr lang="fr-FR" dirty="0" err="1"/>
              <a:t>neat</a:t>
            </a:r>
            <a:r>
              <a:rPr lang="fr-FR" dirty="0"/>
              <a:t>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useful</a:t>
            </a:r>
            <a:r>
              <a:rPr lang="fr-FR" dirty="0"/>
              <a:t> if </a:t>
            </a:r>
            <a:r>
              <a:rPr lang="fr-FR" dirty="0" err="1"/>
              <a:t>nobody</a:t>
            </a:r>
            <a:r>
              <a:rPr lang="fr-FR" dirty="0"/>
              <a:t> can </a:t>
            </a:r>
            <a:r>
              <a:rPr lang="fr-FR" dirty="0" err="1"/>
              <a:t>interpret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692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Early entry and </a:t>
            </a:r>
            <a:r>
              <a:rPr lang="fr-FR" sz="1200" dirty="0" err="1">
                <a:solidFill>
                  <a:schemeClr val="tx1"/>
                </a:solidFill>
              </a:rPr>
              <a:t>late</a:t>
            </a:r>
            <a:r>
              <a:rPr lang="fr-FR" sz="1200" dirty="0">
                <a:solidFill>
                  <a:schemeClr val="tx1"/>
                </a:solidFill>
              </a:rPr>
              <a:t> entry </a:t>
            </a:r>
            <a:r>
              <a:rPr lang="fr-FR" sz="1200" dirty="0" err="1">
                <a:solidFill>
                  <a:schemeClr val="tx1"/>
                </a:solidFill>
              </a:rPr>
              <a:t>may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be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merged</a:t>
            </a:r>
            <a:endParaRPr lang="fr-F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Interruptions (care) </a:t>
            </a:r>
            <a:r>
              <a:rPr lang="fr-FR" sz="1200" dirty="0" err="1">
                <a:solidFill>
                  <a:schemeClr val="tx1"/>
                </a:solidFill>
              </a:rPr>
              <a:t>may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disappear</a:t>
            </a:r>
            <a:endParaRPr lang="fr-F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Upward and </a:t>
            </a:r>
            <a:r>
              <a:rPr lang="fr-FR" sz="1200" dirty="0" err="1">
                <a:solidFill>
                  <a:schemeClr val="tx1"/>
                </a:solidFill>
              </a:rPr>
              <a:t>downward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trajectories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may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be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hidden</a:t>
            </a:r>
            <a:r>
              <a:rPr lang="fr-FR" sz="1200" dirty="0">
                <a:solidFill>
                  <a:schemeClr val="tx1"/>
                </a:solidFill>
              </a:rPr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701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Problem</a:t>
            </a:r>
            <a:r>
              <a:rPr lang="fr-FR" dirty="0"/>
              <a:t>:</a:t>
            </a:r>
          </a:p>
          <a:p>
            <a:r>
              <a:rPr lang="fr-FR" dirty="0"/>
              <a:t>clusters </a:t>
            </a:r>
            <a:r>
              <a:rPr lang="fr-FR" dirty="0" err="1"/>
              <a:t>become</a:t>
            </a:r>
            <a:r>
              <a:rPr lang="fr-FR" dirty="0"/>
              <a:t> </a:t>
            </a:r>
            <a:r>
              <a:rPr lang="fr-FR" dirty="0" err="1"/>
              <a:t>tiny</a:t>
            </a:r>
            <a:r>
              <a:rPr lang="fr-FR" dirty="0"/>
              <a:t>; </a:t>
            </a:r>
          </a:p>
          <a:p>
            <a:r>
              <a:rPr lang="fr-FR" dirty="0"/>
              <a:t>labels </a:t>
            </a:r>
            <a:r>
              <a:rPr lang="fr-FR" dirty="0" err="1"/>
              <a:t>become</a:t>
            </a:r>
            <a:r>
              <a:rPr lang="fr-FR" dirty="0"/>
              <a:t> </a:t>
            </a:r>
            <a:r>
              <a:rPr lang="fr-FR" dirty="0" err="1"/>
              <a:t>arbitrary</a:t>
            </a:r>
            <a:r>
              <a:rPr lang="fr-FR" dirty="0"/>
              <a:t>; </a:t>
            </a:r>
          </a:p>
          <a:p>
            <a:r>
              <a:rPr lang="fr-FR" dirty="0" err="1"/>
              <a:t>interpretation</a:t>
            </a:r>
            <a:r>
              <a:rPr lang="fr-FR" dirty="0"/>
              <a:t> </a:t>
            </a:r>
            <a:r>
              <a:rPr lang="fr-FR" dirty="0" err="1"/>
              <a:t>becomes</a:t>
            </a:r>
            <a:r>
              <a:rPr lang="fr-FR" dirty="0"/>
              <a:t> </a:t>
            </a:r>
            <a:r>
              <a:rPr lang="fr-FR" dirty="0" err="1"/>
              <a:t>unstable</a:t>
            </a:r>
            <a:r>
              <a:rPr lang="fr-FR" dirty="0"/>
              <a:t>; </a:t>
            </a:r>
          </a:p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</a:t>
            </a:r>
            <a:r>
              <a:rPr lang="fr-FR" dirty="0" err="1"/>
              <a:t>underpowered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34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best solution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simply</a:t>
            </a:r>
            <a:r>
              <a:rPr lang="fr-FR" dirty="0"/>
              <a:t> the one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highest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in 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897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dirty="0" err="1"/>
              <a:t>Typical</a:t>
            </a:r>
            <a:r>
              <a:rPr lang="fi-FI" dirty="0"/>
              <a:t> </a:t>
            </a:r>
            <a:r>
              <a:rPr lang="fi-FI" dirty="0" err="1"/>
              <a:t>sentence</a:t>
            </a:r>
            <a:r>
              <a:rPr lang="fi-FI" dirty="0"/>
              <a:t>: </a:t>
            </a:r>
            <a:r>
              <a:rPr lang="fr-FR" dirty="0"/>
              <a:t>« This cluster </a:t>
            </a:r>
            <a:r>
              <a:rPr lang="fr-FR" dirty="0" err="1"/>
              <a:t>contains</a:t>
            </a:r>
            <a:r>
              <a:rPr lang="fr-FR" dirty="0"/>
              <a:t> people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mostly</a:t>
            </a:r>
            <a:r>
              <a:rPr lang="fr-FR" dirty="0"/>
              <a:t> -------, </a:t>
            </a:r>
            <a:r>
              <a:rPr lang="fr-FR" dirty="0" err="1"/>
              <a:t>with</a:t>
            </a:r>
            <a:r>
              <a:rPr lang="fr-FR" dirty="0"/>
              <a:t> transitions </a:t>
            </a:r>
            <a:r>
              <a:rPr lang="fr-FR" dirty="0" err="1"/>
              <a:t>occurring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----------. »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465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Use </a:t>
            </a:r>
            <a:r>
              <a:rPr lang="fr-FR" dirty="0" err="1"/>
              <a:t>these</a:t>
            </a:r>
            <a:r>
              <a:rPr lang="fr-FR" dirty="0"/>
              <a:t> plots to </a:t>
            </a:r>
            <a:r>
              <a:rPr lang="fr-FR" dirty="0" err="1"/>
              <a:t>see</a:t>
            </a:r>
            <a:r>
              <a:rPr lang="fr-F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dominant state at </a:t>
            </a:r>
            <a:r>
              <a:rPr lang="fr-FR" dirty="0" err="1"/>
              <a:t>each</a:t>
            </a:r>
            <a:r>
              <a:rPr lang="fr-FR" dirty="0"/>
              <a:t> time point;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timing of transitions;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how group composition changes over time;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differences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clusters.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442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Use index plots to </a:t>
            </a:r>
            <a:r>
              <a:rPr lang="fr-FR" dirty="0" err="1"/>
              <a:t>see</a:t>
            </a:r>
            <a:r>
              <a:rPr lang="fr-F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inside</a:t>
            </a:r>
            <a:r>
              <a:rPr lang="fr-FR" dirty="0"/>
              <a:t> clusters;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whether</a:t>
            </a:r>
            <a:r>
              <a:rPr lang="fr-FR" dirty="0"/>
              <a:t> cases are </a:t>
            </a:r>
            <a:r>
              <a:rPr lang="fr-FR" dirty="0" err="1"/>
              <a:t>really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outliers</a:t>
            </a:r>
            <a:r>
              <a:rPr lang="fr-FR" dirty="0"/>
              <a:t> or </a:t>
            </a:r>
            <a:r>
              <a:rPr lang="fr-FR" dirty="0" err="1"/>
              <a:t>poorly</a:t>
            </a:r>
            <a:r>
              <a:rPr lang="fr-FR" dirty="0"/>
              <a:t> </a:t>
            </a:r>
            <a:r>
              <a:rPr lang="fr-FR" dirty="0" err="1"/>
              <a:t>assigned</a:t>
            </a:r>
            <a:r>
              <a:rPr lang="fr-FR" dirty="0"/>
              <a:t> cases;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internal</a:t>
            </a:r>
            <a:r>
              <a:rPr lang="fr-FR" dirty="0"/>
              <a:t> timing </a:t>
            </a:r>
            <a:r>
              <a:rPr lang="fr-FR" dirty="0" err="1"/>
              <a:t>differences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85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Use </a:t>
            </a:r>
            <a:r>
              <a:rPr lang="fr-FR" dirty="0" err="1"/>
              <a:t>these</a:t>
            </a:r>
            <a:r>
              <a:rPr lang="fr-FR" dirty="0"/>
              <a:t> plots to </a:t>
            </a:r>
            <a:r>
              <a:rPr lang="fr-FR" dirty="0" err="1"/>
              <a:t>see</a:t>
            </a:r>
            <a:r>
              <a:rPr lang="fr-F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dominant state at </a:t>
            </a:r>
            <a:r>
              <a:rPr lang="fr-FR" dirty="0" err="1"/>
              <a:t>each</a:t>
            </a:r>
            <a:r>
              <a:rPr lang="fr-FR" dirty="0"/>
              <a:t> time point;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timing of transitions;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how group composition changes over time;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differences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clusters.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032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Good </a:t>
            </a:r>
            <a:r>
              <a:rPr lang="fr-FR" dirty="0" err="1"/>
              <a:t>interpretation</a:t>
            </a:r>
            <a:r>
              <a:rPr lang="fr-FR" dirty="0"/>
              <a:t> combines plots and </a:t>
            </a:r>
            <a:r>
              <a:rPr lang="fr-FR" dirty="0" err="1"/>
              <a:t>numbers</a:t>
            </a:r>
            <a:r>
              <a:rPr lang="fr-FR" dirty="0"/>
              <a:t>.</a:t>
            </a:r>
          </a:p>
          <a:p>
            <a:r>
              <a:rPr lang="fr-FR" dirty="0" err="1"/>
              <a:t>TraMineR</a:t>
            </a:r>
            <a:r>
              <a:rPr lang="fr-FR" dirty="0"/>
              <a:t> supports longitudinal </a:t>
            </a:r>
            <a:r>
              <a:rPr lang="fr-FR" dirty="0" err="1"/>
              <a:t>characteristics</a:t>
            </a:r>
            <a:r>
              <a:rPr lang="fr-FR" dirty="0"/>
              <a:t>, </a:t>
            </a:r>
            <a:r>
              <a:rPr lang="fr-FR" dirty="0" err="1"/>
              <a:t>pairwise</a:t>
            </a:r>
            <a:r>
              <a:rPr lang="fr-FR" dirty="0"/>
              <a:t> </a:t>
            </a:r>
            <a:r>
              <a:rPr lang="fr-FR" dirty="0" err="1"/>
              <a:t>dissimilarities</a:t>
            </a:r>
            <a:r>
              <a:rPr lang="fr-FR" dirty="0"/>
              <a:t> and multiple visualisations for state </a:t>
            </a:r>
            <a:r>
              <a:rPr lang="fr-FR" dirty="0" err="1"/>
              <a:t>sequences</a:t>
            </a:r>
            <a:r>
              <a:rPr lang="fr-FR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08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Label </a:t>
            </a:r>
            <a:r>
              <a:rPr lang="fr-FR" dirty="0" err="1"/>
              <a:t>what</a:t>
            </a:r>
            <a:r>
              <a:rPr lang="fr-FR" dirty="0"/>
              <a:t> the </a:t>
            </a:r>
            <a:r>
              <a:rPr lang="fr-FR" dirty="0" err="1"/>
              <a:t>trajectory</a:t>
            </a:r>
            <a:r>
              <a:rPr lang="fr-FR" dirty="0"/>
              <a:t> shows, not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assume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means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326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Do not use </a:t>
            </a:r>
            <a:r>
              <a:rPr lang="fr-FR" dirty="0" err="1"/>
              <a:t>covariates</a:t>
            </a:r>
            <a:r>
              <a:rPr lang="fr-FR" dirty="0"/>
              <a:t> to “</a:t>
            </a:r>
            <a:r>
              <a:rPr lang="fr-FR" dirty="0" err="1"/>
              <a:t>prove</a:t>
            </a:r>
            <a:r>
              <a:rPr lang="fr-FR" dirty="0"/>
              <a:t>” </a:t>
            </a:r>
            <a:r>
              <a:rPr lang="fr-FR" dirty="0" err="1"/>
              <a:t>that</a:t>
            </a:r>
            <a:r>
              <a:rPr lang="fr-FR" dirty="0"/>
              <a:t> clusters are real. Use </a:t>
            </a:r>
            <a:r>
              <a:rPr lang="fr-FR" dirty="0" err="1"/>
              <a:t>them</a:t>
            </a:r>
            <a:r>
              <a:rPr lang="fr-FR" dirty="0"/>
              <a:t> to </a:t>
            </a:r>
            <a:r>
              <a:rPr lang="fr-FR" dirty="0" err="1"/>
              <a:t>understand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follows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565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credible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readers</a:t>
            </a:r>
            <a:r>
              <a:rPr lang="fr-FR" dirty="0"/>
              <a:t> can </a:t>
            </a:r>
            <a:r>
              <a:rPr lang="fr-FR" dirty="0" err="1"/>
              <a:t>understand</a:t>
            </a:r>
            <a:r>
              <a:rPr lang="fr-FR" dirty="0"/>
              <a:t> how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built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613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“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cluster solution </a:t>
            </a:r>
            <a:r>
              <a:rPr lang="fr-FR" dirty="0" err="1"/>
              <a:t>useful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question?”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448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By the end of Session 3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already</a:t>
            </a:r>
            <a:r>
              <a:rPr lang="fr-FR" dirty="0"/>
              <a:t> have: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research</a:t>
            </a:r>
            <a:r>
              <a:rPr lang="fr-FR" dirty="0"/>
              <a:t>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population, states, time axis/unit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descriptive </a:t>
            </a:r>
            <a:r>
              <a:rPr lang="fr-FR" dirty="0" err="1"/>
              <a:t>sequence</a:t>
            </a:r>
            <a:r>
              <a:rPr lang="fr-FR" dirty="0"/>
              <a:t> figure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distance </a:t>
            </a:r>
            <a:r>
              <a:rPr lang="fr-FR" dirty="0" err="1"/>
              <a:t>measure</a:t>
            </a:r>
            <a:r>
              <a:rPr lang="fr-FR" dirty="0"/>
              <a:t> and </a:t>
            </a:r>
            <a:r>
              <a:rPr lang="fr-FR" dirty="0" err="1"/>
              <a:t>justificatin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preferred</a:t>
            </a:r>
            <a:r>
              <a:rPr lang="fr-FR" dirty="0"/>
              <a:t> cluster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cluster labels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main </a:t>
            </a:r>
            <a:r>
              <a:rPr lang="fr-FR" dirty="0" err="1"/>
              <a:t>typology</a:t>
            </a:r>
            <a:r>
              <a:rPr lang="fr-FR" dirty="0"/>
              <a:t> figure.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413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Explanation</a:t>
            </a:r>
            <a:r>
              <a:rPr lang="fr-FR" b="1" dirty="0"/>
              <a:t>: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hclust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 </a:t>
            </a:r>
            <a:r>
              <a:rPr lang="fr-FR" dirty="0" err="1"/>
              <a:t>builds</a:t>
            </a:r>
            <a:r>
              <a:rPr lang="fr-FR" dirty="0"/>
              <a:t> the </a:t>
            </a:r>
            <a:r>
              <a:rPr lang="fr-FR" dirty="0" err="1"/>
              <a:t>tree</a:t>
            </a:r>
            <a:r>
              <a:rPr lang="fr-F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cutree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 </a:t>
            </a:r>
            <a:r>
              <a:rPr lang="fr-FR" dirty="0" err="1"/>
              <a:t>chooses</a:t>
            </a:r>
            <a:r>
              <a:rPr lang="fr-FR" dirty="0"/>
              <a:t> the </a:t>
            </a:r>
            <a:r>
              <a:rPr lang="fr-FR" dirty="0" err="1"/>
              <a:t>number</a:t>
            </a:r>
            <a:r>
              <a:rPr lang="fr-FR" dirty="0"/>
              <a:t> of clusters.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cluster4</a:t>
            </a:r>
            <a:r>
              <a:rPr lang="fr-FR" dirty="0"/>
              <a:t> </a:t>
            </a:r>
            <a:r>
              <a:rPr lang="fr-FR" dirty="0" err="1"/>
              <a:t>becomes</a:t>
            </a:r>
            <a:r>
              <a:rPr lang="fr-FR" dirty="0"/>
              <a:t> a </a:t>
            </a:r>
            <a:r>
              <a:rPr lang="fr-FR" dirty="0" err="1"/>
              <a:t>categorical</a:t>
            </a:r>
            <a:r>
              <a:rPr lang="fr-FR" dirty="0"/>
              <a:t> variable. </a:t>
            </a:r>
          </a:p>
          <a:p>
            <a:r>
              <a:rPr lang="fr-FR" dirty="0" err="1"/>
              <a:t>WeightedCluster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</a:t>
            </a:r>
            <a:r>
              <a:rPr lang="fr-FR" dirty="0" err="1"/>
              <a:t>examples</a:t>
            </a:r>
            <a:r>
              <a:rPr lang="fr-FR" dirty="0"/>
              <a:t> of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hierarchical</a:t>
            </a:r>
            <a:r>
              <a:rPr lang="fr-FR" dirty="0"/>
              <a:t> clustering </a:t>
            </a:r>
            <a:r>
              <a:rPr lang="fr-FR" dirty="0" err="1"/>
              <a:t>with</a:t>
            </a:r>
            <a:r>
              <a:rPr lang="fr-FR" dirty="0"/>
              <a:t> a distance matrix and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visualising</a:t>
            </a:r>
            <a:r>
              <a:rPr lang="fr-FR" dirty="0"/>
              <a:t>/</a:t>
            </a:r>
            <a:r>
              <a:rPr lang="fr-FR" dirty="0" err="1"/>
              <a:t>assessing</a:t>
            </a:r>
            <a:r>
              <a:rPr lang="fr-FR" dirty="0"/>
              <a:t> solutions. 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255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TraMineR’s</a:t>
            </a:r>
            <a:r>
              <a:rPr lang="fr-FR" dirty="0"/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seqplot</a:t>
            </a:r>
            <a:r>
              <a:rPr lang="fr-FR" dirty="0"/>
              <a:t> </a:t>
            </a:r>
            <a:r>
              <a:rPr lang="fr-FR" dirty="0" err="1"/>
              <a:t>family</a:t>
            </a:r>
            <a:r>
              <a:rPr lang="fr-FR" dirty="0"/>
              <a:t> </a:t>
            </a:r>
            <a:r>
              <a:rPr lang="fr-FR" dirty="0" err="1"/>
              <a:t>includes</a:t>
            </a:r>
            <a:r>
              <a:rPr lang="fr-FR" dirty="0"/>
              <a:t> state distribution plots, index plots, modal state plots, </a:t>
            </a:r>
            <a:r>
              <a:rPr lang="fr-FR" dirty="0" err="1"/>
              <a:t>mean</a:t>
            </a:r>
            <a:r>
              <a:rPr lang="fr-FR" dirty="0"/>
              <a:t> time plots and </a:t>
            </a:r>
            <a:r>
              <a:rPr lang="fr-FR" dirty="0" err="1"/>
              <a:t>representative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plots.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752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Explanation</a:t>
            </a:r>
            <a:r>
              <a:rPr lang="fr-FR" b="1" dirty="0"/>
              <a:t>:</a:t>
            </a:r>
            <a:endParaRPr lang="fr-FR" dirty="0"/>
          </a:p>
          <a:p>
            <a:r>
              <a:rPr lang="fr-FR" dirty="0" err="1"/>
              <a:t>Quality</a:t>
            </a:r>
            <a:r>
              <a:rPr lang="fr-FR" dirty="0"/>
              <a:t> </a:t>
            </a:r>
            <a:r>
              <a:rPr lang="fr-FR" dirty="0" err="1"/>
              <a:t>indicators</a:t>
            </a:r>
            <a:r>
              <a:rPr lang="fr-FR" dirty="0"/>
              <a:t> help compare solutions. </a:t>
            </a:r>
          </a:p>
          <a:p>
            <a:r>
              <a:rPr lang="fr-FR" dirty="0"/>
              <a:t>They do not </a:t>
            </a: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dirty="0" err="1"/>
              <a:t>automatically</a:t>
            </a:r>
            <a:r>
              <a:rPr lang="fr-FR" dirty="0"/>
              <a:t>. </a:t>
            </a:r>
          </a:p>
          <a:p>
            <a:r>
              <a:rPr lang="fr-FR" dirty="0"/>
              <a:t>Use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plots and </a:t>
            </a:r>
            <a:r>
              <a:rPr lang="fr-FR" dirty="0" err="1"/>
              <a:t>interpretation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D381F-854D-4AF2-AC90-727E9865A26F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5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C467-28EA-5DD0-2CE0-2F855BF4F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87CF1-461F-9CC4-5D6A-6C6CFC938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CF507-AD17-7F53-4313-D202087A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8619-6A21-9993-4528-58E71308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82D48-DA73-1DF2-7479-6CB5CED8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32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B006-8074-0D9D-5EDB-C0A0BD46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96BA0-FD22-F94C-3BDB-8B45BF915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F30B8-AB47-825C-EF92-F9A634FF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4B5F8-0AB8-DDEA-27D3-6810ACED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84985-66DB-1A3E-C1FC-3E88580A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97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1370-9FF3-492E-1D6B-FFFE7619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9952-C7E8-C9C4-3B64-8BAB205F2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E5280-26BC-6244-EADC-3970E858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A613-CB08-1F8B-9458-77396095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01FA-ADA6-7DEE-6438-BCB3715C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2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250D-F346-7D3B-0552-38DB0C68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DBAB-AD49-5845-1AF0-807475C56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AEA20-7221-757E-DB95-8AC1EB032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F2714-FA5D-D4A4-4443-FA91057A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F6196-AE8A-511D-7990-6B634D80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CFF3B-BA90-5333-BF4E-135A39C5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33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A8B5-8313-F6A7-3EC1-087CB6D0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D780F-F91F-BCAC-F36B-A3A41882C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F73E2-A9D7-9D0B-A98E-1665B2C74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C437-EA12-E9A1-47F7-9BA30AC7C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9D92E-5872-67A6-229B-1E1FDD3E3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18C2E-FDF3-D58E-3478-B3EE359F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B7817-05A2-8586-B272-1166A493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B139A-D697-4F73-9CB4-46D569FC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63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BD2C-8A82-573A-49B7-3CDB361C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9A2E1-FBF1-0F5F-CF33-02E759EF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226CC-F9D7-BE47-90F0-B6965A7D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D211-A350-8442-1E04-A0F942A9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33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2BC33-05CB-C77E-2911-3CB23604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C6CC6-D906-8966-1E58-49F8DDE9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71C3-E023-80D2-40F8-E64070D0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12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508D-D601-7093-0384-6751EFA9D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194C-2EB1-DCFD-DAB4-116CBDCC8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1A074-0654-A242-2EF3-0D5C59BA4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20FA6-4EC3-338F-C4C0-F3DDAE3D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BA3CE-1945-46F4-CDFC-207A645F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D2A5D-F130-93E3-1DF3-6FA07F96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64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C901-98FB-C0B2-CC05-1293F6B8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2BA10-5D26-3388-1C18-85A6DD628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2F6DF-5B70-CCFD-DD96-F51D50156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3D7A8-97C0-D33E-7D24-DF290C2A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115CB-45BF-3CDB-C736-63E22497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ACB1F-790F-4351-EA66-1276A1FB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41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735D-3D9B-10BC-9812-827BE976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AB2CD-4D16-4004-0E44-712D71445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A9080-9BD4-3CD7-8EF9-9EB35CA4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0836-E50E-F8CC-B32F-FE45C36C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DFBE0-EA46-A195-F9BF-50C5071D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6FA21-2763-E28F-DBD5-9DE5F9450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D8409-9A9F-DB8D-E4E8-036DF98B9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C18D-BB1B-E9AE-4DA7-5A776303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BBF7E-FD64-6A42-93C8-E65686D9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18EC5-4E8D-F8FE-056D-AA560761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62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EDD72-F342-265F-1779-35E00605F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B4E29-C9C6-B447-368E-4A8B8727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C77F0-BCC0-0141-AB57-D16AFA9B8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167F1-E976-4A4A-AA01-8A5B1588A914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F0B4E-80C6-C18E-D90B-D366B10B7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EC552-4F83-8872-0858-BE2FB9630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F1274-927D-4A06-8C82-B8DBB50E5C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8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421E-E006-3F37-FACE-8163E18AD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Lesson</a:t>
            </a:r>
            <a:r>
              <a:rPr lang="fi-FI" dirty="0"/>
              <a:t> 3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0F3A3-6CD0-E202-7291-4924394ED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65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AAB6-6904-7640-4E25-22746AEC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8D9F-D0C7-36E5-39B7-86B96BDB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Identifying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types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34051C6-BD6B-CEBC-BFE8-4ECBF38C3E6C}"/>
              </a:ext>
            </a:extLst>
          </p:cNvPr>
          <p:cNvSpPr/>
          <p:nvPr/>
        </p:nvSpPr>
        <p:spPr>
          <a:xfrm>
            <a:off x="1208311" y="5604925"/>
            <a:ext cx="8425545" cy="263397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9963C3E-917E-3C84-B001-5BC579F1E1FF}"/>
              </a:ext>
            </a:extLst>
          </p:cNvPr>
          <p:cNvSpPr/>
          <p:nvPr/>
        </p:nvSpPr>
        <p:spPr>
          <a:xfrm>
            <a:off x="1208311" y="4238752"/>
            <a:ext cx="8425545" cy="26339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6A1E4D7-7C79-4FBE-5151-4250BFF73853}"/>
              </a:ext>
            </a:extLst>
          </p:cNvPr>
          <p:cNvSpPr/>
          <p:nvPr/>
        </p:nvSpPr>
        <p:spPr>
          <a:xfrm>
            <a:off x="1208314" y="3328094"/>
            <a:ext cx="8425545" cy="263397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C15B413-2C75-E132-6234-BA0DE92B1D39}"/>
              </a:ext>
            </a:extLst>
          </p:cNvPr>
          <p:cNvSpPr/>
          <p:nvPr/>
        </p:nvSpPr>
        <p:spPr>
          <a:xfrm>
            <a:off x="1208314" y="3783423"/>
            <a:ext cx="8425545" cy="263397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52DA834-774A-10FA-69A1-5288D5B80476}"/>
              </a:ext>
            </a:extLst>
          </p:cNvPr>
          <p:cNvSpPr/>
          <p:nvPr/>
        </p:nvSpPr>
        <p:spPr>
          <a:xfrm>
            <a:off x="1208311" y="2918620"/>
            <a:ext cx="8425545" cy="263397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2055F7F-F227-D477-8E52-646C29278C78}"/>
              </a:ext>
            </a:extLst>
          </p:cNvPr>
          <p:cNvSpPr/>
          <p:nvPr/>
        </p:nvSpPr>
        <p:spPr>
          <a:xfrm>
            <a:off x="1208313" y="4680502"/>
            <a:ext cx="8425545" cy="263397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3B9B012A-EFF9-6E36-9712-9A5570CA7172}"/>
              </a:ext>
            </a:extLst>
          </p:cNvPr>
          <p:cNvSpPr/>
          <p:nvPr/>
        </p:nvSpPr>
        <p:spPr>
          <a:xfrm>
            <a:off x="1208312" y="5144633"/>
            <a:ext cx="8425545" cy="263397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AE4E1393-1938-F57D-0189-573618612584}"/>
              </a:ext>
            </a:extLst>
          </p:cNvPr>
          <p:cNvSpPr/>
          <p:nvPr/>
        </p:nvSpPr>
        <p:spPr>
          <a:xfrm>
            <a:off x="1208312" y="2095031"/>
            <a:ext cx="8425545" cy="26339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36E7B46C-8F70-F03B-1000-4676874FD450}"/>
              </a:ext>
            </a:extLst>
          </p:cNvPr>
          <p:cNvSpPr/>
          <p:nvPr/>
        </p:nvSpPr>
        <p:spPr>
          <a:xfrm>
            <a:off x="1208311" y="2547498"/>
            <a:ext cx="8425545" cy="263397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69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C0D1-AD4D-CD26-48BE-D4A3B613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Identifying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EB93-7881-2441-3E4B-7659A858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6695"/>
            <a:ext cx="8885454" cy="3760267"/>
          </a:xfrm>
        </p:spPr>
        <p:txBody>
          <a:bodyPr/>
          <a:lstStyle/>
          <a:p>
            <a:endParaRPr lang="fr-FR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C01D617-0C8D-20AF-DCAA-622307659E99}"/>
              </a:ext>
            </a:extLst>
          </p:cNvPr>
          <p:cNvSpPr/>
          <p:nvPr/>
        </p:nvSpPr>
        <p:spPr>
          <a:xfrm>
            <a:off x="1208314" y="2490688"/>
            <a:ext cx="8425545" cy="263397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A0CE1C4-CA57-5096-5193-CD316D5C3D04}"/>
              </a:ext>
            </a:extLst>
          </p:cNvPr>
          <p:cNvSpPr/>
          <p:nvPr/>
        </p:nvSpPr>
        <p:spPr>
          <a:xfrm>
            <a:off x="1208314" y="2888357"/>
            <a:ext cx="8425545" cy="26339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9C7701B-2FAB-36B5-2712-C1EF7343033E}"/>
              </a:ext>
            </a:extLst>
          </p:cNvPr>
          <p:cNvSpPr/>
          <p:nvPr/>
        </p:nvSpPr>
        <p:spPr>
          <a:xfrm>
            <a:off x="1208314" y="3328094"/>
            <a:ext cx="8425545" cy="263397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B6BDA84-0D69-B4CD-4990-E3B2C0273CA3}"/>
              </a:ext>
            </a:extLst>
          </p:cNvPr>
          <p:cNvSpPr/>
          <p:nvPr/>
        </p:nvSpPr>
        <p:spPr>
          <a:xfrm>
            <a:off x="1208314" y="3783423"/>
            <a:ext cx="8425545" cy="263397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1E970E0D-FFDD-3612-92A3-5DB6524D64F2}"/>
              </a:ext>
            </a:extLst>
          </p:cNvPr>
          <p:cNvSpPr/>
          <p:nvPr/>
        </p:nvSpPr>
        <p:spPr>
          <a:xfrm>
            <a:off x="1208314" y="4240765"/>
            <a:ext cx="8425545" cy="263397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EED667A3-2361-184A-1263-93C09EEA335E}"/>
              </a:ext>
            </a:extLst>
          </p:cNvPr>
          <p:cNvSpPr/>
          <p:nvPr/>
        </p:nvSpPr>
        <p:spPr>
          <a:xfrm>
            <a:off x="1208313" y="4680502"/>
            <a:ext cx="8425545" cy="263397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A7410405-02B8-CDCD-F4E8-8EABF411AE36}"/>
              </a:ext>
            </a:extLst>
          </p:cNvPr>
          <p:cNvSpPr/>
          <p:nvPr/>
        </p:nvSpPr>
        <p:spPr>
          <a:xfrm>
            <a:off x="1208312" y="5144633"/>
            <a:ext cx="8425545" cy="263397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4E0FBF0A-7CCC-D0B9-9C62-F18294D64335}"/>
              </a:ext>
            </a:extLst>
          </p:cNvPr>
          <p:cNvSpPr/>
          <p:nvPr/>
        </p:nvSpPr>
        <p:spPr>
          <a:xfrm>
            <a:off x="1208312" y="2095031"/>
            <a:ext cx="8425545" cy="26339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F062A481-FEC4-3B5A-F512-0C64A5116C31}"/>
              </a:ext>
            </a:extLst>
          </p:cNvPr>
          <p:cNvSpPr/>
          <p:nvPr/>
        </p:nvSpPr>
        <p:spPr>
          <a:xfrm>
            <a:off x="1208312" y="5584370"/>
            <a:ext cx="8425545" cy="263397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5FC93AB-7141-85E1-38B2-C3676002A715}"/>
              </a:ext>
            </a:extLst>
          </p:cNvPr>
          <p:cNvSpPr/>
          <p:nvPr/>
        </p:nvSpPr>
        <p:spPr>
          <a:xfrm>
            <a:off x="9862457" y="2002971"/>
            <a:ext cx="231311" cy="16764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F59A5495-350C-5015-7DF4-6A9281197785}"/>
              </a:ext>
            </a:extLst>
          </p:cNvPr>
          <p:cNvSpPr/>
          <p:nvPr/>
        </p:nvSpPr>
        <p:spPr>
          <a:xfrm>
            <a:off x="9888313" y="3783423"/>
            <a:ext cx="205455" cy="79946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918D2696-3581-F715-2D06-7F787A43B91E}"/>
              </a:ext>
            </a:extLst>
          </p:cNvPr>
          <p:cNvSpPr/>
          <p:nvPr/>
        </p:nvSpPr>
        <p:spPr>
          <a:xfrm>
            <a:off x="9901241" y="4713159"/>
            <a:ext cx="192525" cy="113460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B30FFE-3EA4-9942-88BD-5D289E293D5B}"/>
              </a:ext>
            </a:extLst>
          </p:cNvPr>
          <p:cNvSpPr txBox="1"/>
          <p:nvPr/>
        </p:nvSpPr>
        <p:spPr>
          <a:xfrm>
            <a:off x="10325100" y="2870912"/>
            <a:ext cx="1317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Trajectory</a:t>
            </a:r>
            <a:r>
              <a:rPr lang="fi-FI" dirty="0"/>
              <a:t> </a:t>
            </a:r>
            <a:r>
              <a:rPr lang="fi-FI" dirty="0" err="1"/>
              <a:t>types</a:t>
            </a:r>
            <a:endParaRPr lang="fi-FI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190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0DB2-021C-B9F0-A5B7-48120CCB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Where </a:t>
            </a:r>
            <a:r>
              <a:rPr lang="fr-FR" dirty="0" err="1"/>
              <a:t>we</a:t>
            </a:r>
            <a:r>
              <a:rPr lang="fr-FR" dirty="0"/>
              <a:t> are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02294C-D549-33F2-B035-6AD80746F7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939450"/>
              </p:ext>
            </p:extLst>
          </p:nvPr>
        </p:nvGraphicFramePr>
        <p:xfrm>
          <a:off x="838200" y="2517731"/>
          <a:ext cx="10515600" cy="365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3DF5B8-52CC-30AF-D9A6-CB7F5C3CB9C8}"/>
              </a:ext>
            </a:extLst>
          </p:cNvPr>
          <p:cNvSpPr txBox="1"/>
          <p:nvPr/>
        </p:nvSpPr>
        <p:spPr>
          <a:xfrm>
            <a:off x="2107503" y="1690688"/>
            <a:ext cx="8476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 err="1"/>
              <a:t>build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describe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compare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b="1" dirty="0"/>
              <a:t>cluster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interpret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7612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90D2-FEC5-4ED7-D704-4C75FAB5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Recap: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distances do for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2B209-EC77-5712-6089-4D78C610B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Anna</a:t>
            </a:r>
          </a:p>
          <a:p>
            <a:r>
              <a:rPr lang="fi-FI" dirty="0"/>
              <a:t>Ben</a:t>
            </a:r>
          </a:p>
          <a:p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matrix</a:t>
            </a:r>
            <a:r>
              <a:rPr lang="fi-FI" dirty="0"/>
              <a:t>:</a:t>
            </a:r>
          </a:p>
          <a:p>
            <a:endParaRPr lang="fi-FI" dirty="0"/>
          </a:p>
          <a:p>
            <a:endParaRPr lang="fi-FI" dirty="0"/>
          </a:p>
          <a:p>
            <a:pPr lvl="1"/>
            <a:r>
              <a:rPr lang="fr-FR" dirty="0"/>
              <a:t>Distances </a:t>
            </a:r>
            <a:r>
              <a:rPr lang="fr-FR" dirty="0" err="1"/>
              <a:t>quantify</a:t>
            </a:r>
            <a:r>
              <a:rPr lang="fr-FR" dirty="0"/>
              <a:t> how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are. </a:t>
            </a:r>
          </a:p>
          <a:p>
            <a:pPr lvl="1"/>
            <a:r>
              <a:rPr lang="fr-FR" dirty="0"/>
              <a:t>Small distance =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Large distance = </a:t>
            </a:r>
            <a:r>
              <a:rPr lang="fr-FR" dirty="0" err="1"/>
              <a:t>dissimilar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A distance matrix compares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to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.</a:t>
            </a:r>
            <a:endParaRPr lang="fi-FI" dirty="0"/>
          </a:p>
          <a:p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D4A7B8-6EA7-A149-BF40-9E4805808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997880"/>
              </p:ext>
            </p:extLst>
          </p:nvPr>
        </p:nvGraphicFramePr>
        <p:xfrm>
          <a:off x="4027714" y="2911725"/>
          <a:ext cx="6309360" cy="10972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3747538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52967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0322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28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51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7796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1C4657-AE96-B768-BEB1-7F3C5572A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554158"/>
              </p:ext>
            </p:extLst>
          </p:nvPr>
        </p:nvGraphicFramePr>
        <p:xfrm>
          <a:off x="2452913" y="18256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DFE3D1-E642-FD8B-E320-3E7A2A028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316061"/>
              </p:ext>
            </p:extLst>
          </p:nvPr>
        </p:nvGraphicFramePr>
        <p:xfrm>
          <a:off x="2452913" y="238079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62962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35175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04371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552944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974959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1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73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9A6897D-AB70-1BF5-3176-1F6C0D97832A}"/>
              </a:ext>
            </a:extLst>
          </p:cNvPr>
          <p:cNvSpPr txBox="1"/>
          <p:nvPr/>
        </p:nvSpPr>
        <p:spPr>
          <a:xfrm>
            <a:off x="5595257" y="6123543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500" b="1" i="1" dirty="0" err="1"/>
              <a:t>Today</a:t>
            </a:r>
            <a:r>
              <a:rPr lang="fr-FR" sz="2500" b="1" i="1" dirty="0"/>
              <a:t>, </a:t>
            </a:r>
            <a:r>
              <a:rPr lang="fr-FR" sz="2500" b="1" i="1" dirty="0" err="1"/>
              <a:t>we</a:t>
            </a:r>
            <a:r>
              <a:rPr lang="fr-FR" sz="2500" b="1" i="1" dirty="0"/>
              <a:t> use </a:t>
            </a:r>
            <a:r>
              <a:rPr lang="fr-FR" sz="2500" b="1" i="1" dirty="0" err="1"/>
              <a:t>this</a:t>
            </a:r>
            <a:r>
              <a:rPr lang="fr-FR" sz="2500" b="1" i="1" dirty="0"/>
              <a:t> matrix to </a:t>
            </a:r>
            <a:r>
              <a:rPr lang="fr-FR" sz="2500" b="1" i="1" dirty="0" err="1"/>
              <a:t>build</a:t>
            </a:r>
            <a:r>
              <a:rPr lang="fr-FR" sz="2500" b="1" i="1" dirty="0"/>
              <a:t> groups.</a:t>
            </a:r>
          </a:p>
        </p:txBody>
      </p:sp>
    </p:spTree>
    <p:extLst>
      <p:ext uri="{BB962C8B-B14F-4D97-AF65-F5344CB8AC3E}">
        <p14:creationId xmlns:p14="http://schemas.microsoft.com/office/powerpoint/2010/main" val="63491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C2B8-F54B-1E2F-75D2-1B9AD3C2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question: 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summarise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meaningful</a:t>
            </a:r>
            <a:r>
              <a:rPr lang="fr-FR" dirty="0"/>
              <a:t> groups?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5AE46-2D1F-EDD5-DB73-1DB7872A1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30486" y="1776750"/>
            <a:ext cx="7761514" cy="4716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9B5E3-76AA-C05C-8DAD-F30D33D23789}"/>
              </a:ext>
            </a:extLst>
          </p:cNvPr>
          <p:cNvSpPr txBox="1"/>
          <p:nvPr/>
        </p:nvSpPr>
        <p:spPr>
          <a:xfrm>
            <a:off x="448937" y="1918768"/>
            <a:ext cx="4409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800" b="1" dirty="0"/>
              <a:t>Fig.3 </a:t>
            </a:r>
            <a:r>
              <a:rPr lang="en-US" sz="1800" dirty="0"/>
              <a:t>Index plot of women’s family history (N = 2547). </a:t>
            </a:r>
            <a:r>
              <a:rPr lang="fi-FI" sz="1800" dirty="0" err="1"/>
              <a:t>From</a:t>
            </a:r>
            <a:r>
              <a:rPr lang="fi-FI" sz="1800" dirty="0"/>
              <a:t>  </a:t>
            </a:r>
            <a:r>
              <a:rPr lang="fi-FI" sz="1800" dirty="0" err="1"/>
              <a:t>Vanhoutte</a:t>
            </a:r>
            <a:r>
              <a:rPr lang="fi-FI" sz="1800" dirty="0"/>
              <a:t> et al. (2018)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26070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5B61-C3DC-3732-7043-C64BF30E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Why clustering? </a:t>
            </a:r>
            <a:r>
              <a:rPr lang="fr-FR" dirty="0" err="1"/>
              <a:t>Reducing</a:t>
            </a:r>
            <a:r>
              <a:rPr lang="fr-FR" dirty="0"/>
              <a:t> </a:t>
            </a:r>
            <a:r>
              <a:rPr lang="fr-FR" dirty="0" err="1"/>
              <a:t>complexity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erasing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2621-43A2-DF73-4C06-46360D08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Individual</a:t>
            </a:r>
            <a:r>
              <a:rPr lang="fr-FR" dirty="0"/>
              <a:t> biographies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groups/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</a:t>
            </a:r>
            <a:r>
              <a:rPr lang="fr-FR" dirty="0" err="1"/>
              <a:t>easier</a:t>
            </a:r>
            <a:r>
              <a:rPr lang="fr-FR" dirty="0"/>
              <a:t> </a:t>
            </a:r>
            <a:r>
              <a:rPr lang="fr-FR" dirty="0" err="1"/>
              <a:t>comparison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3C666BA-063C-0E0A-B83E-C49A45D794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209267"/>
              </p:ext>
            </p:extLst>
          </p:nvPr>
        </p:nvGraphicFramePr>
        <p:xfrm>
          <a:off x="1432194" y="3121299"/>
          <a:ext cx="8919072" cy="2791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638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C391-3802-8E37-98AD-F546E251B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simple </a:t>
            </a:r>
            <a:r>
              <a:rPr lang="fr-FR" dirty="0" err="1"/>
              <a:t>example</a:t>
            </a:r>
            <a:r>
              <a:rPr lang="fr-FR" dirty="0"/>
              <a:t>: four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6A76-982C-10F8-5D9B-B50CA26A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</a:t>
            </a:r>
          </a:p>
          <a:p>
            <a:r>
              <a:rPr lang="fi-FI" dirty="0"/>
              <a:t>B</a:t>
            </a:r>
          </a:p>
          <a:p>
            <a:r>
              <a:rPr lang="fi-FI" dirty="0"/>
              <a:t>C</a:t>
            </a:r>
          </a:p>
          <a:p>
            <a:r>
              <a:rPr lang="fi-FI" dirty="0"/>
              <a:t>D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334FEC-4F2E-8832-D6DF-D111CB96103D}"/>
              </a:ext>
            </a:extLst>
          </p:cNvPr>
          <p:cNvSpPr txBox="1"/>
          <p:nvPr/>
        </p:nvSpPr>
        <p:spPr>
          <a:xfrm>
            <a:off x="1946752" y="1551053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3"/>
                </a:solidFill>
              </a:rPr>
              <a:t>Employed</a:t>
            </a:r>
            <a:endParaRPr lang="fr-FR" b="1" dirty="0">
              <a:solidFill>
                <a:schemeClr val="accent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129DF8-EA04-EFBC-5942-318B0A2F4042}"/>
              </a:ext>
            </a:extLst>
          </p:cNvPr>
          <p:cNvSpPr txBox="1"/>
          <p:nvPr/>
        </p:nvSpPr>
        <p:spPr>
          <a:xfrm>
            <a:off x="3769864" y="1551053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1">
                    <a:lumMod val="75000"/>
                  </a:schemeClr>
                </a:solidFill>
              </a:rPr>
              <a:t>Unemployed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63CE507-AF16-84D6-116B-935EAE9DE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194389"/>
              </p:ext>
            </p:extLst>
          </p:nvPr>
        </p:nvGraphicFramePr>
        <p:xfrm>
          <a:off x="1613359" y="1925903"/>
          <a:ext cx="63848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111">
                  <a:extLst>
                    <a:ext uri="{9D8B030D-6E8A-4147-A177-3AD203B41FA5}">
                      <a16:colId xmlns:a16="http://schemas.microsoft.com/office/drawing/2014/main" val="2715976608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334201624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70143077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4224327553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44819945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93584596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123343661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37465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3755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01DFA7F-4BC9-AB5B-B60F-7B1B6750A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809860"/>
              </p:ext>
            </p:extLst>
          </p:nvPr>
        </p:nvGraphicFramePr>
        <p:xfrm>
          <a:off x="1613359" y="2431680"/>
          <a:ext cx="63848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111">
                  <a:extLst>
                    <a:ext uri="{9D8B030D-6E8A-4147-A177-3AD203B41FA5}">
                      <a16:colId xmlns:a16="http://schemas.microsoft.com/office/drawing/2014/main" val="2715976608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334201624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70143077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4224327553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44819945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93584596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123343661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37465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13755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E58BD0-9325-00AE-75ED-695913763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908850"/>
              </p:ext>
            </p:extLst>
          </p:nvPr>
        </p:nvGraphicFramePr>
        <p:xfrm>
          <a:off x="1613359" y="2921404"/>
          <a:ext cx="63848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111">
                  <a:extLst>
                    <a:ext uri="{9D8B030D-6E8A-4147-A177-3AD203B41FA5}">
                      <a16:colId xmlns:a16="http://schemas.microsoft.com/office/drawing/2014/main" val="2715976608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334201624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70143077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4224327553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44819945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93584596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123343661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37465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3755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BB00EB1-C4A4-54BF-1153-569AEB43F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179301"/>
              </p:ext>
            </p:extLst>
          </p:nvPr>
        </p:nvGraphicFramePr>
        <p:xfrm>
          <a:off x="1613359" y="3418062"/>
          <a:ext cx="63848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111">
                  <a:extLst>
                    <a:ext uri="{9D8B030D-6E8A-4147-A177-3AD203B41FA5}">
                      <a16:colId xmlns:a16="http://schemas.microsoft.com/office/drawing/2014/main" val="2715976608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334201624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70143077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4224327553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44819945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935845969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1123343661"/>
                    </a:ext>
                  </a:extLst>
                </a:gridCol>
                <a:gridCol w="798111">
                  <a:extLst>
                    <a:ext uri="{9D8B030D-6E8A-4147-A177-3AD203B41FA5}">
                      <a16:colId xmlns:a16="http://schemas.microsoft.com/office/drawing/2014/main" val="237465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13755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F689EC2D-C092-91A0-8007-C7504C48C948}"/>
              </a:ext>
            </a:extLst>
          </p:cNvPr>
          <p:cNvSpPr txBox="1"/>
          <p:nvPr/>
        </p:nvSpPr>
        <p:spPr>
          <a:xfrm>
            <a:off x="5884056" y="1545535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accent2"/>
                </a:solidFill>
              </a:rPr>
              <a:t>Studies</a:t>
            </a: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2ACA80-0220-510F-81C2-152FB78B7A50}"/>
              </a:ext>
            </a:extLst>
          </p:cNvPr>
          <p:cNvSpPr txBox="1"/>
          <p:nvPr/>
        </p:nvSpPr>
        <p:spPr>
          <a:xfrm>
            <a:off x="8327646" y="1914867"/>
            <a:ext cx="240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/>
              <a:t>Stable</a:t>
            </a:r>
            <a:r>
              <a:rPr lang="fi-FI" b="1" dirty="0"/>
              <a:t> </a:t>
            </a:r>
            <a:r>
              <a:rPr lang="fi-FI" b="1" dirty="0" err="1"/>
              <a:t>employment</a:t>
            </a:r>
            <a:endParaRPr lang="fr-FR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F7612A-61B0-EF25-6650-7167470BE70C}"/>
              </a:ext>
            </a:extLst>
          </p:cNvPr>
          <p:cNvSpPr txBox="1"/>
          <p:nvPr/>
        </p:nvSpPr>
        <p:spPr>
          <a:xfrm>
            <a:off x="8327646" y="2416088"/>
            <a:ext cx="325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/>
              <a:t>Delayed</a:t>
            </a:r>
            <a:r>
              <a:rPr lang="fi-FI" b="1" dirty="0"/>
              <a:t> </a:t>
            </a:r>
            <a:r>
              <a:rPr lang="fi-FI" b="1" dirty="0" err="1"/>
              <a:t>employment</a:t>
            </a:r>
            <a:r>
              <a:rPr lang="fi-FI" b="1" dirty="0"/>
              <a:t> </a:t>
            </a:r>
            <a:r>
              <a:rPr lang="fi-FI" b="1" dirty="0" err="1"/>
              <a:t>entry</a:t>
            </a:r>
            <a:endParaRPr lang="fr-FR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48D760-1876-45AC-1932-99F602BB8FF8}"/>
              </a:ext>
            </a:extLst>
          </p:cNvPr>
          <p:cNvSpPr txBox="1"/>
          <p:nvPr/>
        </p:nvSpPr>
        <p:spPr>
          <a:xfrm>
            <a:off x="8306303" y="2808420"/>
            <a:ext cx="3251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/>
              <a:t>Early</a:t>
            </a:r>
            <a:r>
              <a:rPr lang="fi-FI" b="1" dirty="0"/>
              <a:t> </a:t>
            </a:r>
            <a:r>
              <a:rPr lang="fi-FI" b="1" dirty="0" err="1"/>
              <a:t>unemployment</a:t>
            </a:r>
            <a:r>
              <a:rPr lang="fi-FI" b="1" dirty="0"/>
              <a:t>, </a:t>
            </a:r>
            <a:r>
              <a:rPr lang="fi-FI" b="1" dirty="0" err="1"/>
              <a:t>then</a:t>
            </a:r>
            <a:r>
              <a:rPr lang="fi-FI" b="1" dirty="0"/>
              <a:t> </a:t>
            </a:r>
            <a:r>
              <a:rPr lang="fi-FI" b="1" dirty="0" err="1"/>
              <a:t>employment</a:t>
            </a:r>
            <a:endParaRPr lang="fr-FR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DD30F-8939-FD4B-7FDF-9B7274AFC988}"/>
              </a:ext>
            </a:extLst>
          </p:cNvPr>
          <p:cNvSpPr txBox="1"/>
          <p:nvPr/>
        </p:nvSpPr>
        <p:spPr>
          <a:xfrm>
            <a:off x="8327646" y="3445049"/>
            <a:ext cx="3251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/>
              <a:t>Unstable</a:t>
            </a:r>
            <a:r>
              <a:rPr lang="fi-FI" b="1" dirty="0"/>
              <a:t> </a:t>
            </a:r>
            <a:r>
              <a:rPr lang="fi-FI" b="1" dirty="0" err="1"/>
              <a:t>employment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05935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9DB3A-9D1B-7E65-1705-9D8A5E11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clustering means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173C7-0712-F11C-8783-CA2CF0F28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9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8221-F9EC-B28A-6CC8-2576B985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summary</a:t>
            </a:r>
            <a:r>
              <a:rPr lang="fr-FR" dirty="0"/>
              <a:t>, not a </a:t>
            </a:r>
            <a:r>
              <a:rPr lang="fr-FR" dirty="0" err="1"/>
              <a:t>discovery</a:t>
            </a:r>
            <a:r>
              <a:rPr lang="fr-FR" dirty="0"/>
              <a:t> of “</a:t>
            </a:r>
            <a:r>
              <a:rPr lang="fr-FR" dirty="0" err="1"/>
              <a:t>true</a:t>
            </a:r>
            <a:r>
              <a:rPr lang="fr-FR" dirty="0"/>
              <a:t> groups”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08B85-FD08-E213-B56C-D39D31220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Typology</a:t>
            </a:r>
            <a:r>
              <a:rPr lang="fr-FR" dirty="0"/>
              <a:t> ≠ Reality</a:t>
            </a:r>
          </a:p>
          <a:p>
            <a:pPr lvl="1"/>
            <a:r>
              <a:rPr lang="fr-FR" dirty="0"/>
              <a:t>Clusters are </a:t>
            </a:r>
            <a:r>
              <a:rPr lang="fr-FR" dirty="0" err="1"/>
              <a:t>produced</a:t>
            </a:r>
            <a:r>
              <a:rPr lang="fr-FR" dirty="0"/>
              <a:t> by </a:t>
            </a:r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choices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They </a:t>
            </a:r>
            <a:r>
              <a:rPr lang="fr-FR" dirty="0" err="1"/>
              <a:t>depend</a:t>
            </a:r>
            <a:r>
              <a:rPr lang="fr-FR" dirty="0"/>
              <a:t> on the distance </a:t>
            </a:r>
            <a:r>
              <a:rPr lang="fr-FR" dirty="0" err="1"/>
              <a:t>measure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They </a:t>
            </a:r>
            <a:r>
              <a:rPr lang="fr-FR" dirty="0" err="1"/>
              <a:t>depend</a:t>
            </a:r>
            <a:r>
              <a:rPr lang="fr-FR" dirty="0"/>
              <a:t> on the clustering </a:t>
            </a:r>
            <a:r>
              <a:rPr lang="fr-FR" dirty="0" err="1"/>
              <a:t>algorithm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They </a:t>
            </a:r>
            <a:r>
              <a:rPr lang="fr-FR" dirty="0" err="1"/>
              <a:t>depend</a:t>
            </a:r>
            <a:r>
              <a:rPr lang="fr-FR" dirty="0"/>
              <a:t> on the </a:t>
            </a:r>
            <a:r>
              <a:rPr lang="fr-FR" dirty="0" err="1"/>
              <a:t>chosen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groups.</a:t>
            </a:r>
          </a:p>
          <a:p>
            <a:pPr lvl="1"/>
            <a:endParaRPr lang="fr-FR" dirty="0"/>
          </a:p>
          <a:p>
            <a:r>
              <a:rPr lang="fr-FR" dirty="0" err="1"/>
              <a:t>Studer’s</a:t>
            </a:r>
            <a:r>
              <a:rPr lang="fr-FR" dirty="0"/>
              <a:t> </a:t>
            </a:r>
            <a:r>
              <a:rPr lang="fr-FR" i="1" dirty="0" err="1"/>
              <a:t>WeightedCluster</a:t>
            </a:r>
            <a:r>
              <a:rPr lang="fr-FR" dirty="0"/>
              <a:t> </a:t>
            </a:r>
            <a:r>
              <a:rPr lang="fr-FR" dirty="0" err="1"/>
              <a:t>manual</a:t>
            </a:r>
            <a:r>
              <a:rPr lang="fr-FR" dirty="0"/>
              <a:t> </a:t>
            </a:r>
            <a:r>
              <a:rPr lang="fr-FR" dirty="0" err="1"/>
              <a:t>explicitly</a:t>
            </a:r>
            <a:r>
              <a:rPr lang="fr-FR" dirty="0"/>
              <a:t> </a:t>
            </a:r>
            <a:r>
              <a:rPr lang="fr-FR" dirty="0" err="1"/>
              <a:t>presents</a:t>
            </a:r>
            <a:r>
              <a:rPr lang="fr-FR" dirty="0"/>
              <a:t> typologies as descriptive </a:t>
            </a:r>
            <a:r>
              <a:rPr lang="fr-FR" dirty="0" err="1"/>
              <a:t>tools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bring</a:t>
            </a:r>
            <a:r>
              <a:rPr lang="fr-FR" dirty="0"/>
              <a:t> out </a:t>
            </a:r>
            <a:r>
              <a:rPr lang="fr-FR" dirty="0" err="1"/>
              <a:t>recurrent</a:t>
            </a:r>
            <a:r>
              <a:rPr lang="fr-FR" dirty="0"/>
              <a:t> patterns, </a:t>
            </a:r>
            <a:r>
              <a:rPr lang="fr-FR" dirty="0" err="1"/>
              <a:t>while</a:t>
            </a:r>
            <a:r>
              <a:rPr lang="fr-FR" dirty="0"/>
              <a:t> warning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treating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as </a:t>
            </a:r>
            <a:r>
              <a:rPr lang="fr-FR" dirty="0" err="1"/>
              <a:t>confirmatory</a:t>
            </a:r>
            <a:r>
              <a:rPr lang="fr-FR" dirty="0"/>
              <a:t> proof (Studer, 2013)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B5E9AA76-8F66-C825-DD22-3D434CC39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4735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1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BC97-C2ED-DC15-29DB-BF525DB2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Within</a:t>
            </a:r>
            <a:r>
              <a:rPr lang="fr-FR" dirty="0"/>
              <a:t>-cluster </a:t>
            </a:r>
            <a:r>
              <a:rPr lang="fr-FR" dirty="0" err="1"/>
              <a:t>similarity</a:t>
            </a:r>
            <a:r>
              <a:rPr lang="fr-FR" dirty="0"/>
              <a:t> and </a:t>
            </a:r>
            <a:r>
              <a:rPr lang="fr-FR" dirty="0" err="1"/>
              <a:t>between</a:t>
            </a:r>
            <a:r>
              <a:rPr lang="fr-FR" dirty="0"/>
              <a:t>-cluster </a:t>
            </a:r>
            <a:r>
              <a:rPr lang="fr-FR" dirty="0" err="1"/>
              <a:t>difference</a:t>
            </a:r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92306B-FE81-4800-C047-AB579601404B}"/>
              </a:ext>
            </a:extLst>
          </p:cNvPr>
          <p:cNvSpPr/>
          <p:nvPr/>
        </p:nvSpPr>
        <p:spPr>
          <a:xfrm>
            <a:off x="6455752" y="1734285"/>
            <a:ext cx="4527933" cy="204913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Good clustering = high similarity within groups + high difference between groups</a:t>
            </a:r>
            <a:endParaRPr lang="fr-FR" sz="2600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549B0B9-B87F-5BEE-4F65-67B43509CD29}"/>
              </a:ext>
            </a:extLst>
          </p:cNvPr>
          <p:cNvSpPr/>
          <p:nvPr/>
        </p:nvSpPr>
        <p:spPr>
          <a:xfrm>
            <a:off x="1208312" y="2270438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38214C3-56BA-2F95-0B26-25944B81AC8A}"/>
              </a:ext>
            </a:extLst>
          </p:cNvPr>
          <p:cNvSpPr/>
          <p:nvPr/>
        </p:nvSpPr>
        <p:spPr>
          <a:xfrm>
            <a:off x="1208312" y="266810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99DC4528-FE22-1954-2416-0A230B8E4606}"/>
              </a:ext>
            </a:extLst>
          </p:cNvPr>
          <p:cNvSpPr/>
          <p:nvPr/>
        </p:nvSpPr>
        <p:spPr>
          <a:xfrm>
            <a:off x="1208312" y="3107844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6B428B22-8385-C26D-3688-8CA3B4A3FD9E}"/>
              </a:ext>
            </a:extLst>
          </p:cNvPr>
          <p:cNvSpPr/>
          <p:nvPr/>
        </p:nvSpPr>
        <p:spPr>
          <a:xfrm>
            <a:off x="1208315" y="3783423"/>
            <a:ext cx="3859446" cy="321156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8821C7A-DA33-85AA-07E6-D901A23AA612}"/>
              </a:ext>
            </a:extLst>
          </p:cNvPr>
          <p:cNvSpPr/>
          <p:nvPr/>
        </p:nvSpPr>
        <p:spPr>
          <a:xfrm>
            <a:off x="1208315" y="4240765"/>
            <a:ext cx="3859446" cy="321156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5E214375-D04D-D4EF-0FFA-959FDEEB4032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D775D391-BA54-48C8-9856-A95025BA79C6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2EEA1B51-47DB-7DE4-0A50-BECF385829C2}"/>
              </a:ext>
            </a:extLst>
          </p:cNvPr>
          <p:cNvSpPr/>
          <p:nvPr/>
        </p:nvSpPr>
        <p:spPr>
          <a:xfrm>
            <a:off x="1208310" y="1874781"/>
            <a:ext cx="3859446" cy="3211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5ACB07C5-605C-C348-08AB-B8439BE00A96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A711C3-FF86-5F94-27DA-5C3F97A682CB}"/>
              </a:ext>
            </a:extLst>
          </p:cNvPr>
          <p:cNvSpPr/>
          <p:nvPr/>
        </p:nvSpPr>
        <p:spPr>
          <a:xfrm>
            <a:off x="1057619" y="1784002"/>
            <a:ext cx="4138672" cy="173037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321612-CABC-95AD-5092-57914DFB45D9}"/>
              </a:ext>
            </a:extLst>
          </p:cNvPr>
          <p:cNvSpPr/>
          <p:nvPr/>
        </p:nvSpPr>
        <p:spPr>
          <a:xfrm>
            <a:off x="1057616" y="4803354"/>
            <a:ext cx="4138672" cy="1448110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5603D49-43D5-1575-12A0-35DCC42555C8}"/>
              </a:ext>
            </a:extLst>
          </p:cNvPr>
          <p:cNvSpPr/>
          <p:nvPr/>
        </p:nvSpPr>
        <p:spPr>
          <a:xfrm>
            <a:off x="1057616" y="3655248"/>
            <a:ext cx="4138672" cy="1029525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2BF9DFD-ABE7-349B-D11C-7E919DE89377}"/>
              </a:ext>
            </a:extLst>
          </p:cNvPr>
          <p:cNvSpPr/>
          <p:nvPr/>
        </p:nvSpPr>
        <p:spPr>
          <a:xfrm>
            <a:off x="5505571" y="3944001"/>
            <a:ext cx="2980285" cy="2049138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200" dirty="0" err="1"/>
              <a:t>Within</a:t>
            </a:r>
            <a:r>
              <a:rPr lang="fr-FR" sz="2200" dirty="0"/>
              <a:t>-cluster: people in the </a:t>
            </a:r>
            <a:r>
              <a:rPr lang="fr-FR" sz="2200" dirty="0" err="1"/>
              <a:t>same</a:t>
            </a:r>
            <a:r>
              <a:rPr lang="fr-FR" sz="2200" dirty="0"/>
              <a:t> group </a:t>
            </a:r>
            <a:r>
              <a:rPr lang="fr-FR" sz="2200" dirty="0" err="1"/>
              <a:t>should</a:t>
            </a:r>
            <a:r>
              <a:rPr lang="fr-FR" sz="2200" dirty="0"/>
              <a:t> </a:t>
            </a:r>
            <a:r>
              <a:rPr lang="fr-FR" sz="2200" dirty="0" err="1"/>
              <a:t>be</a:t>
            </a:r>
            <a:r>
              <a:rPr lang="fr-FR" sz="2200" dirty="0"/>
              <a:t> close.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D174D3C-7211-A8CA-8519-6CDD5ACA9BA0}"/>
              </a:ext>
            </a:extLst>
          </p:cNvPr>
          <p:cNvSpPr/>
          <p:nvPr/>
        </p:nvSpPr>
        <p:spPr>
          <a:xfrm>
            <a:off x="8967350" y="3944001"/>
            <a:ext cx="2980285" cy="2049138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200" dirty="0" err="1"/>
              <a:t>Between</a:t>
            </a:r>
            <a:r>
              <a:rPr lang="fr-FR" sz="2200" dirty="0"/>
              <a:t>-cluster: people in </a:t>
            </a:r>
            <a:r>
              <a:rPr lang="fr-FR" sz="2200" dirty="0" err="1"/>
              <a:t>different</a:t>
            </a:r>
            <a:r>
              <a:rPr lang="fr-FR" sz="2200" dirty="0"/>
              <a:t> groups </a:t>
            </a:r>
            <a:r>
              <a:rPr lang="fr-FR" sz="2200" dirty="0" err="1"/>
              <a:t>should</a:t>
            </a:r>
            <a:r>
              <a:rPr lang="fr-FR" sz="2200" dirty="0"/>
              <a:t> </a:t>
            </a:r>
            <a:r>
              <a:rPr lang="fr-FR" sz="2200" dirty="0" err="1"/>
              <a:t>be</a:t>
            </a:r>
            <a:r>
              <a:rPr lang="fr-FR" sz="2200" dirty="0"/>
              <a:t> far </a:t>
            </a:r>
            <a:r>
              <a:rPr lang="fr-FR" sz="2200" dirty="0" err="1"/>
              <a:t>apart</a:t>
            </a:r>
            <a:r>
              <a:rPr lang="fr-F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006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D346-9574-71C7-C20A-4A9CDADB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From distance matrix to clustering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8A9DDC-08AE-3504-1C07-3F4070FCD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724089"/>
              </p:ext>
            </p:extLst>
          </p:nvPr>
        </p:nvGraphicFramePr>
        <p:xfrm>
          <a:off x="736600" y="1292225"/>
          <a:ext cx="10515600" cy="233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39746E-C0F2-00D6-8DDD-05819094E88E}"/>
              </a:ext>
            </a:extLst>
          </p:cNvPr>
          <p:cNvSpPr txBox="1"/>
          <p:nvPr/>
        </p:nvSpPr>
        <p:spPr>
          <a:xfrm>
            <a:off x="685800" y="3521774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Example</a:t>
            </a:r>
            <a:endParaRPr lang="fr-F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AE6F46-CD91-F783-1C4C-6E772D6B6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25379"/>
              </p:ext>
            </p:extLst>
          </p:nvPr>
        </p:nvGraphicFramePr>
        <p:xfrm>
          <a:off x="8648700" y="4001532"/>
          <a:ext cx="2794000" cy="182880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802581">
                  <a:extLst>
                    <a:ext uri="{9D8B030D-6E8A-4147-A177-3AD203B41FA5}">
                      <a16:colId xmlns:a16="http://schemas.microsoft.com/office/drawing/2014/main" val="1145167268"/>
                    </a:ext>
                  </a:extLst>
                </a:gridCol>
                <a:gridCol w="991419">
                  <a:extLst>
                    <a:ext uri="{9D8B030D-6E8A-4147-A177-3AD203B41FA5}">
                      <a16:colId xmlns:a16="http://schemas.microsoft.com/office/drawing/2014/main" val="1823677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Cluster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93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30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dirty="0"/>
                        <a:t>2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796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Clara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dirty="0"/>
                        <a:t>3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6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1166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39176F-021E-E95D-CFF4-F9BF2F2F5BB1}"/>
              </a:ext>
            </a:extLst>
          </p:cNvPr>
          <p:cNvSpPr txBox="1"/>
          <p:nvPr/>
        </p:nvSpPr>
        <p:spPr>
          <a:xfrm>
            <a:off x="3098800" y="5978812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dirty="0"/>
              <a:t>Clustering </a:t>
            </a:r>
            <a:r>
              <a:rPr lang="fr-FR" sz="2600" dirty="0" err="1"/>
              <a:t>transforms</a:t>
            </a:r>
            <a:r>
              <a:rPr lang="fr-FR" sz="2600" dirty="0"/>
              <a:t> a distance matrix </a:t>
            </a:r>
            <a:r>
              <a:rPr lang="fr-FR" sz="2600" dirty="0" err="1"/>
              <a:t>into</a:t>
            </a:r>
            <a:r>
              <a:rPr lang="fr-FR" sz="2600" dirty="0"/>
              <a:t> a </a:t>
            </a:r>
            <a:r>
              <a:rPr lang="fr-FR" sz="2600" dirty="0" err="1"/>
              <a:t>categorical</a:t>
            </a:r>
            <a:r>
              <a:rPr lang="fr-FR" sz="2600" dirty="0"/>
              <a:t> variable.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137877E-FC21-7528-7479-F23DBA9853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4248916"/>
              </p:ext>
            </p:extLst>
          </p:nvPr>
        </p:nvGraphicFramePr>
        <p:xfrm>
          <a:off x="491671" y="4001532"/>
          <a:ext cx="6785430" cy="18288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57086">
                  <a:extLst>
                    <a:ext uri="{9D8B030D-6E8A-4147-A177-3AD203B41FA5}">
                      <a16:colId xmlns:a16="http://schemas.microsoft.com/office/drawing/2014/main" val="2544542176"/>
                    </a:ext>
                  </a:extLst>
                </a:gridCol>
                <a:gridCol w="1357086">
                  <a:extLst>
                    <a:ext uri="{9D8B030D-6E8A-4147-A177-3AD203B41FA5}">
                      <a16:colId xmlns:a16="http://schemas.microsoft.com/office/drawing/2014/main" val="1933910620"/>
                    </a:ext>
                  </a:extLst>
                </a:gridCol>
                <a:gridCol w="1357086">
                  <a:extLst>
                    <a:ext uri="{9D8B030D-6E8A-4147-A177-3AD203B41FA5}">
                      <a16:colId xmlns:a16="http://schemas.microsoft.com/office/drawing/2014/main" val="3914422766"/>
                    </a:ext>
                  </a:extLst>
                </a:gridCol>
                <a:gridCol w="1357086">
                  <a:extLst>
                    <a:ext uri="{9D8B030D-6E8A-4147-A177-3AD203B41FA5}">
                      <a16:colId xmlns:a16="http://schemas.microsoft.com/office/drawing/2014/main" val="3360902880"/>
                    </a:ext>
                  </a:extLst>
                </a:gridCol>
                <a:gridCol w="1357086">
                  <a:extLst>
                    <a:ext uri="{9D8B030D-6E8A-4147-A177-3AD203B41FA5}">
                      <a16:colId xmlns:a16="http://schemas.microsoft.com/office/drawing/2014/main" val="4210146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Clara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Daniel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8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26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99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Clara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287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47080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DDB378BE-CA0A-CBB1-F5A7-68790AA320BA}"/>
              </a:ext>
            </a:extLst>
          </p:cNvPr>
          <p:cNvSpPr/>
          <p:nvPr/>
        </p:nvSpPr>
        <p:spPr>
          <a:xfrm>
            <a:off x="7759700" y="4915932"/>
            <a:ext cx="596900" cy="303768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5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3E6A-FD53-ED4F-2112-E5BB6E7D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information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lost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cluster?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FE98F-7E29-9FB3-7932-45165B69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3200" cy="4351338"/>
          </a:xfrm>
        </p:spPr>
        <p:txBody>
          <a:bodyPr numCol="2"/>
          <a:lstStyle/>
          <a:p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ribbons</a:t>
            </a:r>
            <a:r>
              <a:rPr lang="fr-FR" dirty="0"/>
              <a:t> </a:t>
            </a:r>
            <a:r>
              <a:rPr lang="fr-FR" dirty="0" err="1"/>
              <a:t>inside</a:t>
            </a:r>
            <a:r>
              <a:rPr lang="fr-FR" dirty="0"/>
              <a:t> one cluster, not all </a:t>
            </a:r>
            <a:r>
              <a:rPr lang="fr-FR" dirty="0" err="1"/>
              <a:t>identical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assign</a:t>
            </a:r>
            <a:r>
              <a:rPr lang="fr-FR" dirty="0"/>
              <a:t> people to one cluster,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lose:</a:t>
            </a:r>
          </a:p>
          <a:p>
            <a:pPr lvl="1"/>
            <a:r>
              <a:rPr lang="fr-FR" dirty="0"/>
              <a:t>Small timing </a:t>
            </a:r>
            <a:r>
              <a:rPr lang="fr-FR" dirty="0" err="1"/>
              <a:t>differences</a:t>
            </a:r>
            <a:endParaRPr lang="fr-FR" dirty="0"/>
          </a:p>
          <a:p>
            <a:pPr lvl="1"/>
            <a:r>
              <a:rPr lang="fr-FR" dirty="0"/>
              <a:t>Rare transitions</a:t>
            </a:r>
          </a:p>
          <a:p>
            <a:pPr lvl="1"/>
            <a:r>
              <a:rPr lang="fr-FR" dirty="0" err="1"/>
              <a:t>Heterogeneity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the group</a:t>
            </a:r>
          </a:p>
          <a:p>
            <a:pPr lvl="1"/>
            <a:r>
              <a:rPr lang="fr-FR" dirty="0" err="1"/>
              <a:t>Uncertainty</a:t>
            </a:r>
            <a:r>
              <a:rPr lang="fr-FR" dirty="0"/>
              <a:t> of </a:t>
            </a:r>
            <a:r>
              <a:rPr lang="fr-FR" dirty="0" err="1"/>
              <a:t>assignment</a:t>
            </a:r>
            <a:endParaRPr lang="fr-FR" dirty="0"/>
          </a:p>
          <a:p>
            <a:pPr lvl="1"/>
            <a:r>
              <a:rPr lang="fr-FR" dirty="0" err="1"/>
              <a:t>Unusual</a:t>
            </a:r>
            <a:r>
              <a:rPr lang="fr-FR" dirty="0"/>
              <a:t> cases</a:t>
            </a:r>
          </a:p>
          <a:p>
            <a:endParaRPr lang="fr-FR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0E70E-F34F-C414-CB3F-D20937D29AA0}"/>
              </a:ext>
            </a:extLst>
          </p:cNvPr>
          <p:cNvGrpSpPr/>
          <p:nvPr/>
        </p:nvGrpSpPr>
        <p:grpSpPr>
          <a:xfrm>
            <a:off x="6798016" y="1690688"/>
            <a:ext cx="4138675" cy="4467462"/>
            <a:chOff x="1057616" y="1784002"/>
            <a:chExt cx="4138675" cy="4467462"/>
          </a:xfrm>
        </p:grpSpPr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BBD25B79-4BC6-B7EE-14AC-47492B93E66A}"/>
                </a:ext>
              </a:extLst>
            </p:cNvPr>
            <p:cNvSpPr/>
            <p:nvPr/>
          </p:nvSpPr>
          <p:spPr>
            <a:xfrm>
              <a:off x="1208312" y="2270438"/>
              <a:ext cx="3859446" cy="321156"/>
            </a:xfrm>
            <a:prstGeom prst="homePlat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561F9A45-4EAB-356E-D20B-FA142662B72D}"/>
                </a:ext>
              </a:extLst>
            </p:cNvPr>
            <p:cNvSpPr/>
            <p:nvPr/>
          </p:nvSpPr>
          <p:spPr>
            <a:xfrm>
              <a:off x="1208312" y="2668107"/>
              <a:ext cx="3859446" cy="32115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CB7642CD-161B-5AD3-2854-F6C94926F5BA}"/>
                </a:ext>
              </a:extLst>
            </p:cNvPr>
            <p:cNvSpPr/>
            <p:nvPr/>
          </p:nvSpPr>
          <p:spPr>
            <a:xfrm>
              <a:off x="1208312" y="3107844"/>
              <a:ext cx="3859446" cy="321156"/>
            </a:xfrm>
            <a:prstGeom prst="homePlat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644FC317-BCF2-EF6F-6F03-4C591F1C6C81}"/>
                </a:ext>
              </a:extLst>
            </p:cNvPr>
            <p:cNvSpPr/>
            <p:nvPr/>
          </p:nvSpPr>
          <p:spPr>
            <a:xfrm>
              <a:off x="1208315" y="3783423"/>
              <a:ext cx="3859446" cy="321156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Arrow: Pentagon 23">
              <a:extLst>
                <a:ext uri="{FF2B5EF4-FFF2-40B4-BE49-F238E27FC236}">
                  <a16:creationId xmlns:a16="http://schemas.microsoft.com/office/drawing/2014/main" id="{7D2CDBE1-93CE-E4A8-3EA8-F97BB658E2F5}"/>
                </a:ext>
              </a:extLst>
            </p:cNvPr>
            <p:cNvSpPr/>
            <p:nvPr/>
          </p:nvSpPr>
          <p:spPr>
            <a:xfrm>
              <a:off x="1208315" y="4240765"/>
              <a:ext cx="3859446" cy="321156"/>
            </a:xfrm>
            <a:prstGeom prst="homePlat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Arrow: Pentagon 25">
              <a:extLst>
                <a:ext uri="{FF2B5EF4-FFF2-40B4-BE49-F238E27FC236}">
                  <a16:creationId xmlns:a16="http://schemas.microsoft.com/office/drawing/2014/main" id="{6DEDB51A-78C5-9440-53A5-61F51AB38CB8}"/>
                </a:ext>
              </a:extLst>
            </p:cNvPr>
            <p:cNvSpPr/>
            <p:nvPr/>
          </p:nvSpPr>
          <p:spPr>
            <a:xfrm>
              <a:off x="1208313" y="4896668"/>
              <a:ext cx="3859446" cy="321156"/>
            </a:xfrm>
            <a:prstGeom prst="homePlat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BB58CE2A-96E9-0282-70F9-0385B82E6AF6}"/>
                </a:ext>
              </a:extLst>
            </p:cNvPr>
            <p:cNvSpPr/>
            <p:nvPr/>
          </p:nvSpPr>
          <p:spPr>
            <a:xfrm>
              <a:off x="1208312" y="5360799"/>
              <a:ext cx="3859446" cy="321156"/>
            </a:xfrm>
            <a:prstGeom prst="homePlat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2EBA8DF5-C4F6-D451-D27C-7691B53AFE4C}"/>
                </a:ext>
              </a:extLst>
            </p:cNvPr>
            <p:cNvSpPr/>
            <p:nvPr/>
          </p:nvSpPr>
          <p:spPr>
            <a:xfrm>
              <a:off x="1208310" y="1874781"/>
              <a:ext cx="3859446" cy="321156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A6A8E90A-3231-D2B7-04CF-15958F25918D}"/>
                </a:ext>
              </a:extLst>
            </p:cNvPr>
            <p:cNvSpPr/>
            <p:nvPr/>
          </p:nvSpPr>
          <p:spPr>
            <a:xfrm>
              <a:off x="1208312" y="5800536"/>
              <a:ext cx="3859446" cy="321156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CA09079-EA83-6903-5ACF-D2CCE6B82708}"/>
                </a:ext>
              </a:extLst>
            </p:cNvPr>
            <p:cNvSpPr/>
            <p:nvPr/>
          </p:nvSpPr>
          <p:spPr>
            <a:xfrm>
              <a:off x="1057619" y="1784002"/>
              <a:ext cx="4138672" cy="1730379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441CC6E-38E5-A38B-E35B-F33B83F866A0}"/>
                </a:ext>
              </a:extLst>
            </p:cNvPr>
            <p:cNvSpPr/>
            <p:nvPr/>
          </p:nvSpPr>
          <p:spPr>
            <a:xfrm>
              <a:off x="1057616" y="4803354"/>
              <a:ext cx="4138672" cy="1448110"/>
            </a:xfrm>
            <a:prstGeom prst="round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C4267F9-E970-1575-4343-75FA9F96D632}"/>
                </a:ext>
              </a:extLst>
            </p:cNvPr>
            <p:cNvSpPr/>
            <p:nvPr/>
          </p:nvSpPr>
          <p:spPr>
            <a:xfrm>
              <a:off x="1057616" y="3655248"/>
              <a:ext cx="4138672" cy="1029525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5271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0711-D761-35C0-89C9-D661B7EB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When</a:t>
            </a:r>
            <a:r>
              <a:rPr lang="fr-FR" dirty="0"/>
              <a:t> clustering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and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A68576-9035-87AB-FC72-9C1F868DB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031971"/>
              </p:ext>
            </p:extLst>
          </p:nvPr>
        </p:nvGraphicFramePr>
        <p:xfrm>
          <a:off x="749300" y="1908334"/>
          <a:ext cx="10515600" cy="24688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098699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2055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 err="1"/>
                        <a:t>Useful</a:t>
                      </a:r>
                      <a:r>
                        <a:rPr lang="fr-FR" sz="2200" b="1" dirty="0"/>
                        <a:t> </a:t>
                      </a:r>
                      <a:r>
                        <a:rPr lang="fr-FR" sz="2200" b="1" dirty="0" err="1"/>
                        <a:t>when</a:t>
                      </a:r>
                      <a:r>
                        <a:rPr lang="fr-FR" sz="2200" b="1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/>
                        <a:t>Less </a:t>
                      </a:r>
                      <a:r>
                        <a:rPr lang="fr-FR" sz="2200" b="1" dirty="0" err="1"/>
                        <a:t>useful</a:t>
                      </a:r>
                      <a:r>
                        <a:rPr lang="fr-FR" sz="2200" b="1" dirty="0"/>
                        <a:t> </a:t>
                      </a:r>
                      <a:r>
                        <a:rPr lang="fr-FR" sz="2200" b="1" dirty="0" err="1"/>
                        <a:t>when</a:t>
                      </a:r>
                      <a:r>
                        <a:rPr lang="fr-FR" sz="2200" b="1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94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Many trajectories are hard to summarise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Sample is very small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93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You need interpretable trajectory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No clear recurrent patterns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872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You want to compare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The research question concerns one specific transition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39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You need a categorical exposure/outcome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Clusters </a:t>
                      </a:r>
                      <a:r>
                        <a:rPr lang="fr-FR" sz="2200" dirty="0" err="1"/>
                        <a:t>would</a:t>
                      </a:r>
                      <a:r>
                        <a:rPr lang="fr-FR" sz="2200" dirty="0"/>
                        <a:t> </a:t>
                      </a:r>
                      <a:r>
                        <a:rPr lang="fr-FR" sz="2200" dirty="0" err="1"/>
                        <a:t>hide</a:t>
                      </a:r>
                      <a:r>
                        <a:rPr lang="fr-FR" sz="2200" dirty="0"/>
                        <a:t> important variation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0456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A64484-0D2B-8D0D-EB1B-DE44B45F8E9B}"/>
              </a:ext>
            </a:extLst>
          </p:cNvPr>
          <p:cNvSpPr txBox="1"/>
          <p:nvPr/>
        </p:nvSpPr>
        <p:spPr>
          <a:xfrm>
            <a:off x="4127500" y="5454134"/>
            <a:ext cx="7137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dirty="0"/>
              <a:t>Not </a:t>
            </a:r>
            <a:r>
              <a:rPr lang="fr-FR" sz="2600" dirty="0" err="1"/>
              <a:t>every</a:t>
            </a:r>
            <a:r>
              <a:rPr lang="fr-FR" sz="2600" dirty="0"/>
              <a:t> </a:t>
            </a:r>
            <a:r>
              <a:rPr lang="fr-FR" sz="2600" dirty="0" err="1"/>
              <a:t>sequence</a:t>
            </a:r>
            <a:r>
              <a:rPr lang="fr-FR" sz="2600" dirty="0"/>
              <a:t> </a:t>
            </a:r>
            <a:r>
              <a:rPr lang="fr-FR" sz="2600" dirty="0" err="1"/>
              <a:t>analysis</a:t>
            </a:r>
            <a:r>
              <a:rPr lang="fr-FR" sz="2600" dirty="0"/>
              <a:t> </a:t>
            </a:r>
            <a:r>
              <a:rPr lang="fr-FR" sz="2600" dirty="0" err="1"/>
              <a:t>needs</a:t>
            </a:r>
            <a:r>
              <a:rPr lang="fr-FR" sz="2600" dirty="0"/>
              <a:t> clustering.</a:t>
            </a:r>
          </a:p>
        </p:txBody>
      </p:sp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FE70C938-8340-62D4-33C7-3C87C7348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3100" y="52431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6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0BB46-4941-3D69-88E7-2CED43A2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Hierarchical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CC969-2C4B-9CF5-D61A-0CFF90F7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DEE9-2340-F8F2-479A-42BF6457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basic </a:t>
            </a:r>
            <a:r>
              <a:rPr lang="fr-FR" dirty="0" err="1"/>
              <a:t>logic</a:t>
            </a:r>
            <a:r>
              <a:rPr lang="fr-FR" dirty="0"/>
              <a:t> of </a:t>
            </a:r>
            <a:r>
              <a:rPr lang="fr-FR" dirty="0" err="1"/>
              <a:t>hierarchical</a:t>
            </a:r>
            <a:r>
              <a:rPr lang="fr-FR" dirty="0"/>
              <a:t>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ACBC3-23CA-E1BE-C5DB-2F4F7CCE4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7641" cy="4351338"/>
          </a:xfrm>
        </p:spPr>
        <p:txBody>
          <a:bodyPr>
            <a:normAutofit/>
          </a:bodyPr>
          <a:lstStyle/>
          <a:p>
            <a:r>
              <a:rPr lang="fi-FI" dirty="0" err="1"/>
              <a:t>Family</a:t>
            </a:r>
            <a:r>
              <a:rPr lang="fi-FI" dirty="0"/>
              <a:t> </a:t>
            </a:r>
            <a:r>
              <a:rPr lang="fi-FI" dirty="0" err="1"/>
              <a:t>tree</a:t>
            </a:r>
            <a:endParaRPr lang="fi-FI" dirty="0"/>
          </a:p>
          <a:p>
            <a:pPr lvl="1"/>
            <a:r>
              <a:rPr lang="fr-FR" dirty="0" err="1"/>
              <a:t>Hierarchical</a:t>
            </a:r>
            <a:r>
              <a:rPr lang="fr-FR" dirty="0"/>
              <a:t> clustering </a:t>
            </a:r>
            <a:r>
              <a:rPr lang="fr-FR" dirty="0" err="1"/>
              <a:t>builds</a:t>
            </a:r>
            <a:r>
              <a:rPr lang="fr-FR" dirty="0"/>
              <a:t> a </a:t>
            </a:r>
            <a:r>
              <a:rPr lang="fr-FR" dirty="0" err="1"/>
              <a:t>tree</a:t>
            </a:r>
            <a:r>
              <a:rPr lang="fr-FR" dirty="0"/>
              <a:t> of </a:t>
            </a:r>
            <a:r>
              <a:rPr lang="fr-FR" dirty="0" err="1"/>
              <a:t>similarity</a:t>
            </a:r>
            <a:r>
              <a:rPr lang="fr-FR" dirty="0"/>
              <a:t>.</a:t>
            </a:r>
          </a:p>
          <a:p>
            <a:r>
              <a:rPr lang="fr-FR" dirty="0"/>
              <a:t>Process:</a:t>
            </a:r>
          </a:p>
          <a:p>
            <a:pPr lvl="1"/>
            <a:r>
              <a:rPr lang="fr-FR" dirty="0"/>
              <a:t>Start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person</a:t>
            </a:r>
            <a:r>
              <a:rPr lang="fr-FR" dirty="0"/>
              <a:t> </a:t>
            </a:r>
            <a:r>
              <a:rPr lang="fr-FR" dirty="0" err="1"/>
              <a:t>alone</a:t>
            </a:r>
            <a:r>
              <a:rPr lang="fr-FR" dirty="0"/>
              <a:t>. </a:t>
            </a:r>
          </a:p>
          <a:p>
            <a:pPr lvl="1"/>
            <a:r>
              <a:rPr lang="fr-FR" dirty="0"/>
              <a:t>Merge the </a:t>
            </a:r>
            <a:r>
              <a:rPr lang="fr-FR" dirty="0" err="1"/>
              <a:t>closest</a:t>
            </a:r>
            <a:r>
              <a:rPr lang="fr-FR" dirty="0"/>
              <a:t> cases. </a:t>
            </a:r>
          </a:p>
          <a:p>
            <a:pPr lvl="1"/>
            <a:r>
              <a:rPr lang="fr-FR" dirty="0"/>
              <a:t>Continue </a:t>
            </a:r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until</a:t>
            </a:r>
            <a:r>
              <a:rPr lang="fr-FR" dirty="0"/>
              <a:t> </a:t>
            </a:r>
            <a:r>
              <a:rPr lang="fr-FR" dirty="0" err="1"/>
              <a:t>everyone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in one group. </a:t>
            </a:r>
          </a:p>
          <a:p>
            <a:pPr lvl="1"/>
            <a:r>
              <a:rPr lang="fr-FR" dirty="0"/>
              <a:t>Then </a:t>
            </a:r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to </a:t>
            </a:r>
            <a:r>
              <a:rPr lang="fr-FR" dirty="0" err="1"/>
              <a:t>cut</a:t>
            </a:r>
            <a:r>
              <a:rPr lang="fr-FR" dirty="0"/>
              <a:t> the </a:t>
            </a:r>
            <a:r>
              <a:rPr lang="fr-FR" dirty="0" err="1"/>
              <a:t>tree</a:t>
            </a:r>
            <a:r>
              <a:rPr lang="fr-FR" dirty="0"/>
              <a:t>.</a:t>
            </a:r>
          </a:p>
          <a:p>
            <a:pPr lvl="1"/>
            <a:endParaRPr lang="fr-F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D11646-F942-29B6-AF90-548285361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141" y="1825625"/>
            <a:ext cx="4907287" cy="3406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0A93E8-C3D2-A375-776A-4FB3D7213064}"/>
              </a:ext>
            </a:extLst>
          </p:cNvPr>
          <p:cNvSpPr txBox="1"/>
          <p:nvPr/>
        </p:nvSpPr>
        <p:spPr>
          <a:xfrm>
            <a:off x="7175500" y="55118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Source</a:t>
            </a:r>
            <a:r>
              <a:rPr lang="fi-FI" dirty="0"/>
              <a:t>: Institute of </a:t>
            </a:r>
            <a:r>
              <a:rPr lang="fi-FI" dirty="0" err="1"/>
              <a:t>Canine</a:t>
            </a:r>
            <a:r>
              <a:rPr lang="fi-FI" dirty="0"/>
              <a:t> </a:t>
            </a:r>
            <a:r>
              <a:rPr lang="fi-FI" dirty="0" err="1"/>
              <a:t>Biology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1762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7121-DB9E-9DB9-B803-1920C372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Agglomerative</a:t>
            </a:r>
            <a:r>
              <a:rPr lang="fr-FR" dirty="0"/>
              <a:t> clustering: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individuals</a:t>
            </a:r>
            <a:r>
              <a:rPr lang="fr-FR" dirty="0"/>
              <a:t> to groups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2BD45-6241-D2CA-C121-28B46C2A5589}"/>
              </a:ext>
            </a:extLst>
          </p:cNvPr>
          <p:cNvSpPr txBox="1"/>
          <p:nvPr/>
        </p:nvSpPr>
        <p:spPr>
          <a:xfrm>
            <a:off x="1943100" y="5594882"/>
            <a:ext cx="16129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500" b="1" dirty="0"/>
              <a:t>A</a:t>
            </a:r>
            <a:endParaRPr lang="fr-FR" sz="3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2C46D-DE22-14F5-2F1E-7A0383CAE97D}"/>
              </a:ext>
            </a:extLst>
          </p:cNvPr>
          <p:cNvSpPr txBox="1"/>
          <p:nvPr/>
        </p:nvSpPr>
        <p:spPr>
          <a:xfrm>
            <a:off x="3898900" y="5594882"/>
            <a:ext cx="16129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500" b="1" dirty="0"/>
              <a:t>B</a:t>
            </a:r>
            <a:endParaRPr lang="fr-FR" sz="3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78D19-FA7E-282E-CFDF-23152FC03B6B}"/>
              </a:ext>
            </a:extLst>
          </p:cNvPr>
          <p:cNvSpPr txBox="1"/>
          <p:nvPr/>
        </p:nvSpPr>
        <p:spPr>
          <a:xfrm>
            <a:off x="5873752" y="5594882"/>
            <a:ext cx="16129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500" b="1" dirty="0"/>
              <a:t>C</a:t>
            </a:r>
            <a:endParaRPr lang="fr-FR" sz="3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19F60-B851-84BE-16B5-5DD4FED8C216}"/>
              </a:ext>
            </a:extLst>
          </p:cNvPr>
          <p:cNvSpPr txBox="1"/>
          <p:nvPr/>
        </p:nvSpPr>
        <p:spPr>
          <a:xfrm>
            <a:off x="7721600" y="5594882"/>
            <a:ext cx="16129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500" b="1" dirty="0"/>
              <a:t>D</a:t>
            </a:r>
            <a:endParaRPr lang="fr-FR" sz="35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118C7-DC37-0F84-2056-228A70AD26FA}"/>
              </a:ext>
            </a:extLst>
          </p:cNvPr>
          <p:cNvSpPr txBox="1"/>
          <p:nvPr/>
        </p:nvSpPr>
        <p:spPr>
          <a:xfrm>
            <a:off x="9569448" y="5594882"/>
            <a:ext cx="16129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500" b="1" dirty="0"/>
              <a:t>E</a:t>
            </a:r>
            <a:endParaRPr lang="fr-FR" sz="35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567E1E-842A-44BA-BFA0-569D03201211}"/>
              </a:ext>
            </a:extLst>
          </p:cNvPr>
          <p:cNvCxnSpPr/>
          <p:nvPr/>
        </p:nvCxnSpPr>
        <p:spPr>
          <a:xfrm flipV="1">
            <a:off x="2159000" y="4711700"/>
            <a:ext cx="0" cy="736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979C4E-4F14-E156-7C83-9B8B7CB572D6}"/>
              </a:ext>
            </a:extLst>
          </p:cNvPr>
          <p:cNvCxnSpPr>
            <a:cxnSpLocks/>
          </p:cNvCxnSpPr>
          <p:nvPr/>
        </p:nvCxnSpPr>
        <p:spPr>
          <a:xfrm>
            <a:off x="2159000" y="4711700"/>
            <a:ext cx="19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9B40DA-AAD3-6B4D-BF37-350660CD2C03}"/>
              </a:ext>
            </a:extLst>
          </p:cNvPr>
          <p:cNvCxnSpPr/>
          <p:nvPr/>
        </p:nvCxnSpPr>
        <p:spPr>
          <a:xfrm flipV="1">
            <a:off x="4089400" y="4711700"/>
            <a:ext cx="0" cy="736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B37F52-420D-650E-3989-197DC9D0B2D7}"/>
              </a:ext>
            </a:extLst>
          </p:cNvPr>
          <p:cNvCxnSpPr>
            <a:cxnSpLocks/>
          </p:cNvCxnSpPr>
          <p:nvPr/>
        </p:nvCxnSpPr>
        <p:spPr>
          <a:xfrm flipV="1">
            <a:off x="6096000" y="4157133"/>
            <a:ext cx="0" cy="14012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A41DB9-F565-27FC-A60A-51DADA174FC5}"/>
              </a:ext>
            </a:extLst>
          </p:cNvPr>
          <p:cNvCxnSpPr>
            <a:cxnSpLocks/>
          </p:cNvCxnSpPr>
          <p:nvPr/>
        </p:nvCxnSpPr>
        <p:spPr>
          <a:xfrm flipV="1">
            <a:off x="7950200" y="4157133"/>
            <a:ext cx="0" cy="14266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5F283B-1799-6E6C-5CB7-208082E6C76E}"/>
              </a:ext>
            </a:extLst>
          </p:cNvPr>
          <p:cNvCxnSpPr>
            <a:cxnSpLocks/>
          </p:cNvCxnSpPr>
          <p:nvPr/>
        </p:nvCxnSpPr>
        <p:spPr>
          <a:xfrm flipV="1">
            <a:off x="9770534" y="2709333"/>
            <a:ext cx="0" cy="2849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1E434B-D4E6-3C5E-2F18-DB61662091D6}"/>
              </a:ext>
            </a:extLst>
          </p:cNvPr>
          <p:cNvCxnSpPr>
            <a:cxnSpLocks/>
          </p:cNvCxnSpPr>
          <p:nvPr/>
        </p:nvCxnSpPr>
        <p:spPr>
          <a:xfrm>
            <a:off x="6096000" y="4157133"/>
            <a:ext cx="1854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D45A58-0421-057B-FA4C-695C20C3D5ED}"/>
              </a:ext>
            </a:extLst>
          </p:cNvPr>
          <p:cNvCxnSpPr>
            <a:cxnSpLocks/>
          </p:cNvCxnSpPr>
          <p:nvPr/>
        </p:nvCxnSpPr>
        <p:spPr>
          <a:xfrm flipV="1">
            <a:off x="7048500" y="2707216"/>
            <a:ext cx="0" cy="14266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73535C-033F-8E69-FA6C-23E996971196}"/>
              </a:ext>
            </a:extLst>
          </p:cNvPr>
          <p:cNvCxnSpPr>
            <a:cxnSpLocks/>
          </p:cNvCxnSpPr>
          <p:nvPr/>
        </p:nvCxnSpPr>
        <p:spPr>
          <a:xfrm>
            <a:off x="7048500" y="2707216"/>
            <a:ext cx="27220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2F3DE6-42BF-DF0C-07BB-E4B7FC046BA9}"/>
              </a:ext>
            </a:extLst>
          </p:cNvPr>
          <p:cNvCxnSpPr>
            <a:cxnSpLocks/>
          </p:cNvCxnSpPr>
          <p:nvPr/>
        </p:nvCxnSpPr>
        <p:spPr>
          <a:xfrm flipV="1">
            <a:off x="3111500" y="1690688"/>
            <a:ext cx="0" cy="30210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6BD7A17-2638-99D7-9B5D-752659015D57}"/>
              </a:ext>
            </a:extLst>
          </p:cNvPr>
          <p:cNvCxnSpPr>
            <a:cxnSpLocks/>
          </p:cNvCxnSpPr>
          <p:nvPr/>
        </p:nvCxnSpPr>
        <p:spPr>
          <a:xfrm flipV="1">
            <a:off x="8310033" y="1690688"/>
            <a:ext cx="0" cy="10165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53B38BB-BB9D-18C0-4CFE-D36B42F02DE4}"/>
              </a:ext>
            </a:extLst>
          </p:cNvPr>
          <p:cNvCxnSpPr>
            <a:cxnSpLocks/>
          </p:cNvCxnSpPr>
          <p:nvPr/>
        </p:nvCxnSpPr>
        <p:spPr>
          <a:xfrm>
            <a:off x="3111500" y="1690688"/>
            <a:ext cx="519853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74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8196-07C2-076B-B4D6-7CB2B650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Dendrograms</a:t>
            </a:r>
            <a:r>
              <a:rPr lang="fr-FR" dirty="0"/>
              <a:t>: </a:t>
            </a:r>
            <a:r>
              <a:rPr lang="fr-FR" dirty="0" err="1"/>
              <a:t>reading</a:t>
            </a:r>
            <a:r>
              <a:rPr lang="fr-FR" dirty="0"/>
              <a:t> the </a:t>
            </a:r>
            <a:r>
              <a:rPr lang="fr-FR" dirty="0" err="1"/>
              <a:t>tree</a:t>
            </a:r>
            <a:endParaRPr lang="fr-F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7BE26-D342-99E6-6D1F-73374E5082A3}"/>
              </a:ext>
            </a:extLst>
          </p:cNvPr>
          <p:cNvGrpSpPr/>
          <p:nvPr/>
        </p:nvGrpSpPr>
        <p:grpSpPr>
          <a:xfrm>
            <a:off x="1943100" y="1690688"/>
            <a:ext cx="9239248" cy="4535136"/>
            <a:chOff x="1943100" y="1690688"/>
            <a:chExt cx="9239248" cy="453513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8D3119-6846-E9A6-4B6A-CC9873EE48E9}"/>
                </a:ext>
              </a:extLst>
            </p:cNvPr>
            <p:cNvSpPr txBox="1"/>
            <p:nvPr/>
          </p:nvSpPr>
          <p:spPr>
            <a:xfrm>
              <a:off x="1943100" y="5594882"/>
              <a:ext cx="16129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3500" b="1" dirty="0"/>
                <a:t>A</a:t>
              </a:r>
              <a:endParaRPr lang="fr-FR" sz="35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F9BFDA-87DA-065C-FA5E-7278FF3E5943}"/>
                </a:ext>
              </a:extLst>
            </p:cNvPr>
            <p:cNvSpPr txBox="1"/>
            <p:nvPr/>
          </p:nvSpPr>
          <p:spPr>
            <a:xfrm>
              <a:off x="3898900" y="5594882"/>
              <a:ext cx="16129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3500" b="1" dirty="0"/>
                <a:t>B</a:t>
              </a:r>
              <a:endParaRPr lang="fr-FR" sz="35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52F777-05A0-C00E-E615-CC7AD687B399}"/>
                </a:ext>
              </a:extLst>
            </p:cNvPr>
            <p:cNvSpPr txBox="1"/>
            <p:nvPr/>
          </p:nvSpPr>
          <p:spPr>
            <a:xfrm>
              <a:off x="5873752" y="5594882"/>
              <a:ext cx="16129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3500" b="1" dirty="0"/>
                <a:t>C</a:t>
              </a:r>
              <a:endParaRPr lang="fr-FR" sz="35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CBFCC0-A933-62B5-A3B2-8DAFE0F94A0D}"/>
                </a:ext>
              </a:extLst>
            </p:cNvPr>
            <p:cNvSpPr txBox="1"/>
            <p:nvPr/>
          </p:nvSpPr>
          <p:spPr>
            <a:xfrm>
              <a:off x="7721600" y="5594882"/>
              <a:ext cx="16129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3500" b="1" dirty="0"/>
                <a:t>D</a:t>
              </a:r>
              <a:endParaRPr lang="fr-FR" sz="35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FB15A1-9A5A-F5FF-8AAC-6BD312623EBE}"/>
                </a:ext>
              </a:extLst>
            </p:cNvPr>
            <p:cNvSpPr txBox="1"/>
            <p:nvPr/>
          </p:nvSpPr>
          <p:spPr>
            <a:xfrm>
              <a:off x="9569448" y="5594882"/>
              <a:ext cx="16129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3500" b="1" dirty="0"/>
                <a:t>E</a:t>
              </a:r>
              <a:endParaRPr lang="fr-FR" sz="3500" b="1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FEFAFD-A894-73D4-D74A-67124952D680}"/>
                </a:ext>
              </a:extLst>
            </p:cNvPr>
            <p:cNvCxnSpPr/>
            <p:nvPr/>
          </p:nvCxnSpPr>
          <p:spPr>
            <a:xfrm flipV="1">
              <a:off x="2159000" y="4711700"/>
              <a:ext cx="0" cy="7366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45B8AE0-8F7A-1343-0FFA-FC5FFD4ED6AC}"/>
                </a:ext>
              </a:extLst>
            </p:cNvPr>
            <p:cNvCxnSpPr>
              <a:cxnSpLocks/>
            </p:cNvCxnSpPr>
            <p:nvPr/>
          </p:nvCxnSpPr>
          <p:spPr>
            <a:xfrm>
              <a:off x="2159000" y="4711700"/>
              <a:ext cx="19304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F4E3BE-B5CD-15B0-04B7-5FEF841F835D}"/>
                </a:ext>
              </a:extLst>
            </p:cNvPr>
            <p:cNvCxnSpPr/>
            <p:nvPr/>
          </p:nvCxnSpPr>
          <p:spPr>
            <a:xfrm flipV="1">
              <a:off x="4089400" y="4711700"/>
              <a:ext cx="0" cy="7366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D56D2B-942E-E878-9395-01465B0C0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157133"/>
              <a:ext cx="0" cy="14012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BCA017-F6C3-5E82-3F17-2703B7898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0200" y="4157133"/>
              <a:ext cx="0" cy="14266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3000EB-DAAE-F7F9-AA5D-0280C9AD2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0534" y="2709333"/>
              <a:ext cx="0" cy="2849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F509C3-B719-F5AF-5FB4-A65FD143EFB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157133"/>
              <a:ext cx="18542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A8E391-468F-8072-2CBB-BDE6A38D7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8500" y="2707216"/>
              <a:ext cx="0" cy="14266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8C7C20-0A0D-A0DD-3643-DC5955C69511}"/>
                </a:ext>
              </a:extLst>
            </p:cNvPr>
            <p:cNvCxnSpPr>
              <a:cxnSpLocks/>
            </p:cNvCxnSpPr>
            <p:nvPr/>
          </p:nvCxnSpPr>
          <p:spPr>
            <a:xfrm>
              <a:off x="7048500" y="2707216"/>
              <a:ext cx="272203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CC51AA-E782-7BF0-B3DA-103AEC045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1500" y="1690688"/>
              <a:ext cx="0" cy="302101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B2718E-C955-9442-545C-AD9677996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0033" y="1690688"/>
              <a:ext cx="0" cy="10165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B333742-49FB-4B43-1FAE-6887154B219F}"/>
                </a:ext>
              </a:extLst>
            </p:cNvPr>
            <p:cNvCxnSpPr>
              <a:cxnSpLocks/>
            </p:cNvCxnSpPr>
            <p:nvPr/>
          </p:nvCxnSpPr>
          <p:spPr>
            <a:xfrm>
              <a:off x="3111500" y="1690688"/>
              <a:ext cx="519853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DFB3130-E5B1-278F-6EE0-0F656B3EE147}"/>
              </a:ext>
            </a:extLst>
          </p:cNvPr>
          <p:cNvSpPr/>
          <p:nvPr/>
        </p:nvSpPr>
        <p:spPr>
          <a:xfrm>
            <a:off x="1574800" y="5448300"/>
            <a:ext cx="8737596" cy="7886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4AA525-3CCA-1E2A-DEFD-ADB89C45A111}"/>
              </a:ext>
            </a:extLst>
          </p:cNvPr>
          <p:cNvSpPr txBox="1"/>
          <p:nvPr/>
        </p:nvSpPr>
        <p:spPr>
          <a:xfrm>
            <a:off x="186267" y="5594882"/>
            <a:ext cx="1295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500" dirty="0">
                <a:solidFill>
                  <a:schemeClr val="accent2"/>
                </a:solidFill>
              </a:rPr>
              <a:t>LEAVES</a:t>
            </a:r>
            <a:endParaRPr lang="fr-FR" sz="2500" dirty="0">
              <a:solidFill>
                <a:schemeClr val="accent2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52A17B-7C63-82B9-6950-DB3CC85F4A7F}"/>
              </a:ext>
            </a:extLst>
          </p:cNvPr>
          <p:cNvCxnSpPr/>
          <p:nvPr/>
        </p:nvCxnSpPr>
        <p:spPr>
          <a:xfrm>
            <a:off x="2159000" y="4047067"/>
            <a:ext cx="795867" cy="52493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2C7BF3-051B-36A1-773B-59A33F345AC8}"/>
              </a:ext>
            </a:extLst>
          </p:cNvPr>
          <p:cNvSpPr txBox="1"/>
          <p:nvPr/>
        </p:nvSpPr>
        <p:spPr>
          <a:xfrm>
            <a:off x="186267" y="3266517"/>
            <a:ext cx="2383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/>
              <a:t>LOW-MERGE</a:t>
            </a:r>
          </a:p>
          <a:p>
            <a:r>
              <a:rPr lang="fi-FI" sz="2200" dirty="0" err="1"/>
              <a:t>Very</a:t>
            </a:r>
            <a:r>
              <a:rPr lang="fi-FI" sz="2200" dirty="0"/>
              <a:t> </a:t>
            </a:r>
            <a:r>
              <a:rPr lang="fi-FI" sz="2200" dirty="0" err="1"/>
              <a:t>similar</a:t>
            </a:r>
            <a:r>
              <a:rPr lang="fi-FI" sz="2200" dirty="0"/>
              <a:t> </a:t>
            </a:r>
            <a:r>
              <a:rPr lang="fi-FI" sz="2200" dirty="0" err="1"/>
              <a:t>cases</a:t>
            </a:r>
            <a:endParaRPr lang="fr-FR" sz="2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B6712B-167B-8013-10F1-35A73B847427}"/>
              </a:ext>
            </a:extLst>
          </p:cNvPr>
          <p:cNvCxnSpPr>
            <a:cxnSpLocks/>
          </p:cNvCxnSpPr>
          <p:nvPr/>
        </p:nvCxnSpPr>
        <p:spPr>
          <a:xfrm flipH="1">
            <a:off x="8407396" y="1999604"/>
            <a:ext cx="770471" cy="60680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01AEF29-4E52-93FE-0B46-67C864D6AE25}"/>
              </a:ext>
            </a:extLst>
          </p:cNvPr>
          <p:cNvSpPr txBox="1"/>
          <p:nvPr/>
        </p:nvSpPr>
        <p:spPr>
          <a:xfrm>
            <a:off x="9300626" y="1479764"/>
            <a:ext cx="27220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/>
              <a:t>HIGH-MERGE</a:t>
            </a:r>
          </a:p>
          <a:p>
            <a:r>
              <a:rPr lang="fi-FI" sz="2200" dirty="0"/>
              <a:t>More </a:t>
            </a:r>
            <a:r>
              <a:rPr lang="fi-FI" sz="2200" dirty="0" err="1"/>
              <a:t>different</a:t>
            </a:r>
            <a:r>
              <a:rPr lang="fi-FI" sz="2200" dirty="0"/>
              <a:t> </a:t>
            </a:r>
            <a:r>
              <a:rPr lang="fi-FI" sz="2200" dirty="0" err="1"/>
              <a:t>cases</a:t>
            </a:r>
            <a:endParaRPr lang="fr-FR" sz="22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712A7AB-1DB0-D946-FB59-3CCAF8A4DEE9}"/>
              </a:ext>
            </a:extLst>
          </p:cNvPr>
          <p:cNvCxnSpPr/>
          <p:nvPr/>
        </p:nvCxnSpPr>
        <p:spPr>
          <a:xfrm>
            <a:off x="1337912" y="4494998"/>
            <a:ext cx="984443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454C09-B9D7-5876-320C-7980A8360190}"/>
              </a:ext>
            </a:extLst>
          </p:cNvPr>
          <p:cNvCxnSpPr/>
          <p:nvPr/>
        </p:nvCxnSpPr>
        <p:spPr>
          <a:xfrm>
            <a:off x="1469725" y="3675246"/>
            <a:ext cx="9844436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0C81F2-2E1B-82CA-B54F-E6D3E93E459B}"/>
              </a:ext>
            </a:extLst>
          </p:cNvPr>
          <p:cNvCxnSpPr/>
          <p:nvPr/>
        </p:nvCxnSpPr>
        <p:spPr>
          <a:xfrm>
            <a:off x="1469725" y="2574326"/>
            <a:ext cx="9844436" cy="0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63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7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6CDA-5C47-A880-8CE2-25920FF7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Linkage </a:t>
            </a:r>
            <a:r>
              <a:rPr lang="fr-FR" dirty="0" err="1"/>
              <a:t>methods</a:t>
            </a:r>
            <a:r>
              <a:rPr lang="fr-FR" dirty="0"/>
              <a:t>: Ward, </a:t>
            </a:r>
            <a:r>
              <a:rPr lang="fr-FR" dirty="0" err="1"/>
              <a:t>average</a:t>
            </a:r>
            <a:r>
              <a:rPr lang="fr-FR" dirty="0"/>
              <a:t>, </a:t>
            </a:r>
            <a:r>
              <a:rPr lang="fr-FR" dirty="0" err="1"/>
              <a:t>complete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737397-3414-D780-8301-8489DA182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095638"/>
              </p:ext>
            </p:extLst>
          </p:nvPr>
        </p:nvGraphicFramePr>
        <p:xfrm>
          <a:off x="1252085" y="1690688"/>
          <a:ext cx="9855468" cy="246888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4927734">
                  <a:extLst>
                    <a:ext uri="{9D8B030D-6E8A-4147-A177-3AD203B41FA5}">
                      <a16:colId xmlns:a16="http://schemas.microsoft.com/office/drawing/2014/main" val="370151905"/>
                    </a:ext>
                  </a:extLst>
                </a:gridCol>
                <a:gridCol w="4927734">
                  <a:extLst>
                    <a:ext uri="{9D8B030D-6E8A-4147-A177-3AD203B41FA5}">
                      <a16:colId xmlns:a16="http://schemas.microsoft.com/office/drawing/2014/main" val="3450946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/>
                        <a:t>Method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/>
                        <a:t>Intuition </a:t>
                      </a:r>
                      <a:r>
                        <a:rPr lang="fr-FR" sz="2200" b="1" dirty="0" err="1"/>
                        <a:t>behind</a:t>
                      </a:r>
                      <a:r>
                        <a:rPr lang="fr-FR" sz="2200" b="1" dirty="0"/>
                        <a:t> </a:t>
                      </a:r>
                      <a:r>
                        <a:rPr lang="fr-FR" sz="2200" b="1" dirty="0" err="1"/>
                        <a:t>it</a:t>
                      </a:r>
                      <a:endParaRPr lang="fr-FR" sz="2200" b="1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495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Single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Merge groups with closest members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50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Merge based on most distant members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06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Merge based on average distance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53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Merge to minimise </a:t>
                      </a:r>
                      <a:r>
                        <a:rPr lang="fr-FR" sz="2200" dirty="0" err="1"/>
                        <a:t>within</a:t>
                      </a:r>
                      <a:r>
                        <a:rPr lang="fr-FR" sz="2200" dirty="0"/>
                        <a:t>-group variance/</a:t>
                      </a:r>
                      <a:r>
                        <a:rPr lang="fr-FR" sz="2200" dirty="0" err="1"/>
                        <a:t>discrepancy</a:t>
                      </a:r>
                      <a:endParaRPr lang="fr-FR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9066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F53950-8209-E4D1-A10A-7B85684385A7}"/>
              </a:ext>
            </a:extLst>
          </p:cNvPr>
          <p:cNvSpPr txBox="1"/>
          <p:nvPr/>
        </p:nvSpPr>
        <p:spPr>
          <a:xfrm>
            <a:off x="2450934" y="5038855"/>
            <a:ext cx="745776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dirty="0"/>
              <a:t>The </a:t>
            </a:r>
            <a:r>
              <a:rPr lang="fr-FR" sz="2600" dirty="0" err="1"/>
              <a:t>same</a:t>
            </a:r>
            <a:r>
              <a:rPr lang="fr-FR" sz="2600" dirty="0"/>
              <a:t> distance matrix can </a:t>
            </a:r>
            <a:r>
              <a:rPr lang="fr-FR" sz="2600" dirty="0" err="1"/>
              <a:t>produce</a:t>
            </a:r>
            <a:r>
              <a:rPr lang="fr-FR" sz="2600" dirty="0"/>
              <a:t> </a:t>
            </a:r>
            <a:r>
              <a:rPr lang="fr-FR" sz="2600" dirty="0" err="1"/>
              <a:t>different</a:t>
            </a:r>
            <a:r>
              <a:rPr lang="fr-FR" sz="2600" dirty="0"/>
              <a:t> clusters </a:t>
            </a:r>
            <a:r>
              <a:rPr lang="fr-FR" sz="2600" dirty="0" err="1"/>
              <a:t>depending</a:t>
            </a:r>
            <a:r>
              <a:rPr lang="fr-FR" sz="2600" dirty="0"/>
              <a:t> on linkage </a:t>
            </a:r>
            <a:r>
              <a:rPr lang="fr-FR" sz="2600" dirty="0" err="1"/>
              <a:t>method</a:t>
            </a:r>
            <a:r>
              <a:rPr lang="fr-FR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617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94AE-6A60-EF4C-AFF7-568BEA96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Why Ward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in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2C65B0-A749-59C1-569E-D504A1286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634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1417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AE00-216D-3463-5C8D-03B59FE2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 </a:t>
            </a:r>
            <a:r>
              <a:rPr lang="fr-FR" dirty="0" err="1"/>
              <a:t>choices</a:t>
            </a:r>
            <a:r>
              <a:rPr lang="fr-FR" dirty="0"/>
              <a:t> are </a:t>
            </a:r>
            <a:r>
              <a:rPr lang="fr-FR" dirty="0" err="1"/>
              <a:t>connected</a:t>
            </a:r>
            <a:r>
              <a:rPr lang="fr-FR" dirty="0"/>
              <a:t> to distance </a:t>
            </a:r>
            <a:r>
              <a:rPr lang="fr-FR" dirty="0" err="1"/>
              <a:t>choices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BA5E-DBE1-17EB-DF2B-BD8DD5E3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9876"/>
            <a:ext cx="10515600" cy="2317086"/>
          </a:xfrm>
        </p:spPr>
        <p:txBody>
          <a:bodyPr/>
          <a:lstStyle/>
          <a:p>
            <a:r>
              <a:rPr lang="fr-FR" dirty="0"/>
              <a:t>For </a:t>
            </a:r>
            <a:r>
              <a:rPr lang="fr-FR" dirty="0" err="1"/>
              <a:t>example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Hamming distance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early</a:t>
            </a:r>
            <a:r>
              <a:rPr lang="fr-FR" dirty="0"/>
              <a:t>/</a:t>
            </a:r>
            <a:r>
              <a:rPr lang="fr-FR" dirty="0" err="1"/>
              <a:t>late</a:t>
            </a:r>
            <a:r>
              <a:rPr lang="fr-FR" dirty="0"/>
              <a:t> timing groups. </a:t>
            </a:r>
          </a:p>
          <a:p>
            <a:pPr lvl="1"/>
            <a:r>
              <a:rPr lang="fr-FR" dirty="0"/>
              <a:t>Low-</a:t>
            </a:r>
            <a:r>
              <a:rPr lang="fr-FR" dirty="0" err="1"/>
              <a:t>indel</a:t>
            </a:r>
            <a:r>
              <a:rPr lang="fr-FR" dirty="0"/>
              <a:t> OM </a:t>
            </a:r>
            <a:r>
              <a:rPr lang="fr-FR" dirty="0" err="1"/>
              <a:t>may</a:t>
            </a:r>
            <a:r>
              <a:rPr lang="fr-FR" dirty="0"/>
              <a:t> group </a:t>
            </a:r>
            <a:r>
              <a:rPr lang="fr-FR" dirty="0" err="1"/>
              <a:t>delayed</a:t>
            </a:r>
            <a:r>
              <a:rPr lang="fr-FR" dirty="0"/>
              <a:t> but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. </a:t>
            </a:r>
          </a:p>
          <a:p>
            <a:pPr lvl="1"/>
            <a:r>
              <a:rPr lang="fr-FR" dirty="0" err="1"/>
              <a:t>Different</a:t>
            </a:r>
            <a:r>
              <a:rPr lang="fr-FR" dirty="0"/>
              <a:t> distances can lead to </a:t>
            </a:r>
            <a:r>
              <a:rPr lang="fr-FR" dirty="0" err="1"/>
              <a:t>different</a:t>
            </a:r>
            <a:r>
              <a:rPr lang="fr-FR" dirty="0"/>
              <a:t> clusters.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B6E166F8-FCA7-94F9-358F-C48C72633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3635849"/>
              </p:ext>
            </p:extLst>
          </p:nvPr>
        </p:nvGraphicFramePr>
        <p:xfrm>
          <a:off x="926805" y="1903597"/>
          <a:ext cx="10515600" cy="1743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968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25993-57ED-DB9F-577A-D2F1A421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the number of clusters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E1D65-B63F-46E7-F443-58260F8A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90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82FA-13EA-0761-5DEE-F26C4111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difficult</a:t>
            </a:r>
            <a:r>
              <a:rPr lang="fr-FR" dirty="0"/>
              <a:t> question: how </a:t>
            </a:r>
            <a:r>
              <a:rPr lang="fr-FR" dirty="0" err="1"/>
              <a:t>many</a:t>
            </a:r>
            <a:r>
              <a:rPr lang="fr-FR" dirty="0"/>
              <a:t> clusters?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B51D-6E42-771D-66FA-2793927D9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148" y="1825625"/>
            <a:ext cx="5165651" cy="4351338"/>
          </a:xfrm>
        </p:spPr>
        <p:txBody>
          <a:bodyPr/>
          <a:lstStyle/>
          <a:p>
            <a:r>
              <a:rPr lang="fi-FI" dirty="0" err="1"/>
              <a:t>Same</a:t>
            </a:r>
            <a:r>
              <a:rPr lang="fi-FI" dirty="0"/>
              <a:t> </a:t>
            </a:r>
            <a:r>
              <a:rPr lang="fi-FI" dirty="0" err="1"/>
              <a:t>sequences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cut</a:t>
            </a:r>
            <a:r>
              <a:rPr lang="fi-FI" dirty="0"/>
              <a:t> into 2, 3, 4, 6 </a:t>
            </a:r>
            <a:r>
              <a:rPr lang="fi-FI" dirty="0" err="1"/>
              <a:t>groups</a:t>
            </a:r>
            <a:r>
              <a:rPr lang="fi-FI" dirty="0"/>
              <a:t>…</a:t>
            </a:r>
          </a:p>
          <a:p>
            <a:pPr lvl="1"/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rarely</a:t>
            </a:r>
            <a:r>
              <a:rPr lang="fr-FR" dirty="0"/>
              <a:t> one </a:t>
            </a:r>
            <a:r>
              <a:rPr lang="fr-FR" dirty="0" err="1"/>
              <a:t>obviously</a:t>
            </a:r>
            <a:r>
              <a:rPr lang="fr-FR" dirty="0"/>
              <a:t> correct </a:t>
            </a:r>
            <a:r>
              <a:rPr lang="fr-FR" dirty="0" err="1"/>
              <a:t>number</a:t>
            </a:r>
            <a:r>
              <a:rPr lang="fr-FR" dirty="0"/>
              <a:t>.</a:t>
            </a:r>
          </a:p>
          <a:p>
            <a:r>
              <a:rPr lang="fr-FR" b="1" dirty="0" err="1"/>
              <a:t>Three</a:t>
            </a:r>
            <a:r>
              <a:rPr lang="fr-FR" b="1" dirty="0"/>
              <a:t> </a:t>
            </a:r>
            <a:r>
              <a:rPr lang="fr-FR" b="1" dirty="0" err="1"/>
              <a:t>criteria</a:t>
            </a:r>
            <a:r>
              <a:rPr lang="fr-FR" b="1" dirty="0"/>
              <a:t>:</a:t>
            </a:r>
            <a:endParaRPr lang="fr-FR" dirty="0"/>
          </a:p>
          <a:p>
            <a:pPr lvl="1"/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quality</a:t>
            </a:r>
            <a:endParaRPr lang="fr-FR" dirty="0"/>
          </a:p>
          <a:p>
            <a:pPr lvl="1"/>
            <a:r>
              <a:rPr lang="fr-FR" dirty="0"/>
              <a:t>Substantive </a:t>
            </a:r>
            <a:r>
              <a:rPr lang="fr-FR" dirty="0" err="1"/>
              <a:t>meaning</a:t>
            </a:r>
            <a:endParaRPr lang="fr-FR" dirty="0"/>
          </a:p>
          <a:p>
            <a:pPr lvl="1"/>
            <a:r>
              <a:rPr lang="fr-FR" dirty="0" err="1"/>
              <a:t>Usefulness</a:t>
            </a:r>
            <a:r>
              <a:rPr lang="fr-FR" dirty="0"/>
              <a:t> for the </a:t>
            </a:r>
            <a:r>
              <a:rPr lang="fr-FR" dirty="0" err="1"/>
              <a:t>research</a:t>
            </a:r>
            <a:r>
              <a:rPr lang="fr-FR" dirty="0"/>
              <a:t> question.</a:t>
            </a:r>
          </a:p>
          <a:p>
            <a:endParaRPr lang="fr-FR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C058A9F-5DFB-EB4A-26B7-33DD60812747}"/>
              </a:ext>
            </a:extLst>
          </p:cNvPr>
          <p:cNvSpPr/>
          <p:nvPr/>
        </p:nvSpPr>
        <p:spPr>
          <a:xfrm>
            <a:off x="1208310" y="2620679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D4160FC-454D-85B2-71F3-E012C6619550}"/>
              </a:ext>
            </a:extLst>
          </p:cNvPr>
          <p:cNvSpPr/>
          <p:nvPr/>
        </p:nvSpPr>
        <p:spPr>
          <a:xfrm>
            <a:off x="1208310" y="309377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14A1755-BE73-52A8-097B-B3BF191F5815}"/>
              </a:ext>
            </a:extLst>
          </p:cNvPr>
          <p:cNvSpPr/>
          <p:nvPr/>
        </p:nvSpPr>
        <p:spPr>
          <a:xfrm>
            <a:off x="1208310" y="3510735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9CB4DCA-1B55-34FE-175E-9AC287DE62D3}"/>
              </a:ext>
            </a:extLst>
          </p:cNvPr>
          <p:cNvSpPr/>
          <p:nvPr/>
        </p:nvSpPr>
        <p:spPr>
          <a:xfrm>
            <a:off x="1208310" y="3983833"/>
            <a:ext cx="3859446" cy="321156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A54C42EB-E162-E93B-DCEE-A37700A75396}"/>
              </a:ext>
            </a:extLst>
          </p:cNvPr>
          <p:cNvSpPr/>
          <p:nvPr/>
        </p:nvSpPr>
        <p:spPr>
          <a:xfrm>
            <a:off x="1208310" y="4423570"/>
            <a:ext cx="3859446" cy="321156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4210A294-AAD3-C899-C9F6-A1907C5F6A83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FC68D12-158E-8434-5BA7-A7CD8E362663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1A217C71-B079-3FE5-1C0E-E52EC6BF7FFC}"/>
              </a:ext>
            </a:extLst>
          </p:cNvPr>
          <p:cNvSpPr/>
          <p:nvPr/>
        </p:nvSpPr>
        <p:spPr>
          <a:xfrm>
            <a:off x="1208310" y="2146183"/>
            <a:ext cx="3859446" cy="3211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CCFDC444-9237-22A6-2BAC-601E60010AB5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CE42E1-9E39-D39B-A54D-8BBF54DA3626}"/>
              </a:ext>
            </a:extLst>
          </p:cNvPr>
          <p:cNvCxnSpPr/>
          <p:nvPr/>
        </p:nvCxnSpPr>
        <p:spPr>
          <a:xfrm>
            <a:off x="276447" y="4813736"/>
            <a:ext cx="5401339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E103CDD-440C-40BE-45CA-37C7DC57FAB2}"/>
              </a:ext>
            </a:extLst>
          </p:cNvPr>
          <p:cNvCxnSpPr/>
          <p:nvPr/>
        </p:nvCxnSpPr>
        <p:spPr>
          <a:xfrm>
            <a:off x="276447" y="3920771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D5A4A39-41CA-674C-2172-ACBE4546E031}"/>
              </a:ext>
            </a:extLst>
          </p:cNvPr>
          <p:cNvCxnSpPr/>
          <p:nvPr/>
        </p:nvCxnSpPr>
        <p:spPr>
          <a:xfrm>
            <a:off x="276447" y="4746229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784658-BF77-BAE2-41BB-B5DAE95284FD}"/>
              </a:ext>
            </a:extLst>
          </p:cNvPr>
          <p:cNvCxnSpPr/>
          <p:nvPr/>
        </p:nvCxnSpPr>
        <p:spPr>
          <a:xfrm>
            <a:off x="276447" y="4896668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7F3F87-7C68-C20C-0FE0-3E18D4E4412A}"/>
              </a:ext>
            </a:extLst>
          </p:cNvPr>
          <p:cNvCxnSpPr/>
          <p:nvPr/>
        </p:nvCxnSpPr>
        <p:spPr>
          <a:xfrm>
            <a:off x="276447" y="3831891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D0B834E-E62A-5CA8-0FB4-C45D3CB5EA9E}"/>
              </a:ext>
            </a:extLst>
          </p:cNvPr>
          <p:cNvCxnSpPr/>
          <p:nvPr/>
        </p:nvCxnSpPr>
        <p:spPr>
          <a:xfrm>
            <a:off x="276447" y="3458979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2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4144-B08D-E299-D3C0-6F96F239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criteria</a:t>
            </a:r>
            <a:r>
              <a:rPr lang="fr-FR" dirty="0"/>
              <a:t>: ASW, CH, </a:t>
            </a:r>
            <a:r>
              <a:rPr lang="fr-FR" dirty="0" err="1"/>
              <a:t>Hubert’s</a:t>
            </a:r>
            <a:r>
              <a:rPr lang="fr-FR" dirty="0"/>
              <a:t> Gamma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6F1803-EB0F-9900-C072-F899DF2B4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489852"/>
              </p:ext>
            </p:extLst>
          </p:nvPr>
        </p:nvGraphicFramePr>
        <p:xfrm>
          <a:off x="636181" y="1859280"/>
          <a:ext cx="10515600" cy="3474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7908653"/>
                    </a:ext>
                  </a:extLst>
                </a:gridCol>
                <a:gridCol w="4811233">
                  <a:extLst>
                    <a:ext uri="{9D8B030D-6E8A-4147-A177-3AD203B41FA5}">
                      <a16:colId xmlns:a16="http://schemas.microsoft.com/office/drawing/2014/main" val="863030884"/>
                    </a:ext>
                  </a:extLst>
                </a:gridCol>
                <a:gridCol w="2199167">
                  <a:extLst>
                    <a:ext uri="{9D8B030D-6E8A-4147-A177-3AD203B41FA5}">
                      <a16:colId xmlns:a16="http://schemas.microsoft.com/office/drawing/2014/main" val="2843532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 err="1"/>
                        <a:t>Criterion</a:t>
                      </a:r>
                      <a:endParaRPr lang="fr-FR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/>
                        <a:t>Intuition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b="1" dirty="0" err="1"/>
                        <a:t>We</a:t>
                      </a:r>
                      <a:r>
                        <a:rPr lang="fr-FR" sz="2200" b="1" dirty="0"/>
                        <a:t> </a:t>
                      </a:r>
                      <a:r>
                        <a:rPr lang="fr-FR" sz="2200" b="1" dirty="0" err="1"/>
                        <a:t>want</a:t>
                      </a:r>
                      <a:r>
                        <a:rPr lang="fr-FR" sz="2200" b="1" dirty="0"/>
                        <a:t> the value to </a:t>
                      </a:r>
                      <a:r>
                        <a:rPr lang="fr-FR" sz="2200" b="1" dirty="0" err="1"/>
                        <a:t>be</a:t>
                      </a:r>
                      <a:endParaRPr lang="fr-FR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354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 err="1"/>
                        <a:t>Average</a:t>
                      </a:r>
                      <a:r>
                        <a:rPr lang="fr-FR" sz="2200" dirty="0"/>
                        <a:t> Silhouette </a:t>
                      </a:r>
                      <a:r>
                        <a:rPr lang="fr-FR" sz="2200" dirty="0" err="1"/>
                        <a:t>Width</a:t>
                      </a:r>
                      <a:r>
                        <a:rPr lang="fr-FR" sz="2200" dirty="0"/>
                        <a:t> (ASW)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Are people </a:t>
                      </a:r>
                      <a:r>
                        <a:rPr lang="fr-FR" sz="2200" dirty="0" err="1"/>
                        <a:t>well</a:t>
                      </a:r>
                      <a:r>
                        <a:rPr lang="fr-FR" sz="2200" dirty="0"/>
                        <a:t> </a:t>
                      </a:r>
                      <a:r>
                        <a:rPr lang="fr-FR" sz="2200" dirty="0" err="1"/>
                        <a:t>assigned</a:t>
                      </a:r>
                      <a:r>
                        <a:rPr lang="fr-FR" sz="2200" dirty="0"/>
                        <a:t> to </a:t>
                      </a:r>
                      <a:r>
                        <a:rPr lang="fr-FR" sz="2200" dirty="0" err="1"/>
                        <a:t>their</a:t>
                      </a:r>
                      <a:r>
                        <a:rPr lang="fr-FR" sz="2200" dirty="0"/>
                        <a:t> cluster?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 err="1"/>
                        <a:t>Higher</a:t>
                      </a:r>
                      <a:endParaRPr lang="fr-F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87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 err="1"/>
                        <a:t>Calinski-Harabasz</a:t>
                      </a:r>
                      <a:r>
                        <a:rPr lang="fr-FR" sz="2200" dirty="0"/>
                        <a:t> index (CH)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Ratio of between/within cluster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Hubert’s Gamma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Does the partition reproduce the distance matrix?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90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Hubert’s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Gap from best possible partition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129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11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F8C0-26CD-5009-269C-D6D79590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Substantive </a:t>
            </a:r>
            <a:r>
              <a:rPr lang="fr-FR" dirty="0" err="1"/>
              <a:t>criteria</a:t>
            </a:r>
            <a:r>
              <a:rPr lang="fr-FR" dirty="0"/>
              <a:t>: </a:t>
            </a:r>
            <a:r>
              <a:rPr lang="fr-FR" dirty="0" err="1"/>
              <a:t>interpretability</a:t>
            </a:r>
            <a:r>
              <a:rPr lang="fr-FR" dirty="0"/>
              <a:t> and </a:t>
            </a:r>
            <a:r>
              <a:rPr lang="fr-FR" dirty="0" err="1"/>
              <a:t>usefulness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0EF2-4413-759B-B032-5E9132C2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648" y="1825625"/>
            <a:ext cx="4744151" cy="4351338"/>
          </a:xfrm>
        </p:spPr>
        <p:txBody>
          <a:bodyPr>
            <a:normAutofit lnSpcReduction="10000"/>
          </a:bodyPr>
          <a:lstStyle/>
          <a:p>
            <a:r>
              <a:rPr lang="fi-FI" dirty="0"/>
              <a:t>Can I </a:t>
            </a:r>
            <a:r>
              <a:rPr lang="fi-FI" dirty="0" err="1"/>
              <a:t>explain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of </a:t>
            </a:r>
            <a:r>
              <a:rPr lang="fi-FI" dirty="0" err="1"/>
              <a:t>these</a:t>
            </a:r>
            <a:r>
              <a:rPr lang="fi-FI" dirty="0"/>
              <a:t> </a:t>
            </a:r>
            <a:r>
              <a:rPr lang="fi-FI" dirty="0" err="1"/>
              <a:t>groups</a:t>
            </a:r>
            <a:r>
              <a:rPr lang="fi-FI" dirty="0"/>
              <a:t> in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sentence</a:t>
            </a:r>
            <a:r>
              <a:rPr lang="fi-FI" dirty="0"/>
              <a:t>?</a:t>
            </a:r>
          </a:p>
          <a:p>
            <a:pPr lvl="1"/>
            <a:r>
              <a:rPr lang="fr-FR" dirty="0"/>
              <a:t>Can I </a:t>
            </a:r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cluster </a:t>
            </a:r>
            <a:r>
              <a:rPr lang="fr-FR" dirty="0" err="1"/>
              <a:t>clearly</a:t>
            </a:r>
            <a:r>
              <a:rPr lang="fr-FR" dirty="0"/>
              <a:t>? </a:t>
            </a:r>
          </a:p>
          <a:p>
            <a:pPr lvl="1"/>
            <a:r>
              <a:rPr lang="fr-FR" dirty="0"/>
              <a:t>Are clusters distinct </a:t>
            </a:r>
            <a:r>
              <a:rPr lang="fr-FR" dirty="0" err="1"/>
              <a:t>enough</a:t>
            </a:r>
            <a:r>
              <a:rPr lang="fr-FR" dirty="0"/>
              <a:t>? </a:t>
            </a:r>
          </a:p>
          <a:p>
            <a:pPr lvl="1"/>
            <a:r>
              <a:rPr lang="fr-FR" dirty="0"/>
              <a:t>Do labels </a:t>
            </a:r>
            <a:r>
              <a:rPr lang="fr-FR" dirty="0" err="1"/>
              <a:t>reflect</a:t>
            </a:r>
            <a:r>
              <a:rPr lang="fr-FR" dirty="0"/>
              <a:t> real </a:t>
            </a:r>
            <a:r>
              <a:rPr lang="fr-FR" dirty="0" err="1"/>
              <a:t>trajectory</a:t>
            </a:r>
            <a:r>
              <a:rPr lang="fr-FR" dirty="0"/>
              <a:t> </a:t>
            </a:r>
            <a:r>
              <a:rPr lang="fr-FR" dirty="0" err="1"/>
              <a:t>differences</a:t>
            </a:r>
            <a:r>
              <a:rPr lang="fr-FR" dirty="0"/>
              <a:t>? </a:t>
            </a:r>
          </a:p>
          <a:p>
            <a:pPr lvl="1"/>
            <a:r>
              <a:rPr lang="fr-FR" dirty="0"/>
              <a:t>Are clusters large </a:t>
            </a:r>
            <a:r>
              <a:rPr lang="fr-FR" dirty="0" err="1"/>
              <a:t>enough</a:t>
            </a:r>
            <a:r>
              <a:rPr lang="fr-FR" dirty="0"/>
              <a:t> to analyse? </a:t>
            </a:r>
          </a:p>
          <a:p>
            <a:pPr lvl="1"/>
            <a:r>
              <a:rPr lang="fr-FR" dirty="0"/>
              <a:t>Does the </a:t>
            </a:r>
            <a:r>
              <a:rPr lang="fr-FR" dirty="0" err="1"/>
              <a:t>typology</a:t>
            </a:r>
            <a:r>
              <a:rPr lang="fr-FR" dirty="0"/>
              <a:t> help </a:t>
            </a:r>
            <a:r>
              <a:rPr lang="fr-FR" dirty="0" err="1"/>
              <a:t>answer</a:t>
            </a:r>
            <a:r>
              <a:rPr lang="fr-FR" dirty="0"/>
              <a:t> the </a:t>
            </a:r>
            <a:r>
              <a:rPr lang="fr-FR" dirty="0" err="1"/>
              <a:t>research</a:t>
            </a:r>
            <a:r>
              <a:rPr lang="fr-FR" dirty="0"/>
              <a:t> question?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60FE3178-9552-E007-CA20-47BEE1E10FAC}"/>
              </a:ext>
            </a:extLst>
          </p:cNvPr>
          <p:cNvSpPr/>
          <p:nvPr/>
        </p:nvSpPr>
        <p:spPr>
          <a:xfrm>
            <a:off x="1208310" y="2620679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2A5A958-778C-7278-3523-79C8AE2B0B22}"/>
              </a:ext>
            </a:extLst>
          </p:cNvPr>
          <p:cNvSpPr/>
          <p:nvPr/>
        </p:nvSpPr>
        <p:spPr>
          <a:xfrm>
            <a:off x="1208310" y="309377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78B0F08-9BFF-30E5-64E4-F2B32B035319}"/>
              </a:ext>
            </a:extLst>
          </p:cNvPr>
          <p:cNvSpPr/>
          <p:nvPr/>
        </p:nvSpPr>
        <p:spPr>
          <a:xfrm>
            <a:off x="1208310" y="3510735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8DDF3404-B38C-CB94-3138-CD3F0BD5A4D6}"/>
              </a:ext>
            </a:extLst>
          </p:cNvPr>
          <p:cNvSpPr/>
          <p:nvPr/>
        </p:nvSpPr>
        <p:spPr>
          <a:xfrm>
            <a:off x="1208310" y="3983833"/>
            <a:ext cx="3859446" cy="321156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B91931D-5E56-AD32-DF0C-966710B7BAB8}"/>
              </a:ext>
            </a:extLst>
          </p:cNvPr>
          <p:cNvSpPr/>
          <p:nvPr/>
        </p:nvSpPr>
        <p:spPr>
          <a:xfrm>
            <a:off x="1208310" y="4423570"/>
            <a:ext cx="3859446" cy="321156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564C769-814B-2BDA-78CD-9270D880D5CC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8143633-84DF-C515-8B65-FC510D7B4C7A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D74D020-FEF1-F8CA-8151-CEF9B3B01F6F}"/>
              </a:ext>
            </a:extLst>
          </p:cNvPr>
          <p:cNvSpPr/>
          <p:nvPr/>
        </p:nvSpPr>
        <p:spPr>
          <a:xfrm>
            <a:off x="1208310" y="2146183"/>
            <a:ext cx="3859446" cy="3211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E5DDA9E-EC8A-C3C4-9219-0124B048246F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D62642-C178-B732-B8E8-F8F6F040A059}"/>
              </a:ext>
            </a:extLst>
          </p:cNvPr>
          <p:cNvCxnSpPr/>
          <p:nvPr/>
        </p:nvCxnSpPr>
        <p:spPr>
          <a:xfrm>
            <a:off x="276447" y="4813736"/>
            <a:ext cx="5401339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112B01-601A-3560-DE66-7697EB059336}"/>
              </a:ext>
            </a:extLst>
          </p:cNvPr>
          <p:cNvCxnSpPr/>
          <p:nvPr/>
        </p:nvCxnSpPr>
        <p:spPr>
          <a:xfrm>
            <a:off x="276447" y="3920771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30ECFA-271A-C550-2349-434A1088F480}"/>
              </a:ext>
            </a:extLst>
          </p:cNvPr>
          <p:cNvCxnSpPr/>
          <p:nvPr/>
        </p:nvCxnSpPr>
        <p:spPr>
          <a:xfrm>
            <a:off x="276447" y="4746229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0FFF69-3146-23F5-752D-928C496B8BFB}"/>
              </a:ext>
            </a:extLst>
          </p:cNvPr>
          <p:cNvCxnSpPr/>
          <p:nvPr/>
        </p:nvCxnSpPr>
        <p:spPr>
          <a:xfrm>
            <a:off x="276447" y="4896668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ABD181-BB7D-96CA-3F69-C29B0F51F7BE}"/>
              </a:ext>
            </a:extLst>
          </p:cNvPr>
          <p:cNvCxnSpPr/>
          <p:nvPr/>
        </p:nvCxnSpPr>
        <p:spPr>
          <a:xfrm>
            <a:off x="276447" y="3831891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F40182-36FE-93B3-44AB-AB8B9533C81A}"/>
              </a:ext>
            </a:extLst>
          </p:cNvPr>
          <p:cNvCxnSpPr/>
          <p:nvPr/>
        </p:nvCxnSpPr>
        <p:spPr>
          <a:xfrm>
            <a:off x="276447" y="3458979"/>
            <a:ext cx="5401339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Arrow: Left 18">
            <a:extLst>
              <a:ext uri="{FF2B5EF4-FFF2-40B4-BE49-F238E27FC236}">
                <a16:creationId xmlns:a16="http://schemas.microsoft.com/office/drawing/2014/main" id="{E14584CA-3893-7925-34D2-9CE47DCB5D8D}"/>
              </a:ext>
            </a:extLst>
          </p:cNvPr>
          <p:cNvSpPr/>
          <p:nvPr/>
        </p:nvSpPr>
        <p:spPr>
          <a:xfrm>
            <a:off x="5571460" y="2620679"/>
            <a:ext cx="818707" cy="4054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4228F57B-781D-AFBB-D24A-438E4C447DDB}"/>
              </a:ext>
            </a:extLst>
          </p:cNvPr>
          <p:cNvSpPr/>
          <p:nvPr/>
        </p:nvSpPr>
        <p:spPr>
          <a:xfrm>
            <a:off x="5571459" y="3486177"/>
            <a:ext cx="818707" cy="405428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D3CC09B4-5071-C741-C449-002108E8DB9C}"/>
              </a:ext>
            </a:extLst>
          </p:cNvPr>
          <p:cNvSpPr/>
          <p:nvPr/>
        </p:nvSpPr>
        <p:spPr>
          <a:xfrm>
            <a:off x="5571458" y="4149956"/>
            <a:ext cx="818707" cy="405428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A96C1C93-0639-5D98-4D6F-52E71942B238}"/>
              </a:ext>
            </a:extLst>
          </p:cNvPr>
          <p:cNvSpPr/>
          <p:nvPr/>
        </p:nvSpPr>
        <p:spPr>
          <a:xfrm>
            <a:off x="5571457" y="5300397"/>
            <a:ext cx="818707" cy="40542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774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E85A-41D3-13EB-4B25-B25C7403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</a:t>
            </a:r>
            <a:r>
              <a:rPr lang="fr-FR" dirty="0" err="1"/>
              <a:t>oo</a:t>
            </a:r>
            <a:r>
              <a:rPr lang="fr-FR" dirty="0"/>
              <a:t> few clusters: important </a:t>
            </a:r>
            <a:r>
              <a:rPr lang="fr-FR" dirty="0" err="1"/>
              <a:t>differences</a:t>
            </a:r>
            <a:r>
              <a:rPr lang="fr-FR" dirty="0"/>
              <a:t> </a:t>
            </a:r>
            <a:r>
              <a:rPr lang="fr-FR" dirty="0" err="1"/>
              <a:t>disappear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8871-563F-BB4F-8A9E-B9C8E02B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1825625"/>
            <a:ext cx="5410200" cy="4351338"/>
          </a:xfrm>
        </p:spPr>
        <p:txBody>
          <a:bodyPr/>
          <a:lstStyle/>
          <a:p>
            <a:r>
              <a:rPr lang="fi-FI" b="1" dirty="0" err="1"/>
              <a:t>Example</a:t>
            </a:r>
            <a:r>
              <a:rPr lang="fi-FI" b="1" dirty="0"/>
              <a:t>: </a:t>
            </a:r>
            <a:r>
              <a:rPr lang="en-US" b="1" dirty="0"/>
              <a:t>2-cluster solution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D86C9943-4D73-7A43-1F31-04D0A608C25C}"/>
              </a:ext>
            </a:extLst>
          </p:cNvPr>
          <p:cNvSpPr/>
          <p:nvPr/>
        </p:nvSpPr>
        <p:spPr>
          <a:xfrm>
            <a:off x="1208310" y="2620679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0A3A190-474C-AB4A-BA98-A89596F16934}"/>
              </a:ext>
            </a:extLst>
          </p:cNvPr>
          <p:cNvSpPr/>
          <p:nvPr/>
        </p:nvSpPr>
        <p:spPr>
          <a:xfrm>
            <a:off x="1208310" y="309377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30072DD-3885-8616-7DA8-896100663981}"/>
              </a:ext>
            </a:extLst>
          </p:cNvPr>
          <p:cNvSpPr/>
          <p:nvPr/>
        </p:nvSpPr>
        <p:spPr>
          <a:xfrm>
            <a:off x="1208310" y="3510735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DC8E510-B01D-3691-721D-8DF400713237}"/>
              </a:ext>
            </a:extLst>
          </p:cNvPr>
          <p:cNvSpPr/>
          <p:nvPr/>
        </p:nvSpPr>
        <p:spPr>
          <a:xfrm>
            <a:off x="1208310" y="3983833"/>
            <a:ext cx="3859446" cy="321156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73061C38-7AE1-970F-6A2A-B68D8896D216}"/>
              </a:ext>
            </a:extLst>
          </p:cNvPr>
          <p:cNvSpPr/>
          <p:nvPr/>
        </p:nvSpPr>
        <p:spPr>
          <a:xfrm>
            <a:off x="1208310" y="4423570"/>
            <a:ext cx="3859446" cy="321156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3F97EF97-128F-22A0-8EC8-7E0159E43CEB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E18E448-77E2-F98A-CAE8-40F8474B7318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056714E-DF06-6623-B076-CB0007B0B4B0}"/>
              </a:ext>
            </a:extLst>
          </p:cNvPr>
          <p:cNvSpPr/>
          <p:nvPr/>
        </p:nvSpPr>
        <p:spPr>
          <a:xfrm>
            <a:off x="1208310" y="2146183"/>
            <a:ext cx="3859446" cy="3211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668A3158-D967-A7DB-2135-0469E68EB8AF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155537-8E95-A9E0-3B0D-4E78EC5EEE8E}"/>
              </a:ext>
            </a:extLst>
          </p:cNvPr>
          <p:cNvCxnSpPr/>
          <p:nvPr/>
        </p:nvCxnSpPr>
        <p:spPr>
          <a:xfrm>
            <a:off x="276447" y="3920771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E0EC9B1-BB63-1CFA-591E-0130F9F3606B}"/>
              </a:ext>
            </a:extLst>
          </p:cNvPr>
          <p:cNvSpPr txBox="1"/>
          <p:nvPr/>
        </p:nvSpPr>
        <p:spPr>
          <a:xfrm>
            <a:off x="5546222" y="2522652"/>
            <a:ext cx="244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dirty="0" err="1"/>
              <a:t>Mostly</a:t>
            </a:r>
            <a:r>
              <a:rPr lang="fi-FI" sz="2400" dirty="0"/>
              <a:t> </a:t>
            </a:r>
            <a:r>
              <a:rPr lang="fi-FI" sz="2400" dirty="0" err="1"/>
              <a:t>stable</a:t>
            </a:r>
            <a:endParaRPr lang="fi-FI" sz="2400" dirty="0"/>
          </a:p>
          <a:p>
            <a:r>
              <a:rPr lang="fi-FI" sz="2400" dirty="0" err="1"/>
              <a:t>employment</a:t>
            </a:r>
            <a:endParaRPr lang="fr-FR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FFF5F2-8AA0-D648-E76E-09B4F105D672}"/>
              </a:ext>
            </a:extLst>
          </p:cNvPr>
          <p:cNvSpPr txBox="1"/>
          <p:nvPr/>
        </p:nvSpPr>
        <p:spPr>
          <a:xfrm>
            <a:off x="5599385" y="4682522"/>
            <a:ext cx="244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dirty="0" err="1"/>
              <a:t>Mostly</a:t>
            </a:r>
            <a:r>
              <a:rPr lang="fi-FI" sz="2400" dirty="0"/>
              <a:t> </a:t>
            </a:r>
            <a:r>
              <a:rPr lang="fi-FI" sz="2400" dirty="0" err="1"/>
              <a:t>unstable</a:t>
            </a:r>
            <a:endParaRPr lang="fi-FI" sz="2400" dirty="0"/>
          </a:p>
          <a:p>
            <a:r>
              <a:rPr lang="fi-FI" sz="2400" dirty="0" err="1"/>
              <a:t>employment</a:t>
            </a:r>
            <a:endParaRPr lang="fr-FR" sz="2400" dirty="0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271C9922-442B-D8CF-BDE8-5A739C195481}"/>
              </a:ext>
            </a:extLst>
          </p:cNvPr>
          <p:cNvSpPr/>
          <p:nvPr/>
        </p:nvSpPr>
        <p:spPr>
          <a:xfrm>
            <a:off x="5067756" y="2009553"/>
            <a:ext cx="478465" cy="182233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6EBEE68-F76D-C142-CFFA-66E0416D1914}"/>
              </a:ext>
            </a:extLst>
          </p:cNvPr>
          <p:cNvSpPr/>
          <p:nvPr/>
        </p:nvSpPr>
        <p:spPr>
          <a:xfrm>
            <a:off x="5178056" y="4097903"/>
            <a:ext cx="478465" cy="202378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86FC33-A1A9-C119-3487-9EBBF0BD43C1}"/>
              </a:ext>
            </a:extLst>
          </p:cNvPr>
          <p:cNvSpPr/>
          <p:nvPr/>
        </p:nvSpPr>
        <p:spPr>
          <a:xfrm>
            <a:off x="8093150" y="2782776"/>
            <a:ext cx="3658028" cy="227598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fi-FI" sz="2400" dirty="0" err="1"/>
              <a:t>Problem</a:t>
            </a:r>
            <a:r>
              <a:rPr lang="fi-FI" sz="2400" dirty="0"/>
              <a:t>: </a:t>
            </a:r>
            <a:r>
              <a:rPr lang="fr-FR" sz="2400" dirty="0"/>
              <a:t>Too few clusters can over-</a:t>
            </a:r>
            <a:r>
              <a:rPr lang="fr-FR" sz="2400" dirty="0" err="1"/>
              <a:t>smooth</a:t>
            </a:r>
            <a:r>
              <a:rPr lang="fr-FR" sz="2400" dirty="0"/>
              <a:t> the life course and can </a:t>
            </a:r>
            <a:r>
              <a:rPr lang="fr-FR" sz="2400" dirty="0" err="1"/>
              <a:t>hide</a:t>
            </a:r>
            <a:r>
              <a:rPr lang="fr-FR" sz="2400" dirty="0"/>
              <a:t> major </a:t>
            </a:r>
            <a:r>
              <a:rPr lang="fr-FR" sz="2400" dirty="0" err="1"/>
              <a:t>differences</a:t>
            </a:r>
            <a:endParaRPr lang="fi-FI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248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649C-451B-1AE2-6941-0DF56AF2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Too </a:t>
            </a:r>
            <a:r>
              <a:rPr lang="fr-FR" dirty="0" err="1"/>
              <a:t>many</a:t>
            </a:r>
            <a:r>
              <a:rPr lang="fr-FR" dirty="0"/>
              <a:t> clusters: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becomes</a:t>
            </a:r>
            <a:r>
              <a:rPr lang="fr-FR" dirty="0"/>
              <a:t> </a:t>
            </a:r>
            <a:r>
              <a:rPr lang="fr-FR" dirty="0" err="1"/>
              <a:t>unreadable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6566-6994-21DD-3E99-0846F1A3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687" y="1426185"/>
            <a:ext cx="4027967" cy="4351338"/>
          </a:xfrm>
        </p:spPr>
        <p:txBody>
          <a:bodyPr/>
          <a:lstStyle/>
          <a:p>
            <a:r>
              <a:rPr lang="en-US" b="1" dirty="0"/>
              <a:t>9-cluster solution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F140AD7-92B2-4611-9C3A-DE2162747017}"/>
              </a:ext>
            </a:extLst>
          </p:cNvPr>
          <p:cNvSpPr/>
          <p:nvPr/>
        </p:nvSpPr>
        <p:spPr>
          <a:xfrm>
            <a:off x="1208310" y="2620679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3CEAD3C-6655-6BD6-1248-DA844A38F816}"/>
              </a:ext>
            </a:extLst>
          </p:cNvPr>
          <p:cNvSpPr/>
          <p:nvPr/>
        </p:nvSpPr>
        <p:spPr>
          <a:xfrm>
            <a:off x="1208310" y="309377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4D45481-3FCC-5B69-D31F-47D451C4E0FB}"/>
              </a:ext>
            </a:extLst>
          </p:cNvPr>
          <p:cNvSpPr/>
          <p:nvPr/>
        </p:nvSpPr>
        <p:spPr>
          <a:xfrm>
            <a:off x="1208310" y="3510735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AACF8BE-118E-579E-49E7-F0CF133A5446}"/>
              </a:ext>
            </a:extLst>
          </p:cNvPr>
          <p:cNvSpPr/>
          <p:nvPr/>
        </p:nvSpPr>
        <p:spPr>
          <a:xfrm>
            <a:off x="1208310" y="3983833"/>
            <a:ext cx="3859446" cy="321156"/>
          </a:xfrm>
          <a:prstGeom prst="homePlat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F3C06DC-F64F-D733-9031-F809AF8EB9C3}"/>
              </a:ext>
            </a:extLst>
          </p:cNvPr>
          <p:cNvSpPr/>
          <p:nvPr/>
        </p:nvSpPr>
        <p:spPr>
          <a:xfrm>
            <a:off x="1208310" y="4423570"/>
            <a:ext cx="3859446" cy="321156"/>
          </a:xfrm>
          <a:prstGeom prst="homePlat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7A17F1F-B729-8047-F9A6-E59CEDCB47C2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09D7665-7343-DAB1-33CD-7D992FD71F2F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7C81F2D-53FE-5C78-BA7D-6D2DF87DCE8D}"/>
              </a:ext>
            </a:extLst>
          </p:cNvPr>
          <p:cNvSpPr/>
          <p:nvPr/>
        </p:nvSpPr>
        <p:spPr>
          <a:xfrm>
            <a:off x="1208310" y="2146183"/>
            <a:ext cx="3859446" cy="3211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B6F18D72-B4FC-88AB-D513-49CF1309D65A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013247-2D70-BA69-D4CA-0F907E7730D1}"/>
              </a:ext>
            </a:extLst>
          </p:cNvPr>
          <p:cNvCxnSpPr/>
          <p:nvPr/>
        </p:nvCxnSpPr>
        <p:spPr>
          <a:xfrm>
            <a:off x="276447" y="2554238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AD81DD-CCF7-7E6C-C2BE-FB2D28FD87B6}"/>
              </a:ext>
            </a:extLst>
          </p:cNvPr>
          <p:cNvCxnSpPr/>
          <p:nvPr/>
        </p:nvCxnSpPr>
        <p:spPr>
          <a:xfrm>
            <a:off x="286651" y="3468203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4C6211-18FB-E476-A7BC-11A833867FB6}"/>
              </a:ext>
            </a:extLst>
          </p:cNvPr>
          <p:cNvCxnSpPr/>
          <p:nvPr/>
        </p:nvCxnSpPr>
        <p:spPr>
          <a:xfrm>
            <a:off x="308346" y="3885056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BE2DF7-1679-4523-1F3B-B73272E42950}"/>
              </a:ext>
            </a:extLst>
          </p:cNvPr>
          <p:cNvCxnSpPr/>
          <p:nvPr/>
        </p:nvCxnSpPr>
        <p:spPr>
          <a:xfrm>
            <a:off x="404039" y="4791594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DABA43-77DD-4408-12C1-E3F4D2C8D0EB}"/>
              </a:ext>
            </a:extLst>
          </p:cNvPr>
          <p:cNvCxnSpPr/>
          <p:nvPr/>
        </p:nvCxnSpPr>
        <p:spPr>
          <a:xfrm>
            <a:off x="418214" y="5260210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C20358-7E1A-79EC-E3AE-E2D424CB1989}"/>
              </a:ext>
            </a:extLst>
          </p:cNvPr>
          <p:cNvCxnSpPr/>
          <p:nvPr/>
        </p:nvCxnSpPr>
        <p:spPr>
          <a:xfrm>
            <a:off x="421754" y="5735757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C7D316-2F52-132F-16DA-3AABEB2480F3}"/>
              </a:ext>
            </a:extLst>
          </p:cNvPr>
          <p:cNvSpPr txBox="1"/>
          <p:nvPr/>
        </p:nvSpPr>
        <p:spPr>
          <a:xfrm>
            <a:off x="5206410" y="2033667"/>
            <a:ext cx="28794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 err="1"/>
              <a:t>Stable</a:t>
            </a:r>
            <a:r>
              <a:rPr lang="fi-FI" sz="2100" dirty="0"/>
              <a:t> </a:t>
            </a:r>
            <a:r>
              <a:rPr lang="fi-FI" sz="2100" dirty="0" err="1"/>
              <a:t>employment</a:t>
            </a:r>
            <a:endParaRPr lang="fr-FR" sz="2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EA4F7-41A6-50E3-DEC1-FC6DBAC5387E}"/>
              </a:ext>
            </a:extLst>
          </p:cNvPr>
          <p:cNvSpPr txBox="1"/>
          <p:nvPr/>
        </p:nvSpPr>
        <p:spPr>
          <a:xfrm>
            <a:off x="5206410" y="2610822"/>
            <a:ext cx="28794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 err="1"/>
              <a:t>Almost</a:t>
            </a:r>
            <a:r>
              <a:rPr lang="fi-FI" sz="2100" dirty="0"/>
              <a:t> </a:t>
            </a:r>
            <a:r>
              <a:rPr lang="fi-FI" sz="2100" dirty="0" err="1"/>
              <a:t>stable</a:t>
            </a:r>
            <a:r>
              <a:rPr lang="fi-FI" sz="2100" dirty="0"/>
              <a:t> </a:t>
            </a:r>
            <a:r>
              <a:rPr lang="fi-FI" sz="2100" dirty="0" err="1"/>
              <a:t>employment</a:t>
            </a:r>
            <a:endParaRPr lang="fr-FR" sz="2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E993CA-F6CF-79B6-E3CF-89867BDB0BD0}"/>
              </a:ext>
            </a:extLst>
          </p:cNvPr>
          <p:cNvSpPr txBox="1"/>
          <p:nvPr/>
        </p:nvSpPr>
        <p:spPr>
          <a:xfrm>
            <a:off x="5450179" y="3873567"/>
            <a:ext cx="32685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/>
              <a:t>One </a:t>
            </a:r>
            <a:r>
              <a:rPr lang="fi-FI" sz="2100" dirty="0" err="1"/>
              <a:t>unemployment</a:t>
            </a:r>
            <a:r>
              <a:rPr lang="fi-FI" sz="2100" dirty="0"/>
              <a:t> </a:t>
            </a:r>
            <a:r>
              <a:rPr lang="fi-FI" sz="2100" dirty="0" err="1"/>
              <a:t>spell</a:t>
            </a:r>
            <a:endParaRPr lang="fr-FR" sz="21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95751F-7BC0-7FA6-26F9-F7CF02BA0ACF}"/>
              </a:ext>
            </a:extLst>
          </p:cNvPr>
          <p:cNvCxnSpPr/>
          <p:nvPr/>
        </p:nvCxnSpPr>
        <p:spPr>
          <a:xfrm>
            <a:off x="404039" y="4370405"/>
            <a:ext cx="5401339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6FDF9A-F46A-20D9-C3CB-FF4BEBC00855}"/>
              </a:ext>
            </a:extLst>
          </p:cNvPr>
          <p:cNvSpPr txBox="1"/>
          <p:nvPr/>
        </p:nvSpPr>
        <p:spPr>
          <a:xfrm>
            <a:off x="5407218" y="4344624"/>
            <a:ext cx="315199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/>
              <a:t>2+ </a:t>
            </a:r>
            <a:r>
              <a:rPr lang="fi-FI" sz="2100" dirty="0" err="1"/>
              <a:t>unemployment</a:t>
            </a:r>
            <a:r>
              <a:rPr lang="fi-FI" sz="2100" dirty="0"/>
              <a:t> </a:t>
            </a:r>
            <a:r>
              <a:rPr lang="fi-FI" sz="2100" dirty="0" err="1"/>
              <a:t>spells</a:t>
            </a:r>
            <a:endParaRPr lang="fr-FR" sz="2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D780F9-0474-CB48-E09C-83B334051582}"/>
              </a:ext>
            </a:extLst>
          </p:cNvPr>
          <p:cNvSpPr txBox="1"/>
          <p:nvPr/>
        </p:nvSpPr>
        <p:spPr>
          <a:xfrm>
            <a:off x="5450179" y="3455700"/>
            <a:ext cx="36938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 err="1"/>
              <a:t>Delayed</a:t>
            </a:r>
            <a:r>
              <a:rPr lang="fi-FI" sz="2100" dirty="0"/>
              <a:t> </a:t>
            </a:r>
            <a:r>
              <a:rPr lang="fi-FI" sz="2100" dirty="0" err="1"/>
              <a:t>entry</a:t>
            </a:r>
            <a:r>
              <a:rPr lang="fi-FI" sz="2100" dirty="0"/>
              <a:t> </a:t>
            </a:r>
            <a:r>
              <a:rPr lang="fi-FI" sz="2100" dirty="0" err="1"/>
              <a:t>then</a:t>
            </a:r>
            <a:r>
              <a:rPr lang="fi-FI" sz="2100" dirty="0"/>
              <a:t> </a:t>
            </a:r>
            <a:r>
              <a:rPr lang="fi-FI" sz="2100" dirty="0" err="1"/>
              <a:t>stable</a:t>
            </a:r>
            <a:endParaRPr lang="fr-FR" sz="2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DA4787-9ADF-AB10-3683-C6AF7674FD9A}"/>
              </a:ext>
            </a:extLst>
          </p:cNvPr>
          <p:cNvSpPr txBox="1"/>
          <p:nvPr/>
        </p:nvSpPr>
        <p:spPr>
          <a:xfrm>
            <a:off x="5407218" y="4820170"/>
            <a:ext cx="36938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 err="1"/>
              <a:t>Unstable</a:t>
            </a:r>
            <a:r>
              <a:rPr lang="fi-FI" sz="2100" dirty="0"/>
              <a:t> </a:t>
            </a:r>
            <a:r>
              <a:rPr lang="fi-FI" sz="2100" dirty="0" err="1"/>
              <a:t>employment</a:t>
            </a:r>
            <a:endParaRPr lang="fr-FR" sz="2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4F3BF3-AB39-2DA8-9FFE-598D46F266BB}"/>
              </a:ext>
            </a:extLst>
          </p:cNvPr>
          <p:cNvSpPr txBox="1"/>
          <p:nvPr/>
        </p:nvSpPr>
        <p:spPr>
          <a:xfrm>
            <a:off x="5407217" y="5332000"/>
            <a:ext cx="36938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/>
              <a:t>One </a:t>
            </a:r>
            <a:r>
              <a:rPr lang="fi-FI" sz="2100" dirty="0" err="1"/>
              <a:t>care-related</a:t>
            </a:r>
            <a:r>
              <a:rPr lang="fi-FI" sz="2100" dirty="0"/>
              <a:t> </a:t>
            </a:r>
            <a:r>
              <a:rPr lang="fi-FI" sz="2100" dirty="0" err="1"/>
              <a:t>interruption</a:t>
            </a:r>
            <a:endParaRPr lang="fr-FR" sz="2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095522-D42F-6797-33A2-BCF97601DE06}"/>
              </a:ext>
            </a:extLst>
          </p:cNvPr>
          <p:cNvSpPr txBox="1"/>
          <p:nvPr/>
        </p:nvSpPr>
        <p:spPr>
          <a:xfrm>
            <a:off x="5407216" y="5819287"/>
            <a:ext cx="36938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100" dirty="0"/>
              <a:t>2+ </a:t>
            </a:r>
            <a:r>
              <a:rPr lang="fi-FI" sz="2100" dirty="0" err="1"/>
              <a:t>care-related</a:t>
            </a:r>
            <a:r>
              <a:rPr lang="fi-FI" sz="2100" dirty="0"/>
              <a:t> </a:t>
            </a:r>
            <a:r>
              <a:rPr lang="fi-FI" sz="2100" dirty="0" err="1"/>
              <a:t>interruptions</a:t>
            </a:r>
            <a:endParaRPr lang="fr-FR" sz="2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058329-52C7-7C2F-1401-53746D2E6441}"/>
              </a:ext>
            </a:extLst>
          </p:cNvPr>
          <p:cNvSpPr txBox="1"/>
          <p:nvPr/>
        </p:nvSpPr>
        <p:spPr>
          <a:xfrm>
            <a:off x="8718698" y="2731120"/>
            <a:ext cx="385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26A946-62A8-B2E0-76C5-B26563B2B917}"/>
              </a:ext>
            </a:extLst>
          </p:cNvPr>
          <p:cNvSpPr/>
          <p:nvPr/>
        </p:nvSpPr>
        <p:spPr>
          <a:xfrm>
            <a:off x="9052493" y="2845838"/>
            <a:ext cx="2879438" cy="2275989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fi-FI" sz="2400" dirty="0" err="1"/>
              <a:t>Problem</a:t>
            </a:r>
            <a:r>
              <a:rPr lang="fi-FI" sz="2400" dirty="0"/>
              <a:t>: </a:t>
            </a:r>
            <a:r>
              <a:rPr lang="fr-FR" sz="2400" dirty="0"/>
              <a:t>Too </a:t>
            </a:r>
            <a:r>
              <a:rPr lang="fr-FR" sz="2400" dirty="0" err="1"/>
              <a:t>many</a:t>
            </a:r>
            <a:r>
              <a:rPr lang="fr-FR" sz="2400" dirty="0"/>
              <a:t> clusters can </a:t>
            </a:r>
            <a:r>
              <a:rPr lang="fr-FR" sz="2400" dirty="0" err="1"/>
              <a:t>turn</a:t>
            </a:r>
            <a:r>
              <a:rPr lang="fr-FR" sz="2400" dirty="0"/>
              <a:t> description </a:t>
            </a:r>
            <a:r>
              <a:rPr lang="fr-FR" sz="2400" dirty="0" err="1"/>
              <a:t>into</a:t>
            </a:r>
            <a:r>
              <a:rPr lang="fr-FR" sz="2400" dirty="0"/>
              <a:t> noise</a:t>
            </a:r>
            <a:endParaRPr lang="fi-FI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95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516A-A2E7-8E68-3668-3888DCEE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Comparing</a:t>
            </a:r>
            <a:r>
              <a:rPr lang="fr-FR" dirty="0"/>
              <a:t> 3-, 4-, 5- and 6-cluster 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C9CDEA-229D-854D-347B-31323D125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492897"/>
              </p:ext>
            </p:extLst>
          </p:nvPr>
        </p:nvGraphicFramePr>
        <p:xfrm>
          <a:off x="1669017" y="3604050"/>
          <a:ext cx="8665534" cy="2286000"/>
        </p:xfrm>
        <a:graphic>
          <a:graphicData uri="http://schemas.openxmlformats.org/drawingml/2006/table">
            <a:tbl>
              <a:tblPr/>
              <a:tblGrid>
                <a:gridCol w="2689016">
                  <a:extLst>
                    <a:ext uri="{9D8B030D-6E8A-4147-A177-3AD203B41FA5}">
                      <a16:colId xmlns:a16="http://schemas.microsoft.com/office/drawing/2014/main" val="34206367"/>
                    </a:ext>
                  </a:extLst>
                </a:gridCol>
                <a:gridCol w="5976518">
                  <a:extLst>
                    <a:ext uri="{9D8B030D-6E8A-4147-A177-3AD203B41FA5}">
                      <a16:colId xmlns:a16="http://schemas.microsoft.com/office/drawing/2014/main" val="4014780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 err="1"/>
                        <a:t>What</a:t>
                      </a:r>
                      <a:r>
                        <a:rPr lang="fr-FR" sz="2400" b="1" dirty="0"/>
                        <a:t> to </a:t>
                      </a:r>
                      <a:r>
                        <a:rPr lang="fr-FR" sz="2400" b="1" dirty="0" err="1"/>
                        <a:t>inspect</a:t>
                      </a:r>
                      <a:endParaRPr lang="fr-FR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34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3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What broad patterns appear?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33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4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Which group splits? Is the split meaningful?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633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5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Does </a:t>
                      </a:r>
                      <a:r>
                        <a:rPr lang="fr-FR" sz="2400" dirty="0" err="1"/>
                        <a:t>it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add</a:t>
                      </a:r>
                      <a:r>
                        <a:rPr lang="fr-FR" sz="2400" dirty="0"/>
                        <a:t> nuance? Is </a:t>
                      </a:r>
                      <a:r>
                        <a:rPr lang="fr-FR" sz="2400" dirty="0" err="1"/>
                        <a:t>it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helpful</a:t>
                      </a:r>
                      <a:r>
                        <a:rPr lang="fr-FR" sz="2400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969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6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Are </a:t>
                      </a:r>
                      <a:r>
                        <a:rPr lang="fr-FR" sz="2400" dirty="0" err="1"/>
                        <a:t>we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adding</a:t>
                      </a:r>
                      <a:r>
                        <a:rPr lang="fr-FR" sz="2400" dirty="0"/>
                        <a:t> information or </a:t>
                      </a:r>
                      <a:r>
                        <a:rPr lang="fr-FR" sz="2400" dirty="0" err="1"/>
                        <a:t>just</a:t>
                      </a:r>
                      <a:r>
                        <a:rPr lang="fr-FR" sz="2400" dirty="0"/>
                        <a:t> </a:t>
                      </a:r>
                      <a:r>
                        <a:rPr lang="fr-FR" sz="2400" dirty="0" err="1"/>
                        <a:t>detail</a:t>
                      </a:r>
                      <a:r>
                        <a:rPr lang="fr-FR" sz="2400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759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F28E7F-69E8-EDC9-CEF3-498941F10EA4}"/>
              </a:ext>
            </a:extLst>
          </p:cNvPr>
          <p:cNvSpPr txBox="1"/>
          <p:nvPr/>
        </p:nvSpPr>
        <p:spPr>
          <a:xfrm>
            <a:off x="1975884" y="1550988"/>
            <a:ext cx="7848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300" dirty="0"/>
              <a:t>Idea: </a:t>
            </a:r>
          </a:p>
          <a:p>
            <a:r>
              <a:rPr lang="fi-FI" sz="2300" dirty="0" err="1"/>
              <a:t>Define</a:t>
            </a:r>
            <a:r>
              <a:rPr lang="fi-FI" sz="2300" dirty="0"/>
              <a:t> </a:t>
            </a:r>
            <a:r>
              <a:rPr lang="fi-FI" sz="2300" dirty="0" err="1"/>
              <a:t>three</a:t>
            </a:r>
            <a:r>
              <a:rPr lang="fi-FI" sz="2300" dirty="0"/>
              <a:t> </a:t>
            </a:r>
            <a:r>
              <a:rPr lang="fi-FI" sz="2300" dirty="0" err="1"/>
              <a:t>clusters</a:t>
            </a:r>
            <a:r>
              <a:rPr lang="fi-FI" sz="2300" dirty="0"/>
              <a:t> and </a:t>
            </a:r>
            <a:r>
              <a:rPr lang="fi-FI" sz="2300" dirty="0" err="1"/>
              <a:t>generate</a:t>
            </a:r>
            <a:r>
              <a:rPr lang="fi-FI" sz="2300" dirty="0"/>
              <a:t> </a:t>
            </a:r>
            <a:r>
              <a:rPr lang="fi-FI" sz="2300" dirty="0" err="1"/>
              <a:t>their</a:t>
            </a:r>
            <a:r>
              <a:rPr lang="fi-FI" sz="2300" dirty="0"/>
              <a:t> </a:t>
            </a:r>
            <a:r>
              <a:rPr lang="fi-FI" sz="2300" dirty="0" err="1"/>
              <a:t>index</a:t>
            </a:r>
            <a:r>
              <a:rPr lang="fi-FI" sz="2300" dirty="0"/>
              <a:t> </a:t>
            </a:r>
            <a:r>
              <a:rPr lang="fi-FI" sz="2300" dirty="0" err="1"/>
              <a:t>plot</a:t>
            </a:r>
            <a:r>
              <a:rPr lang="fi-FI" sz="2300" dirty="0"/>
              <a:t>. </a:t>
            </a:r>
          </a:p>
          <a:p>
            <a:r>
              <a:rPr lang="fi-FI" sz="2300" dirty="0" err="1"/>
              <a:t>Define</a:t>
            </a:r>
            <a:r>
              <a:rPr lang="fi-FI" sz="2300" dirty="0"/>
              <a:t> </a:t>
            </a:r>
            <a:r>
              <a:rPr lang="fi-FI" sz="2300" dirty="0" err="1"/>
              <a:t>four</a:t>
            </a:r>
            <a:r>
              <a:rPr lang="fi-FI" sz="2300" dirty="0"/>
              <a:t> </a:t>
            </a:r>
            <a:r>
              <a:rPr lang="fi-FI" sz="2300" dirty="0" err="1"/>
              <a:t>clusters</a:t>
            </a:r>
            <a:r>
              <a:rPr lang="fi-FI" sz="2300" dirty="0"/>
              <a:t> and </a:t>
            </a:r>
            <a:r>
              <a:rPr lang="fi-FI" sz="2300" dirty="0" err="1"/>
              <a:t>generate</a:t>
            </a:r>
            <a:r>
              <a:rPr lang="fi-FI" sz="2300" dirty="0"/>
              <a:t> </a:t>
            </a:r>
            <a:r>
              <a:rPr lang="fi-FI" sz="2300" dirty="0" err="1"/>
              <a:t>their</a:t>
            </a:r>
            <a:r>
              <a:rPr lang="fi-FI" sz="2300" dirty="0"/>
              <a:t> </a:t>
            </a:r>
            <a:r>
              <a:rPr lang="fi-FI" sz="2300" dirty="0" err="1"/>
              <a:t>index</a:t>
            </a:r>
            <a:r>
              <a:rPr lang="fi-FI" sz="2300" dirty="0"/>
              <a:t> </a:t>
            </a:r>
            <a:r>
              <a:rPr lang="fi-FI" sz="2300" dirty="0" err="1"/>
              <a:t>plot</a:t>
            </a:r>
            <a:r>
              <a:rPr lang="fi-FI" sz="2300" dirty="0"/>
              <a:t>. </a:t>
            </a:r>
          </a:p>
          <a:p>
            <a:r>
              <a:rPr lang="fi-FI" sz="2300" dirty="0" err="1"/>
              <a:t>Same</a:t>
            </a:r>
            <a:r>
              <a:rPr lang="fi-FI" sz="2300" dirty="0"/>
              <a:t> for 5 and 6. </a:t>
            </a:r>
            <a:r>
              <a:rPr lang="fi-FI" sz="2300" dirty="0" err="1"/>
              <a:t>What</a:t>
            </a:r>
            <a:r>
              <a:rPr lang="fi-FI" sz="2300" dirty="0"/>
              <a:t> </a:t>
            </a:r>
            <a:r>
              <a:rPr lang="fi-FI" sz="2300" dirty="0" err="1"/>
              <a:t>are</a:t>
            </a:r>
            <a:r>
              <a:rPr lang="fi-FI" sz="2300" dirty="0"/>
              <a:t> </a:t>
            </a:r>
            <a:r>
              <a:rPr lang="fi-FI" sz="2300" dirty="0" err="1"/>
              <a:t>the</a:t>
            </a:r>
            <a:r>
              <a:rPr lang="fi-FI" sz="2300" dirty="0"/>
              <a:t> </a:t>
            </a:r>
            <a:r>
              <a:rPr lang="fi-FI" sz="2300" dirty="0" err="1"/>
              <a:t>changes</a:t>
            </a:r>
            <a:r>
              <a:rPr lang="fi-FI" sz="2300" dirty="0"/>
              <a:t> </a:t>
            </a:r>
            <a:r>
              <a:rPr lang="fi-FI" sz="2300" dirty="0" err="1"/>
              <a:t>you</a:t>
            </a:r>
            <a:r>
              <a:rPr lang="fi-FI" sz="2300" dirty="0"/>
              <a:t> </a:t>
            </a:r>
            <a:r>
              <a:rPr lang="fi-FI" sz="2300" dirty="0" err="1"/>
              <a:t>observe</a:t>
            </a:r>
            <a:r>
              <a:rPr lang="fi-FI" sz="2300" dirty="0"/>
              <a:t>?</a:t>
            </a:r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195249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6254-406F-916E-CE56-35124D64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good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statistical</a:t>
            </a:r>
            <a:r>
              <a:rPr lang="fr-FR" dirty="0"/>
              <a:t> and </a:t>
            </a:r>
            <a:r>
              <a:rPr lang="fr-FR" dirty="0" err="1"/>
              <a:t>meaningful</a:t>
            </a:r>
            <a:endParaRPr lang="fr-FR" dirty="0"/>
          </a:p>
        </p:txBody>
      </p:sp>
      <p:pic>
        <p:nvPicPr>
          <p:cNvPr id="5" name="Content Placeholder 4" descr="Scales of justice outline">
            <a:extLst>
              <a:ext uri="{FF2B5EF4-FFF2-40B4-BE49-F238E27FC236}">
                <a16:creationId xmlns:a16="http://schemas.microsoft.com/office/drawing/2014/main" id="{7D85CF98-96BC-767F-9E38-6996EBC4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208" y="1451344"/>
            <a:ext cx="4630479" cy="463047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F7654D-71CE-AFA3-D9C8-9574A466D419}"/>
              </a:ext>
            </a:extLst>
          </p:cNvPr>
          <p:cNvSpPr/>
          <p:nvPr/>
        </p:nvSpPr>
        <p:spPr>
          <a:xfrm>
            <a:off x="611373" y="3354570"/>
            <a:ext cx="1663997" cy="696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/>
              <a:t>Statistical </a:t>
            </a:r>
            <a:r>
              <a:rPr lang="fi-FI" sz="2200" dirty="0" err="1"/>
              <a:t>quality</a:t>
            </a:r>
            <a:endParaRPr lang="fr-FR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873FB-A565-CCDE-29AB-EA277DAB6C57}"/>
              </a:ext>
            </a:extLst>
          </p:cNvPr>
          <p:cNvSpPr/>
          <p:nvPr/>
        </p:nvSpPr>
        <p:spPr>
          <a:xfrm>
            <a:off x="3274824" y="3354571"/>
            <a:ext cx="1860697" cy="69643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Sustantive</a:t>
            </a:r>
            <a:r>
              <a:rPr lang="fi-FI" sz="2200" dirty="0"/>
              <a:t> </a:t>
            </a:r>
            <a:r>
              <a:rPr lang="fi-FI" sz="2200" dirty="0" err="1"/>
              <a:t>interpretation</a:t>
            </a:r>
            <a:endParaRPr lang="fr-FR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9B0B-4E05-E94B-2B29-BA433DF2EE9A}"/>
              </a:ext>
            </a:extLst>
          </p:cNvPr>
          <p:cNvSpPr txBox="1"/>
          <p:nvPr/>
        </p:nvSpPr>
        <p:spPr>
          <a:xfrm>
            <a:off x="6857998" y="1856126"/>
            <a:ext cx="47226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600" dirty="0" err="1"/>
              <a:t>Things</a:t>
            </a:r>
            <a:r>
              <a:rPr lang="fi-FI" sz="2600" dirty="0"/>
              <a:t> to </a:t>
            </a:r>
            <a:r>
              <a:rPr lang="fi-FI" sz="2600" dirty="0" err="1"/>
              <a:t>care</a:t>
            </a:r>
            <a:r>
              <a:rPr lang="fi-FI" sz="2600" dirty="0"/>
              <a:t> </a:t>
            </a:r>
            <a:r>
              <a:rPr lang="fi-FI" sz="2600" dirty="0" err="1"/>
              <a:t>about</a:t>
            </a:r>
            <a:endParaRPr lang="fi-FI" sz="2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600" dirty="0"/>
              <a:t>Good </a:t>
            </a:r>
            <a:r>
              <a:rPr lang="fr-FR" sz="2600" dirty="0" err="1"/>
              <a:t>enough</a:t>
            </a:r>
            <a:r>
              <a:rPr lang="fr-FR" sz="2600" dirty="0"/>
              <a:t> </a:t>
            </a:r>
            <a:r>
              <a:rPr lang="fr-FR" sz="2600" dirty="0" err="1"/>
              <a:t>quality</a:t>
            </a:r>
            <a:r>
              <a:rPr lang="fr-FR" sz="2600" dirty="0"/>
              <a:t> </a:t>
            </a:r>
            <a:r>
              <a:rPr lang="fr-FR" sz="2600" dirty="0" err="1"/>
              <a:t>indicators</a:t>
            </a:r>
            <a:endParaRPr lang="fr-FR" sz="2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600" dirty="0" err="1"/>
              <a:t>Interpretable</a:t>
            </a:r>
            <a:r>
              <a:rPr lang="fr-FR" sz="2600" dirty="0"/>
              <a:t> cluster plots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600" dirty="0" err="1"/>
              <a:t>Reasonable</a:t>
            </a:r>
            <a:r>
              <a:rPr lang="fr-FR" sz="2600" dirty="0"/>
              <a:t> cluster sizes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600" dirty="0" err="1"/>
              <a:t>Robust</a:t>
            </a:r>
            <a:r>
              <a:rPr lang="fr-FR" sz="2600" dirty="0"/>
              <a:t> to plausible alternatives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2600" dirty="0" err="1"/>
              <a:t>Useful</a:t>
            </a:r>
            <a:r>
              <a:rPr lang="fr-FR" sz="2600" dirty="0"/>
              <a:t> for the </a:t>
            </a:r>
            <a:r>
              <a:rPr lang="fr-FR" sz="2600" dirty="0" err="1"/>
              <a:t>research</a:t>
            </a:r>
            <a:r>
              <a:rPr lang="fr-FR" sz="2600" dirty="0"/>
              <a:t> question.</a:t>
            </a:r>
          </a:p>
        </p:txBody>
      </p:sp>
    </p:spTree>
    <p:extLst>
      <p:ext uri="{BB962C8B-B14F-4D97-AF65-F5344CB8AC3E}">
        <p14:creationId xmlns:p14="http://schemas.microsoft.com/office/powerpoint/2010/main" val="1933489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CF024-E847-A943-A769-7C35F8E3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Interpreting and labelling clusters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78772-DBA2-D18D-7B9B-A829D4F60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7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7BEA-7B76-60D3-4DCF-086A4744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a cluster </a:t>
            </a:r>
            <a:r>
              <a:rPr lang="fr-FR" dirty="0" err="1"/>
              <a:t>interpretable</a:t>
            </a:r>
            <a:r>
              <a:rPr lang="fr-F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64FE-B808-31C2-B4D8-31984218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5057775"/>
          </a:xfrm>
        </p:spPr>
        <p:txBody>
          <a:bodyPr>
            <a:normAutofit/>
          </a:bodyPr>
          <a:lstStyle/>
          <a:p>
            <a:r>
              <a:rPr lang="fr-FR" dirty="0"/>
              <a:t>A cluster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interpretable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describe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Example: for « </a:t>
            </a:r>
            <a:r>
              <a:rPr lang="fr-FR" dirty="0" err="1"/>
              <a:t>unstable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 » cluster, observe </a:t>
            </a:r>
            <a:r>
              <a:rPr lang="fr-FR" dirty="0" err="1"/>
              <a:t>three</a:t>
            </a:r>
            <a:r>
              <a:rPr lang="fr-FR" dirty="0"/>
              <a:t> types of </a:t>
            </a:r>
            <a:r>
              <a:rPr lang="fr-FR" dirty="0" err="1"/>
              <a:t>summaries</a:t>
            </a:r>
            <a:r>
              <a:rPr lang="fr-FR" dirty="0"/>
              <a:t>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417794-B03C-C10B-7C34-A6414A5F2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800572"/>
              </p:ext>
            </p:extLst>
          </p:nvPr>
        </p:nvGraphicFramePr>
        <p:xfrm>
          <a:off x="838200" y="1282422"/>
          <a:ext cx="10515600" cy="2263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B49DB-214D-21A4-2F46-994BAE668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91423"/>
              </p:ext>
            </p:extLst>
          </p:nvPr>
        </p:nvGraphicFramePr>
        <p:xfrm>
          <a:off x="749300" y="3861593"/>
          <a:ext cx="10896600" cy="2631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176638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FC4C-2C7D-4428-DB73-274632E1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Typical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and </a:t>
            </a:r>
            <a:r>
              <a:rPr lang="fr-FR" dirty="0" err="1"/>
              <a:t>representative</a:t>
            </a:r>
            <a:r>
              <a:rPr lang="fr-FR" dirty="0"/>
              <a:t> </a:t>
            </a:r>
            <a:r>
              <a:rPr lang="fr-FR" dirty="0" err="1"/>
              <a:t>sequences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7F8C6-9C9C-B72D-8ADC-023139740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 </a:t>
            </a:r>
            <a:r>
              <a:rPr lang="fr-FR" dirty="0" err="1"/>
              <a:t>representative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an </a:t>
            </a:r>
            <a:r>
              <a:rPr lang="fr-FR" dirty="0" err="1"/>
              <a:t>observed</a:t>
            </a:r>
            <a:r>
              <a:rPr lang="fr-FR" dirty="0"/>
              <a:t> or </a:t>
            </a:r>
            <a:r>
              <a:rPr lang="fr-FR" dirty="0" err="1"/>
              <a:t>selected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summarises</a:t>
            </a:r>
            <a:r>
              <a:rPr lang="fr-FR" dirty="0"/>
              <a:t> a group. </a:t>
            </a:r>
          </a:p>
          <a:p>
            <a:pPr lvl="1"/>
            <a:r>
              <a:rPr lang="fr-FR" dirty="0"/>
              <a:t>It </a:t>
            </a:r>
            <a:r>
              <a:rPr lang="fr-FR" dirty="0" err="1"/>
              <a:t>helps</a:t>
            </a:r>
            <a:r>
              <a:rPr lang="fr-FR" dirty="0"/>
              <a:t> </a:t>
            </a: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relying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on abstract cluster labels. </a:t>
            </a:r>
          </a:p>
          <a:p>
            <a:pPr lvl="1"/>
            <a:r>
              <a:rPr lang="fr-FR" dirty="0"/>
              <a:t>It shows </a:t>
            </a:r>
            <a:r>
              <a:rPr lang="fr-FR" dirty="0" err="1"/>
              <a:t>what</a:t>
            </a:r>
            <a:r>
              <a:rPr lang="fr-FR" dirty="0"/>
              <a:t> “</a:t>
            </a:r>
            <a:r>
              <a:rPr lang="fr-FR" dirty="0" err="1"/>
              <a:t>typical</a:t>
            </a:r>
            <a:r>
              <a:rPr lang="fr-FR" dirty="0"/>
              <a:t>” looks like </a:t>
            </a:r>
            <a:r>
              <a:rPr lang="fr-FR" dirty="0" err="1"/>
              <a:t>within</a:t>
            </a:r>
            <a:r>
              <a:rPr lang="fr-FR" dirty="0"/>
              <a:t> the cluster.</a:t>
            </a:r>
          </a:p>
          <a:p>
            <a:r>
              <a:rPr lang="fr-FR" dirty="0"/>
              <a:t>E.g. in the cluster Stable </a:t>
            </a:r>
            <a:r>
              <a:rPr lang="fr-FR" dirty="0" err="1"/>
              <a:t>employment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Stable </a:t>
            </a:r>
            <a:r>
              <a:rPr lang="fr-FR" dirty="0" err="1"/>
              <a:t>employment</a:t>
            </a:r>
            <a:r>
              <a:rPr lang="fr-FR" dirty="0"/>
              <a:t> all </a:t>
            </a:r>
            <a:r>
              <a:rPr lang="fr-FR" dirty="0" err="1"/>
              <a:t>along</a:t>
            </a:r>
            <a:endParaRPr lang="fr-FR" dirty="0"/>
          </a:p>
          <a:p>
            <a:pPr lvl="1"/>
            <a:r>
              <a:rPr lang="fr-FR" dirty="0"/>
              <a:t>Stable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studies</a:t>
            </a:r>
            <a:endParaRPr lang="fr-FR" dirty="0"/>
          </a:p>
          <a:p>
            <a:pPr lvl="1"/>
            <a:r>
              <a:rPr lang="fr-FR" dirty="0"/>
              <a:t>Stable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one care-</a:t>
            </a:r>
            <a:r>
              <a:rPr lang="fr-FR" dirty="0" err="1"/>
              <a:t>related</a:t>
            </a:r>
            <a:r>
              <a:rPr lang="fr-FR" dirty="0"/>
              <a:t> interruption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755C436-F766-D2C9-1604-C65429258E74}"/>
              </a:ext>
            </a:extLst>
          </p:cNvPr>
          <p:cNvSpPr/>
          <p:nvPr/>
        </p:nvSpPr>
        <p:spPr>
          <a:xfrm>
            <a:off x="1208310" y="2620679"/>
            <a:ext cx="3859446" cy="321156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94BF95E-7AA6-74D0-54CC-C5ECE84EB027}"/>
              </a:ext>
            </a:extLst>
          </p:cNvPr>
          <p:cNvSpPr/>
          <p:nvPr/>
        </p:nvSpPr>
        <p:spPr>
          <a:xfrm>
            <a:off x="1208310" y="3093777"/>
            <a:ext cx="3859446" cy="32115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5A4C9D08-0536-EDC2-60C8-98D5A2FAA36A}"/>
              </a:ext>
            </a:extLst>
          </p:cNvPr>
          <p:cNvSpPr/>
          <p:nvPr/>
        </p:nvSpPr>
        <p:spPr>
          <a:xfrm>
            <a:off x="1208310" y="3510735"/>
            <a:ext cx="3859446" cy="321156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E311B5F-D790-A0F1-F3DA-E7EC2175335E}"/>
              </a:ext>
            </a:extLst>
          </p:cNvPr>
          <p:cNvSpPr/>
          <p:nvPr/>
        </p:nvSpPr>
        <p:spPr>
          <a:xfrm>
            <a:off x="1208310" y="3983833"/>
            <a:ext cx="3859446" cy="32115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A702C30B-023B-A016-1BF1-4E0EA2E6B17A}"/>
              </a:ext>
            </a:extLst>
          </p:cNvPr>
          <p:cNvSpPr/>
          <p:nvPr/>
        </p:nvSpPr>
        <p:spPr>
          <a:xfrm>
            <a:off x="1208310" y="4423570"/>
            <a:ext cx="3859446" cy="3211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7E32310-FF87-0208-B410-B92651159886}"/>
              </a:ext>
            </a:extLst>
          </p:cNvPr>
          <p:cNvSpPr/>
          <p:nvPr/>
        </p:nvSpPr>
        <p:spPr>
          <a:xfrm>
            <a:off x="1208313" y="4896668"/>
            <a:ext cx="3859446" cy="321156"/>
          </a:xfrm>
          <a:prstGeom prst="homePlate">
            <a:avLst/>
          </a:prstGeom>
          <a:solidFill>
            <a:srgbClr val="D2A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F544F7FF-CFCF-6914-B09F-EA219E20B0F6}"/>
              </a:ext>
            </a:extLst>
          </p:cNvPr>
          <p:cNvSpPr/>
          <p:nvPr/>
        </p:nvSpPr>
        <p:spPr>
          <a:xfrm>
            <a:off x="1208312" y="5360799"/>
            <a:ext cx="3859446" cy="321156"/>
          </a:xfrm>
          <a:prstGeom prst="homePlat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56DD2D7-668E-245F-8A63-18165AFFEF80}"/>
              </a:ext>
            </a:extLst>
          </p:cNvPr>
          <p:cNvSpPr/>
          <p:nvPr/>
        </p:nvSpPr>
        <p:spPr>
          <a:xfrm>
            <a:off x="1208310" y="2146183"/>
            <a:ext cx="3859446" cy="321156"/>
          </a:xfrm>
          <a:prstGeom prst="homePlat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B927EDD5-4CFC-8283-E7E2-8ABFCF1A2A9D}"/>
              </a:ext>
            </a:extLst>
          </p:cNvPr>
          <p:cNvSpPr/>
          <p:nvPr/>
        </p:nvSpPr>
        <p:spPr>
          <a:xfrm>
            <a:off x="1208312" y="5800536"/>
            <a:ext cx="3859446" cy="321156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486B1-3269-CC40-CDC8-CA7886AA63E7}"/>
              </a:ext>
            </a:extLst>
          </p:cNvPr>
          <p:cNvSpPr txBox="1"/>
          <p:nvPr/>
        </p:nvSpPr>
        <p:spPr>
          <a:xfrm>
            <a:off x="478465" y="1690688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In </a:t>
            </a:r>
            <a:r>
              <a:rPr lang="fi-FI" dirty="0" err="1"/>
              <a:t>one</a:t>
            </a:r>
            <a:r>
              <a:rPr lang="fi-FI" dirty="0"/>
              <a:t> </a:t>
            </a:r>
            <a:r>
              <a:rPr lang="fi-FI" dirty="0" err="1"/>
              <a:t>cluster</a:t>
            </a:r>
            <a:r>
              <a:rPr lang="fi-FI" dirty="0"/>
              <a:t>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9923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E93D-8403-B73E-7FEA-51F0DA74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State </a:t>
            </a:r>
            <a:r>
              <a:rPr lang="fi-FI" dirty="0" err="1"/>
              <a:t>distribution</a:t>
            </a:r>
            <a:r>
              <a:rPr lang="fi-FI" dirty="0"/>
              <a:t> </a:t>
            </a:r>
            <a:r>
              <a:rPr lang="fi-FI" dirty="0" err="1"/>
              <a:t>plot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</a:t>
            </a:r>
            <a:r>
              <a:rPr lang="fi-FI" dirty="0" err="1"/>
              <a:t>cluster</a:t>
            </a:r>
            <a:endParaRPr lang="fr-F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B75E5C-6CFC-155D-8A92-52C8DEB9F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2" y="1843162"/>
            <a:ext cx="5848651" cy="36895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535E41-248F-ECE9-85A3-2780E3447823}"/>
              </a:ext>
            </a:extLst>
          </p:cNvPr>
          <p:cNvSpPr txBox="1"/>
          <p:nvPr/>
        </p:nvSpPr>
        <p:spPr>
          <a:xfrm>
            <a:off x="8016949" y="212651"/>
            <a:ext cx="31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Lu</a:t>
            </a:r>
            <a:r>
              <a:rPr lang="fi-FI" dirty="0"/>
              <a:t> et </a:t>
            </a:r>
            <a:r>
              <a:rPr lang="fi-FI" dirty="0" err="1"/>
              <a:t>al</a:t>
            </a:r>
            <a:r>
              <a:rPr lang="fi-FI" dirty="0"/>
              <a:t>, 2017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43762F-1E39-865A-1FBE-02C73AB38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89" y="1413502"/>
            <a:ext cx="5937555" cy="43499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2D84BA-B01B-40AD-6742-DA756CF76565}"/>
              </a:ext>
            </a:extLst>
          </p:cNvPr>
          <p:cNvSpPr txBox="1"/>
          <p:nvPr/>
        </p:nvSpPr>
        <p:spPr>
          <a:xfrm>
            <a:off x="616689" y="5915950"/>
            <a:ext cx="11025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Fig</a:t>
            </a:r>
            <a:r>
              <a:rPr lang="fr-FR" dirty="0"/>
              <a:t> xx. State distribution plot by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clusters, </a:t>
            </a:r>
            <a:r>
              <a:rPr lang="fr-FR" dirty="0" err="1"/>
              <a:t>women,months</a:t>
            </a:r>
            <a:r>
              <a:rPr lang="fr-FR" dirty="0"/>
              <a:t> relative to </a:t>
            </a:r>
            <a:r>
              <a:rPr lang="fr-FR" dirty="0" err="1"/>
              <a:t>childbirth</a:t>
            </a:r>
            <a:r>
              <a:rPr lang="fr-FR" dirty="0"/>
              <a:t>, SIPP 1996–2013</a:t>
            </a:r>
          </a:p>
        </p:txBody>
      </p:sp>
    </p:spTree>
    <p:extLst>
      <p:ext uri="{BB962C8B-B14F-4D97-AF65-F5344CB8AC3E}">
        <p14:creationId xmlns:p14="http://schemas.microsoft.com/office/powerpoint/2010/main" val="187337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F968-0203-1A73-40D5-AE1F1BC2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 plots by cluster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96296-CE51-F8EC-B4A3-E0395B1B4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" y="1871442"/>
            <a:ext cx="6231577" cy="3772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E09682-BA7A-6CE2-679D-2D06C106F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534" y="1871442"/>
            <a:ext cx="5627303" cy="40306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A7AEE-F30C-0CA1-1688-23704DD05E87}"/>
              </a:ext>
            </a:extLst>
          </p:cNvPr>
          <p:cNvSpPr txBox="1"/>
          <p:nvPr/>
        </p:nvSpPr>
        <p:spPr>
          <a:xfrm>
            <a:off x="967564" y="6082887"/>
            <a:ext cx="10696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Sequence</a:t>
            </a:r>
            <a:r>
              <a:rPr lang="fr-FR" dirty="0"/>
              <a:t> index plot of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clusters, </a:t>
            </a:r>
            <a:r>
              <a:rPr lang="fr-FR" dirty="0" err="1"/>
              <a:t>women</a:t>
            </a:r>
            <a:r>
              <a:rPr lang="fr-FR" dirty="0"/>
              <a:t>, </a:t>
            </a:r>
            <a:r>
              <a:rPr lang="fr-FR" dirty="0" err="1"/>
              <a:t>months</a:t>
            </a:r>
            <a:r>
              <a:rPr lang="fr-FR" dirty="0"/>
              <a:t> relative to </a:t>
            </a:r>
            <a:r>
              <a:rPr lang="fr-FR" dirty="0" err="1"/>
              <a:t>childbirth</a:t>
            </a:r>
            <a:r>
              <a:rPr lang="fr-FR" dirty="0"/>
              <a:t>, SIPP 1996–2013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38EBA-D7AA-47D7-29E0-8C8709F93DC1}"/>
              </a:ext>
            </a:extLst>
          </p:cNvPr>
          <p:cNvSpPr txBox="1"/>
          <p:nvPr/>
        </p:nvSpPr>
        <p:spPr>
          <a:xfrm>
            <a:off x="8016949" y="212651"/>
            <a:ext cx="31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Lu</a:t>
            </a:r>
            <a:r>
              <a:rPr lang="fi-FI" dirty="0"/>
              <a:t> et </a:t>
            </a:r>
            <a:r>
              <a:rPr lang="fi-FI" dirty="0" err="1"/>
              <a:t>al</a:t>
            </a:r>
            <a:r>
              <a:rPr lang="fi-FI" dirty="0"/>
              <a:t>, 2017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0734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7D09-56C9-3F6B-33B0-BC41D09C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 plots by cluster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5B071-9685-AAA8-5160-5FBE59F0C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8" y="1682660"/>
            <a:ext cx="5305455" cy="4531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89477-BF55-C3FB-45A9-61C477949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690688"/>
            <a:ext cx="5627819" cy="4667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F9D3C-263D-E7D2-509B-CB6EDADDBC74}"/>
              </a:ext>
            </a:extLst>
          </p:cNvPr>
          <p:cNvSpPr txBox="1"/>
          <p:nvPr/>
        </p:nvSpPr>
        <p:spPr>
          <a:xfrm>
            <a:off x="8016949" y="212651"/>
            <a:ext cx="31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Devillanova</a:t>
            </a:r>
            <a:r>
              <a:rPr lang="fi-FI" dirty="0"/>
              <a:t> et </a:t>
            </a:r>
            <a:r>
              <a:rPr lang="fi-FI" dirty="0" err="1"/>
              <a:t>al</a:t>
            </a:r>
            <a:r>
              <a:rPr lang="fi-FI" dirty="0"/>
              <a:t>, 2018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A4A0D-8481-B254-9EE0-C09DD3FC4497}"/>
              </a:ext>
            </a:extLst>
          </p:cNvPr>
          <p:cNvSpPr txBox="1"/>
          <p:nvPr/>
        </p:nvSpPr>
        <p:spPr>
          <a:xfrm>
            <a:off x="340431" y="6308209"/>
            <a:ext cx="7102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Fig</a:t>
            </a:r>
            <a:r>
              <a:rPr lang="fi-FI" dirty="0"/>
              <a:t>. Xx </a:t>
            </a:r>
            <a:r>
              <a:rPr lang="en-US" dirty="0"/>
              <a:t>Clusters of employment trajectories from age 15 to age 45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4720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E2CC-16B8-0ACA-D5BB-BADA1705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C</a:t>
            </a:r>
            <a:r>
              <a:rPr lang="fr-FR" dirty="0" err="1"/>
              <a:t>luster</a:t>
            </a:r>
            <a:r>
              <a:rPr lang="fr-FR" dirty="0"/>
              <a:t> </a:t>
            </a:r>
            <a:r>
              <a:rPr lang="fr-FR" dirty="0" err="1"/>
              <a:t>summaries</a:t>
            </a:r>
            <a:r>
              <a:rPr lang="fr-FR" dirty="0"/>
              <a:t>: time in states, transitions, </a:t>
            </a:r>
            <a:r>
              <a:rPr lang="fr-FR" dirty="0" err="1"/>
              <a:t>complexity</a:t>
            </a:r>
            <a:r>
              <a:rPr lang="fr-FR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7F68FE-4B2C-0662-C36A-C3B3CDDB8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251206"/>
              </p:ext>
            </p:extLst>
          </p:nvPr>
        </p:nvGraphicFramePr>
        <p:xfrm>
          <a:off x="838200" y="2353772"/>
          <a:ext cx="10515600" cy="3474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9840922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42617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755445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939491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92197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Main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Mean time in unemployment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Mean transitions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 err="1"/>
                        <a:t>Interpretation</a:t>
                      </a:r>
                      <a:endParaRPr lang="fr-F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40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Employment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Stable employment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92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Education </a:t>
                      </a:r>
                      <a:r>
                        <a:rPr lang="fr-FR" sz="2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sz="2200" dirty="0"/>
                        <a:t> </a:t>
                      </a:r>
                      <a:r>
                        <a:rPr lang="fr-FR" sz="2200" dirty="0" err="1"/>
                        <a:t>employment</a:t>
                      </a:r>
                      <a:endParaRPr lang="fr-F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 err="1"/>
                        <a:t>Delayed</a:t>
                      </a:r>
                      <a:r>
                        <a:rPr lang="fr-FR" sz="2200" dirty="0"/>
                        <a:t>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2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Unemployment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 err="1"/>
                        <a:t>Difficult</a:t>
                      </a:r>
                      <a:r>
                        <a:rPr lang="fr-FR" sz="2200" dirty="0"/>
                        <a:t> transition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04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Mixed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 err="1"/>
                        <a:t>Instability</a:t>
                      </a:r>
                      <a:endParaRPr lang="fr-F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39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DBB0BF-D927-C6E5-0D7A-494A3AED82BB}"/>
              </a:ext>
            </a:extLst>
          </p:cNvPr>
          <p:cNvSpPr txBox="1"/>
          <p:nvPr/>
        </p:nvSpPr>
        <p:spPr>
          <a:xfrm>
            <a:off x="606056" y="1733107"/>
            <a:ext cx="158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Example</a:t>
            </a:r>
            <a:r>
              <a:rPr lang="fi-FI" dirty="0"/>
              <a:t>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7996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9340-2D8E-3B4C-16A3-9A27D1B5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name</a:t>
            </a:r>
            <a:r>
              <a:rPr lang="fr-FR" dirty="0"/>
              <a:t> clusters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claiming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much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B47125-ADBC-40FC-B700-D65998E6F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8034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5777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7118-304B-E329-523C-CF309C16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Checking cluster composition: </a:t>
            </a:r>
            <a:r>
              <a:rPr lang="fr-FR" dirty="0" err="1"/>
              <a:t>covariates</a:t>
            </a:r>
            <a:r>
              <a:rPr lang="fr-FR" dirty="0"/>
              <a:t> and group </a:t>
            </a:r>
            <a:r>
              <a:rPr lang="fr-FR" dirty="0" err="1"/>
              <a:t>differences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1E69F3-705B-78CF-8AD2-C19307057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9" y="1864415"/>
            <a:ext cx="7238702" cy="4399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77638-2706-60EF-BC27-522D53EC2C9B}"/>
              </a:ext>
            </a:extLst>
          </p:cNvPr>
          <p:cNvSpPr txBox="1"/>
          <p:nvPr/>
        </p:nvSpPr>
        <p:spPr>
          <a:xfrm>
            <a:off x="8016949" y="161851"/>
            <a:ext cx="31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Vanhoutte</a:t>
            </a:r>
            <a:r>
              <a:rPr lang="fi-FI" dirty="0"/>
              <a:t> et </a:t>
            </a:r>
            <a:r>
              <a:rPr lang="fi-FI" dirty="0" err="1"/>
              <a:t>al</a:t>
            </a:r>
            <a:r>
              <a:rPr lang="fi-FI" dirty="0"/>
              <a:t>, 2018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C42E1-01B4-3AED-4DF6-E7FD135D7164}"/>
              </a:ext>
            </a:extLst>
          </p:cNvPr>
          <p:cNvSpPr txBox="1"/>
          <p:nvPr/>
        </p:nvSpPr>
        <p:spPr>
          <a:xfrm>
            <a:off x="7762949" y="2224088"/>
            <a:ext cx="39593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After</a:t>
            </a:r>
            <a:r>
              <a:rPr lang="fr-FR" sz="2400" dirty="0"/>
              <a:t> labelling clusters: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Who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overrepresented</a:t>
            </a:r>
            <a:r>
              <a:rPr lang="fr-FR" sz="2400" dirty="0"/>
              <a:t> in </a:t>
            </a:r>
            <a:r>
              <a:rPr lang="fr-FR" sz="2400" dirty="0" err="1"/>
              <a:t>each</a:t>
            </a:r>
            <a:r>
              <a:rPr lang="fr-FR" sz="2400" dirty="0"/>
              <a:t> cluster?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Do clusters </a:t>
            </a:r>
            <a:r>
              <a:rPr lang="fr-FR" sz="2400" dirty="0" err="1"/>
              <a:t>differ</a:t>
            </a:r>
            <a:r>
              <a:rPr lang="fr-FR" sz="2400" dirty="0"/>
              <a:t> by </a:t>
            </a:r>
            <a:r>
              <a:rPr lang="fr-FR" sz="2400" dirty="0" err="1"/>
              <a:t>cohort</a:t>
            </a:r>
            <a:r>
              <a:rPr lang="fr-FR" sz="2400" dirty="0"/>
              <a:t>, </a:t>
            </a:r>
            <a:r>
              <a:rPr lang="fr-FR" sz="2400" dirty="0" err="1"/>
              <a:t>gender</a:t>
            </a:r>
            <a:r>
              <a:rPr lang="fr-FR" sz="2400" dirty="0"/>
              <a:t>, </a:t>
            </a:r>
            <a:r>
              <a:rPr lang="fr-FR" sz="2400" dirty="0" err="1"/>
              <a:t>education</a:t>
            </a:r>
            <a:r>
              <a:rPr lang="fr-FR" sz="2400" dirty="0"/>
              <a:t> or </a:t>
            </a:r>
            <a:r>
              <a:rPr lang="fr-FR" sz="2400" dirty="0" err="1"/>
              <a:t>origin</a:t>
            </a:r>
            <a:r>
              <a:rPr lang="fr-FR" sz="2400" dirty="0"/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Are </a:t>
            </a:r>
            <a:r>
              <a:rPr lang="fr-FR" sz="2400" dirty="0" err="1"/>
              <a:t>differences</a:t>
            </a:r>
            <a:r>
              <a:rPr lang="fr-FR" sz="2400" dirty="0"/>
              <a:t> descriptive or part of a </a:t>
            </a:r>
            <a:r>
              <a:rPr lang="fr-FR" sz="2400" dirty="0" err="1"/>
              <a:t>later</a:t>
            </a:r>
            <a:r>
              <a:rPr lang="fr-FR" sz="2400" dirty="0"/>
              <a:t> model?</a:t>
            </a:r>
          </a:p>
        </p:txBody>
      </p:sp>
    </p:spTree>
    <p:extLst>
      <p:ext uri="{BB962C8B-B14F-4D97-AF65-F5344CB8AC3E}">
        <p14:creationId xmlns:p14="http://schemas.microsoft.com/office/powerpoint/2010/main" val="2332938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5E0A2-3B82-57D3-9A88-4971AEF59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Reporting</a:t>
            </a:r>
            <a:r>
              <a:rPr lang="fr-FR" dirty="0"/>
              <a:t> typologies </a:t>
            </a:r>
            <a:r>
              <a:rPr lang="fr-FR" dirty="0" err="1"/>
              <a:t>transparently</a:t>
            </a:r>
            <a:endParaRPr lang="fr-F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2D4F-5B8A-170C-07CD-AB35000E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numCol="2">
            <a:normAutofit lnSpcReduction="10000"/>
          </a:bodyPr>
          <a:lstStyle/>
          <a:p>
            <a:r>
              <a:rPr lang="fi-FI" sz="2200" dirty="0"/>
              <a:t>Report </a:t>
            </a:r>
            <a:r>
              <a:rPr lang="fi-FI" sz="2200" dirty="0" err="1"/>
              <a:t>checklist</a:t>
            </a:r>
            <a:endParaRPr lang="fi-FI" sz="2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population and observation </a:t>
            </a:r>
            <a:r>
              <a:rPr lang="fr-FR" sz="2200" dirty="0" err="1"/>
              <a:t>window</a:t>
            </a:r>
            <a:r>
              <a:rPr lang="fr-FR" sz="22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time axis and unit;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state alphabet;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distance </a:t>
            </a:r>
            <a:r>
              <a:rPr lang="fr-FR" sz="2200" dirty="0" err="1"/>
              <a:t>measure</a:t>
            </a:r>
            <a:r>
              <a:rPr lang="fr-FR" sz="2200" dirty="0"/>
              <a:t> and </a:t>
            </a:r>
            <a:r>
              <a:rPr lang="fr-FR" sz="2200" dirty="0" err="1"/>
              <a:t>costs</a:t>
            </a:r>
            <a:r>
              <a:rPr lang="fr-FR" sz="22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clustering </a:t>
            </a:r>
            <a:r>
              <a:rPr lang="fr-FR" sz="2200" dirty="0" err="1"/>
              <a:t>method</a:t>
            </a:r>
            <a:r>
              <a:rPr lang="fr-FR" sz="22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 err="1"/>
              <a:t>criteria</a:t>
            </a:r>
            <a:r>
              <a:rPr lang="fr-FR" sz="2200" dirty="0"/>
              <a:t> </a:t>
            </a:r>
            <a:r>
              <a:rPr lang="fr-FR" sz="2200" dirty="0" err="1"/>
              <a:t>used</a:t>
            </a:r>
            <a:r>
              <a:rPr lang="fr-FR" sz="2200" dirty="0"/>
              <a:t> to </a:t>
            </a:r>
            <a:r>
              <a:rPr lang="fr-FR" sz="2200" dirty="0" err="1"/>
              <a:t>choose</a:t>
            </a:r>
            <a:r>
              <a:rPr lang="fr-FR" sz="2200" dirty="0"/>
              <a:t> </a:t>
            </a:r>
            <a:r>
              <a:rPr lang="fr-FR" sz="2200" dirty="0" err="1"/>
              <a:t>number</a:t>
            </a:r>
            <a:r>
              <a:rPr lang="fr-FR" sz="2200" dirty="0"/>
              <a:t> of clusters;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plots </a:t>
            </a:r>
            <a:r>
              <a:rPr lang="fr-FR" sz="2200" dirty="0" err="1"/>
              <a:t>used</a:t>
            </a:r>
            <a:r>
              <a:rPr lang="fr-FR" sz="2200" dirty="0"/>
              <a:t> to </a:t>
            </a:r>
            <a:r>
              <a:rPr lang="fr-FR" sz="2200" dirty="0" err="1"/>
              <a:t>interpret</a:t>
            </a:r>
            <a:r>
              <a:rPr lang="fr-FR" sz="2200" dirty="0"/>
              <a:t> clusters;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/>
              <a:t>final cluster sizes;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 err="1"/>
              <a:t>sensitivity</a:t>
            </a:r>
            <a:r>
              <a:rPr lang="fr-FR" sz="2200" dirty="0"/>
              <a:t> checks;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dirty="0" err="1"/>
              <a:t>limits</a:t>
            </a:r>
            <a:r>
              <a:rPr lang="fr-FR" sz="2200" dirty="0"/>
              <a:t> of </a:t>
            </a:r>
            <a:r>
              <a:rPr lang="fr-FR" sz="2200" dirty="0" err="1"/>
              <a:t>interpretation</a:t>
            </a:r>
            <a:r>
              <a:rPr lang="fr-FR" sz="2200" dirty="0"/>
              <a:t>.</a:t>
            </a:r>
          </a:p>
          <a:p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3849281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3B9D-4550-961E-C033-C3C6E1FC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references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AB15F-CE25-7527-4865-CD95FF5BA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Devillanova</a:t>
            </a:r>
            <a:r>
              <a:rPr lang="fr-FR" dirty="0"/>
              <a:t>, C., Raitano, M., &amp; </a:t>
            </a:r>
            <a:r>
              <a:rPr lang="fr-FR" dirty="0" err="1"/>
              <a:t>Struffolino</a:t>
            </a:r>
            <a:r>
              <a:rPr lang="fr-FR" dirty="0"/>
              <a:t>, E. (2019). Longitudinal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and </a:t>
            </a:r>
            <a:r>
              <a:rPr lang="fr-FR" dirty="0" err="1"/>
              <a:t>health</a:t>
            </a:r>
            <a:r>
              <a:rPr lang="fr-FR" dirty="0"/>
              <a:t> in middle life. </a:t>
            </a:r>
            <a:r>
              <a:rPr lang="fr-FR" i="1" dirty="0"/>
              <a:t>Demographic Research</a:t>
            </a:r>
            <a:r>
              <a:rPr lang="fr-FR" dirty="0"/>
              <a:t>, </a:t>
            </a:r>
            <a:r>
              <a:rPr lang="fr-FR" i="1" dirty="0"/>
              <a:t>40</a:t>
            </a:r>
            <a:r>
              <a:rPr lang="fr-FR" dirty="0"/>
              <a:t>, 1375-1412.</a:t>
            </a:r>
          </a:p>
          <a:p>
            <a:r>
              <a:rPr lang="fr-FR" dirty="0"/>
              <a:t>Lu, Y., Wang, J. S. H., &amp; Han, W. J. (2017). </a:t>
            </a:r>
            <a:r>
              <a:rPr lang="fr-FR" dirty="0" err="1"/>
              <a:t>Women’s</a:t>
            </a:r>
            <a:r>
              <a:rPr lang="fr-FR" dirty="0"/>
              <a:t> short-</a:t>
            </a:r>
            <a:r>
              <a:rPr lang="fr-FR" dirty="0" err="1"/>
              <a:t>term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</a:t>
            </a:r>
            <a:r>
              <a:rPr lang="fr-FR" dirty="0" err="1"/>
              <a:t>following</a:t>
            </a:r>
            <a:r>
              <a:rPr lang="fr-FR" dirty="0"/>
              <a:t> </a:t>
            </a:r>
            <a:r>
              <a:rPr lang="fr-FR" dirty="0" err="1"/>
              <a:t>birth</a:t>
            </a:r>
            <a:r>
              <a:rPr lang="fr-FR" dirty="0"/>
              <a:t>: Patterns, </a:t>
            </a:r>
            <a:r>
              <a:rPr lang="fr-FR" dirty="0" err="1"/>
              <a:t>determinants</a:t>
            </a:r>
            <a:r>
              <a:rPr lang="fr-FR" dirty="0"/>
              <a:t>, and variations by race/</a:t>
            </a:r>
            <a:r>
              <a:rPr lang="fr-FR" dirty="0" err="1"/>
              <a:t>ethnicity</a:t>
            </a:r>
            <a:r>
              <a:rPr lang="fr-FR" dirty="0"/>
              <a:t> and </a:t>
            </a:r>
            <a:r>
              <a:rPr lang="fr-FR" dirty="0" err="1"/>
              <a:t>nativity</a:t>
            </a:r>
            <a:r>
              <a:rPr lang="fr-FR" dirty="0"/>
              <a:t>. </a:t>
            </a:r>
            <a:r>
              <a:rPr lang="fr-FR" i="1" dirty="0" err="1"/>
              <a:t>Demography</a:t>
            </a:r>
            <a:r>
              <a:rPr lang="fr-FR" dirty="0"/>
              <a:t>, </a:t>
            </a:r>
            <a:r>
              <a:rPr lang="fr-FR" i="1" dirty="0"/>
              <a:t>54</a:t>
            </a:r>
            <a:r>
              <a:rPr lang="fr-FR" dirty="0"/>
              <a:t>(1), 93-118.</a:t>
            </a:r>
          </a:p>
        </p:txBody>
      </p:sp>
    </p:spTree>
    <p:extLst>
      <p:ext uri="{BB962C8B-B14F-4D97-AF65-F5344CB8AC3E}">
        <p14:creationId xmlns:p14="http://schemas.microsoft.com/office/powerpoint/2010/main" val="1279090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8421E-4115-7B69-6C4C-DFA062657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Lab and transition to Lesson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3AD9A-14EB-E58F-BDC2-F85F74BB1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48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4FFD-BE99-DFFE-02B4-E097BD7C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8339-C0B9-DB8C-B881-BB5CE180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By the end of the </a:t>
            </a:r>
            <a:r>
              <a:rPr lang="fr-FR" dirty="0" err="1"/>
              <a:t>lab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Load</a:t>
            </a:r>
            <a:r>
              <a:rPr lang="fr-FR" dirty="0"/>
              <a:t> the distance matrix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lesson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Run </a:t>
            </a:r>
            <a:r>
              <a:rPr lang="fr-FR" dirty="0" err="1"/>
              <a:t>hierarchical</a:t>
            </a:r>
            <a:r>
              <a:rPr lang="fr-FR" dirty="0"/>
              <a:t> clustering</a:t>
            </a:r>
          </a:p>
          <a:p>
            <a:pPr lvl="1"/>
            <a:r>
              <a:rPr lang="fr-FR" dirty="0"/>
              <a:t>Compare 3-6 cluster solutions</a:t>
            </a:r>
          </a:p>
          <a:p>
            <a:pPr lvl="1"/>
            <a:r>
              <a:rPr lang="fr-FR" dirty="0" err="1"/>
              <a:t>Calculate</a:t>
            </a:r>
            <a:r>
              <a:rPr lang="fr-FR" dirty="0"/>
              <a:t> cluster-</a:t>
            </a:r>
            <a:r>
              <a:rPr lang="fr-FR" dirty="0" err="1"/>
              <a:t>quality</a:t>
            </a:r>
            <a:r>
              <a:rPr lang="fr-FR" dirty="0"/>
              <a:t> </a:t>
            </a:r>
            <a:r>
              <a:rPr lang="fr-FR" dirty="0" err="1"/>
              <a:t>indicators</a:t>
            </a:r>
            <a:r>
              <a:rPr lang="fr-FR" dirty="0"/>
              <a:t> (ASW, CH, </a:t>
            </a:r>
            <a:r>
              <a:rPr lang="fr-FR" dirty="0" err="1"/>
              <a:t>Hubert’s</a:t>
            </a:r>
            <a:r>
              <a:rPr lang="fr-FR" dirty="0"/>
              <a:t> Gamma)</a:t>
            </a:r>
          </a:p>
          <a:p>
            <a:pPr lvl="1"/>
            <a:r>
              <a:rPr lang="fr-FR" dirty="0"/>
              <a:t>Plot clusters</a:t>
            </a:r>
          </a:p>
          <a:p>
            <a:pPr lvl="1"/>
            <a:r>
              <a:rPr lang="fr-FR" dirty="0" err="1"/>
              <a:t>Summarise</a:t>
            </a:r>
            <a:r>
              <a:rPr lang="fr-FR" dirty="0"/>
              <a:t> and label one </a:t>
            </a:r>
            <a:r>
              <a:rPr lang="fr-FR" dirty="0" err="1"/>
              <a:t>preferred</a:t>
            </a:r>
            <a:r>
              <a:rPr lang="fr-FR" dirty="0"/>
              <a:t> </a:t>
            </a:r>
            <a:r>
              <a:rPr lang="fr-FR" dirty="0" err="1"/>
              <a:t>typology</a:t>
            </a:r>
            <a:endParaRPr lang="fr-FR" dirty="0"/>
          </a:p>
          <a:p>
            <a:pPr lvl="1"/>
            <a:r>
              <a:rPr lang="fr-FR" dirty="0" err="1"/>
              <a:t>Prepare</a:t>
            </a:r>
            <a:r>
              <a:rPr lang="fr-FR" dirty="0"/>
              <a:t> figures for the mini-</a:t>
            </a:r>
            <a:r>
              <a:rPr lang="fr-FR" dirty="0" err="1"/>
              <a:t>project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8315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D520-BA27-9DDD-B530-49217C81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New </a:t>
            </a:r>
            <a:r>
              <a:rPr lang="fi-FI" dirty="0" err="1"/>
              <a:t>concepts</a:t>
            </a:r>
            <a:r>
              <a:rPr lang="fi-FI" dirty="0"/>
              <a:t> (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discuss</a:t>
            </a:r>
            <a:r>
              <a:rPr lang="fi-FI" dirty="0"/>
              <a:t> in </a:t>
            </a:r>
            <a:r>
              <a:rPr lang="fi-FI" dirty="0" err="1"/>
              <a:t>pairs</a:t>
            </a:r>
            <a:r>
              <a:rPr lang="fi-FI" dirty="0"/>
              <a:t>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118F-4744-3286-4E2F-737A15892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Now, you should be able to explain or define:</a:t>
            </a:r>
            <a:endParaRPr lang="fr-FR" dirty="0"/>
          </a:p>
          <a:p>
            <a:pPr lvl="1"/>
            <a:r>
              <a:rPr lang="en-US" dirty="0"/>
              <a:t>What does the linkage method decide?</a:t>
            </a:r>
            <a:endParaRPr lang="fr-FR" dirty="0"/>
          </a:p>
          <a:p>
            <a:pPr lvl="1"/>
            <a:r>
              <a:rPr lang="en-US" dirty="0"/>
              <a:t>Why is Ward often used?</a:t>
            </a:r>
            <a:endParaRPr lang="fr-FR" dirty="0"/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dendrogram</a:t>
            </a:r>
            <a:r>
              <a:rPr lang="fr-FR" dirty="0"/>
              <a:t>?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</a:t>
            </a:r>
            <a:r>
              <a:rPr lang="fr-FR" dirty="0" err="1"/>
              <a:t>cutree</a:t>
            </a:r>
            <a:r>
              <a:rPr lang="fr-FR" dirty="0"/>
              <a:t>() do?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ASW </a:t>
            </a:r>
            <a:r>
              <a:rPr lang="fr-FR" dirty="0" err="1"/>
              <a:t>measure</a:t>
            </a:r>
            <a:r>
              <a:rPr lang="fr-FR" dirty="0"/>
              <a:t>?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CH </a:t>
            </a:r>
            <a:r>
              <a:rPr lang="fr-FR" dirty="0" err="1"/>
              <a:t>measure</a:t>
            </a:r>
            <a:r>
              <a:rPr lang="fr-FR" dirty="0"/>
              <a:t>?</a:t>
            </a:r>
          </a:p>
          <a:p>
            <a:pPr lvl="1"/>
            <a:r>
              <a:rPr lang="en-US" dirty="0"/>
              <a:t>What does Hubert’s Gamma measure?</a:t>
            </a:r>
            <a:endParaRPr lang="fr-FR" dirty="0"/>
          </a:p>
          <a:p>
            <a:pPr lvl="1"/>
            <a:r>
              <a:rPr lang="en-US" dirty="0"/>
              <a:t>Why can the indicators disagree?</a:t>
            </a:r>
            <a:endParaRPr lang="fr-FR" dirty="0"/>
          </a:p>
          <a:p>
            <a:pPr lvl="1"/>
            <a:r>
              <a:rPr lang="en-US" dirty="0"/>
              <a:t>Why is a cluster label a simplification?</a:t>
            </a:r>
          </a:p>
          <a:p>
            <a:pPr lvl="1"/>
            <a:r>
              <a:rPr lang="en-US" dirty="0"/>
              <a:t>What changes when we move from 3 to 4 clusters? Is the new distinction substantively useful?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4634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1A626-173D-86F0-FCAF-972A939D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fi-FI" sz="4000"/>
              <a:t>Mini-project</a:t>
            </a:r>
            <a:endParaRPr lang="fr-FR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92DE-DE5C-3EE0-BE33-0A73A82E5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7643" y="980046"/>
            <a:ext cx="6496333" cy="3385225"/>
          </a:xfrm>
        </p:spPr>
        <p:txBody>
          <a:bodyPr>
            <a:noAutofit/>
          </a:bodyPr>
          <a:lstStyle/>
          <a:p>
            <a:r>
              <a:rPr lang="en-US" sz="1800" b="1" dirty="0"/>
              <a:t>Today you work on Section 3.3 and Section 4.2 of your report</a:t>
            </a:r>
            <a:endParaRPr lang="fr-FR" sz="1800" dirty="0"/>
          </a:p>
          <a:p>
            <a:pPr lvl="1"/>
            <a:r>
              <a:rPr lang="fr-FR" sz="1800" dirty="0"/>
              <a:t>Clustering </a:t>
            </a:r>
            <a:r>
              <a:rPr lang="fr-FR" sz="1800" dirty="0" err="1"/>
              <a:t>method</a:t>
            </a:r>
            <a:endParaRPr lang="fr-FR" sz="1800" dirty="0"/>
          </a:p>
          <a:p>
            <a:pPr lvl="1"/>
            <a:r>
              <a:rPr lang="fr-FR" sz="1800" dirty="0"/>
              <a:t>Cluster-</a:t>
            </a:r>
            <a:r>
              <a:rPr lang="fr-FR" sz="1800" dirty="0" err="1"/>
              <a:t>number</a:t>
            </a:r>
            <a:r>
              <a:rPr lang="fr-FR" sz="1800" dirty="0"/>
              <a:t> justification</a:t>
            </a:r>
          </a:p>
          <a:p>
            <a:pPr lvl="1"/>
            <a:r>
              <a:rPr lang="fr-FR" sz="1800" dirty="0"/>
              <a:t>Main </a:t>
            </a:r>
            <a:r>
              <a:rPr lang="fr-FR" sz="1800" dirty="0" err="1"/>
              <a:t>trajectory</a:t>
            </a:r>
            <a:r>
              <a:rPr lang="fr-FR" sz="1800" dirty="0"/>
              <a:t> </a:t>
            </a:r>
            <a:r>
              <a:rPr lang="fr-FR" sz="1800" dirty="0" err="1"/>
              <a:t>typology</a:t>
            </a:r>
            <a:r>
              <a:rPr lang="fr-FR" sz="1800" dirty="0"/>
              <a:t> </a:t>
            </a:r>
            <a:r>
              <a:rPr lang="fr-FR" sz="1800" dirty="0" err="1"/>
              <a:t>result</a:t>
            </a:r>
            <a:endParaRPr lang="fr-FR" sz="1800" dirty="0"/>
          </a:p>
          <a:p>
            <a:r>
              <a:rPr lang="en-US" sz="1800" b="1" dirty="0"/>
              <a:t>Step 1: Cluster your main distance matrix</a:t>
            </a:r>
            <a:endParaRPr lang="fr-FR" sz="1800" dirty="0"/>
          </a:p>
          <a:p>
            <a:pPr lvl="1"/>
            <a:r>
              <a:rPr lang="en-US" sz="1800" dirty="0"/>
              <a:t>Use hierarchical clustering, usually Ward as a starting point.</a:t>
            </a:r>
            <a:endParaRPr lang="fr-FR" sz="1800" dirty="0"/>
          </a:p>
          <a:p>
            <a:r>
              <a:rPr lang="en-US" sz="1800" b="1" dirty="0"/>
              <a:t>Step 2: Compare several values of k</a:t>
            </a:r>
            <a:endParaRPr lang="fr-FR" sz="1800" dirty="0"/>
          </a:p>
          <a:p>
            <a:pPr lvl="1"/>
            <a:r>
              <a:rPr lang="en-US" sz="1800" dirty="0"/>
              <a:t>Suggested range: 3–6 clusters.</a:t>
            </a:r>
            <a:endParaRPr lang="fr-FR" sz="1800" dirty="0"/>
          </a:p>
          <a:p>
            <a:r>
              <a:rPr lang="en-US" sz="1800" b="1" dirty="0"/>
              <a:t>Step 3: Evaluate</a:t>
            </a:r>
            <a:endParaRPr lang="fr-FR" sz="1800" dirty="0"/>
          </a:p>
          <a:p>
            <a:pPr lvl="1"/>
            <a:r>
              <a:rPr lang="en-US" sz="1800" dirty="0"/>
              <a:t>Use:</a:t>
            </a:r>
            <a:r>
              <a:rPr lang="fr-FR" sz="1800" dirty="0"/>
              <a:t> cluster sizes, ASW, CH and </a:t>
            </a:r>
            <a:r>
              <a:rPr lang="fr-FR" sz="1800" dirty="0" err="1"/>
              <a:t>Hubert’s</a:t>
            </a:r>
            <a:r>
              <a:rPr lang="fr-FR" sz="1800" dirty="0"/>
              <a:t> Gamma, state distribution plots, index plots, </a:t>
            </a:r>
            <a:r>
              <a:rPr lang="fr-FR" sz="1800" dirty="0" err="1"/>
              <a:t>representative</a:t>
            </a:r>
            <a:r>
              <a:rPr lang="fr-FR" sz="1800" dirty="0"/>
              <a:t> </a:t>
            </a:r>
            <a:r>
              <a:rPr lang="fr-FR" sz="1800" dirty="0" err="1"/>
              <a:t>sequences</a:t>
            </a:r>
            <a:endParaRPr lang="fr-FR" sz="1800" dirty="0"/>
          </a:p>
          <a:p>
            <a:r>
              <a:rPr lang="fr-FR" sz="1800" b="1" dirty="0" err="1"/>
              <a:t>Step</a:t>
            </a:r>
            <a:r>
              <a:rPr lang="fr-FR" sz="1800" b="1" dirty="0"/>
              <a:t> 4: </a:t>
            </a:r>
            <a:r>
              <a:rPr lang="fr-FR" sz="1800" b="1" dirty="0" err="1"/>
              <a:t>Choose</a:t>
            </a:r>
            <a:r>
              <a:rPr lang="fr-FR" sz="1800" b="1" dirty="0"/>
              <a:t> </a:t>
            </a:r>
            <a:r>
              <a:rPr lang="fr-FR" sz="1800" b="1" dirty="0" err="1"/>
              <a:t>your</a:t>
            </a:r>
            <a:r>
              <a:rPr lang="fr-FR" sz="1800" b="1" dirty="0"/>
              <a:t> </a:t>
            </a:r>
            <a:r>
              <a:rPr lang="fr-FR" sz="1800" b="1" dirty="0" err="1"/>
              <a:t>preferred</a:t>
            </a:r>
            <a:r>
              <a:rPr lang="fr-FR" sz="1800" b="1" dirty="0"/>
              <a:t> solution</a:t>
            </a:r>
            <a:endParaRPr lang="fr-FR" sz="1800" dirty="0"/>
          </a:p>
          <a:p>
            <a:pPr lvl="1"/>
            <a:r>
              <a:rPr lang="en-US" sz="1800" dirty="0"/>
              <a:t>Write a justification that combines statistical and substantive criteria.</a:t>
            </a:r>
            <a:endParaRPr lang="fr-FR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9FD3F-B4DE-4F3B-3392-336C751C4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9201" y="2486642"/>
            <a:ext cx="3782432" cy="2699968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Before leaving today, write down:</a:t>
            </a:r>
            <a:endParaRPr lang="fr-FR" sz="2000" dirty="0"/>
          </a:p>
          <a:p>
            <a:pPr lvl="1"/>
            <a:r>
              <a:rPr lang="fr-FR" sz="2000" dirty="0" err="1"/>
              <a:t>My</a:t>
            </a:r>
            <a:r>
              <a:rPr lang="fr-FR" sz="2000" dirty="0"/>
              <a:t> clustering </a:t>
            </a:r>
            <a:r>
              <a:rPr lang="fr-FR" sz="2000" dirty="0" err="1"/>
              <a:t>method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...</a:t>
            </a:r>
          </a:p>
          <a:p>
            <a:pPr lvl="1"/>
            <a:r>
              <a:rPr lang="fr-FR" sz="2000" dirty="0"/>
              <a:t>I </a:t>
            </a:r>
            <a:r>
              <a:rPr lang="fr-FR" sz="2000" dirty="0" err="1"/>
              <a:t>compared</a:t>
            </a:r>
            <a:r>
              <a:rPr lang="fr-FR" sz="2000" dirty="0"/>
              <a:t> k = ...</a:t>
            </a:r>
          </a:p>
          <a:p>
            <a:pPr lvl="1"/>
            <a:r>
              <a:rPr lang="fr-FR" sz="2000" dirty="0"/>
              <a:t>The </a:t>
            </a:r>
            <a:r>
              <a:rPr lang="fr-FR" sz="2000" dirty="0" err="1"/>
              <a:t>statistical</a:t>
            </a:r>
            <a:r>
              <a:rPr lang="fr-FR" sz="2000" dirty="0"/>
              <a:t> </a:t>
            </a:r>
            <a:r>
              <a:rPr lang="fr-FR" sz="2000" dirty="0" err="1"/>
              <a:t>criteria</a:t>
            </a:r>
            <a:r>
              <a:rPr lang="fr-FR" sz="2000" dirty="0"/>
              <a:t> </a:t>
            </a:r>
            <a:r>
              <a:rPr lang="fr-FR" sz="2000" dirty="0" err="1"/>
              <a:t>suggested</a:t>
            </a:r>
            <a:r>
              <a:rPr lang="fr-FR" sz="2000" dirty="0"/>
              <a:t>...</a:t>
            </a:r>
          </a:p>
          <a:p>
            <a:pPr lvl="1"/>
            <a:r>
              <a:rPr lang="fr-FR" sz="2000" dirty="0"/>
              <a:t>I </a:t>
            </a:r>
            <a:r>
              <a:rPr lang="fr-FR" sz="2000" dirty="0" err="1"/>
              <a:t>selected</a:t>
            </a:r>
            <a:r>
              <a:rPr lang="fr-FR" sz="2000" dirty="0"/>
              <a:t> k = ...</a:t>
            </a:r>
          </a:p>
          <a:p>
            <a:pPr lvl="1"/>
            <a:r>
              <a:rPr lang="fr-FR" sz="2000" dirty="0"/>
              <a:t>I </a:t>
            </a:r>
            <a:r>
              <a:rPr lang="fr-FR" sz="2000" dirty="0" err="1"/>
              <a:t>selected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because</a:t>
            </a:r>
            <a:r>
              <a:rPr lang="fr-FR" sz="2000" dirty="0"/>
              <a:t>...</a:t>
            </a:r>
          </a:p>
          <a:p>
            <a:pPr lvl="1"/>
            <a:r>
              <a:rPr lang="fr-FR" sz="2000" dirty="0" err="1"/>
              <a:t>My</a:t>
            </a:r>
            <a:r>
              <a:rPr lang="fr-FR" sz="2000" dirty="0"/>
              <a:t> cluster labels are...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42561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9DE7-2C4F-35ED-3BB2-6F2801CF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Mini-</a:t>
            </a:r>
            <a:r>
              <a:rPr lang="fr-FR" dirty="0" err="1"/>
              <a:t>project</a:t>
            </a:r>
            <a:r>
              <a:rPr lang="fr-FR" dirty="0"/>
              <a:t> checkpoint: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typology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53EA8-EDE5-C459-711F-364880636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Fill</a:t>
            </a:r>
            <a:r>
              <a:rPr lang="fi-FI" dirty="0"/>
              <a:t> in </a:t>
            </a:r>
            <a:r>
              <a:rPr lang="fi-FI" dirty="0" err="1"/>
              <a:t>this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:</a:t>
            </a:r>
          </a:p>
          <a:p>
            <a:pPr lvl="1"/>
            <a:r>
              <a:rPr lang="en-US" dirty="0"/>
              <a:t>My sequence domain:</a:t>
            </a:r>
          </a:p>
          <a:p>
            <a:pPr lvl="1"/>
            <a:r>
              <a:rPr lang="en-US" dirty="0"/>
              <a:t>My time axis:</a:t>
            </a:r>
          </a:p>
          <a:p>
            <a:pPr lvl="1"/>
            <a:r>
              <a:rPr lang="en-US" dirty="0"/>
              <a:t>My states:</a:t>
            </a:r>
          </a:p>
          <a:p>
            <a:pPr lvl="1"/>
            <a:r>
              <a:rPr lang="en-US" dirty="0"/>
              <a:t>My distance measure:</a:t>
            </a:r>
          </a:p>
          <a:p>
            <a:pPr lvl="1"/>
            <a:r>
              <a:rPr lang="en-US" dirty="0"/>
              <a:t>Possible number of clusters:</a:t>
            </a:r>
          </a:p>
          <a:p>
            <a:pPr lvl="1"/>
            <a:r>
              <a:rPr lang="en-US" dirty="0"/>
              <a:t>What each cluster might represent:</a:t>
            </a:r>
          </a:p>
          <a:p>
            <a:pPr lvl="1"/>
            <a:r>
              <a:rPr lang="en-US" dirty="0"/>
              <a:t>One concern: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293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65E4-3036-897B-0CC1-19904D84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</a:t>
            </a:r>
            <a:r>
              <a:rPr lang="fr-FR" dirty="0" err="1"/>
              <a:t>review</a:t>
            </a:r>
            <a:r>
              <a:rPr lang="fr-FR" dirty="0"/>
              <a:t> of Lesson 4: </a:t>
            </a:r>
            <a:r>
              <a:rPr lang="fr-FR" dirty="0" err="1"/>
              <a:t>Linking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to </a:t>
            </a:r>
            <a:r>
              <a:rPr lang="fr-FR" dirty="0" err="1"/>
              <a:t>outcomes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AC17-B3D9-5A61-E495-9BF123D61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Next time:</a:t>
            </a:r>
          </a:p>
          <a:p>
            <a:pPr lvl="1"/>
            <a:r>
              <a:rPr lang="fr-FR" dirty="0"/>
              <a:t>use clusters in descriptive </a:t>
            </a:r>
            <a:r>
              <a:rPr lang="fr-FR" dirty="0" err="1"/>
              <a:t>comparisons</a:t>
            </a:r>
            <a:r>
              <a:rPr lang="fr-FR" dirty="0"/>
              <a:t>; </a:t>
            </a:r>
          </a:p>
          <a:p>
            <a:pPr lvl="1"/>
            <a:r>
              <a:rPr lang="fr-FR" dirty="0"/>
              <a:t>use clusters in </a:t>
            </a:r>
            <a:r>
              <a:rPr lang="fr-FR" dirty="0" err="1"/>
              <a:t>regression</a:t>
            </a:r>
            <a:r>
              <a:rPr lang="fr-FR" dirty="0"/>
              <a:t>; </a:t>
            </a:r>
          </a:p>
          <a:p>
            <a:pPr lvl="1"/>
            <a:r>
              <a:rPr lang="fr-FR" dirty="0" err="1"/>
              <a:t>distinguish</a:t>
            </a:r>
            <a:r>
              <a:rPr lang="fr-FR" dirty="0"/>
              <a:t> </a:t>
            </a:r>
            <a:r>
              <a:rPr lang="fr-FR" dirty="0" err="1"/>
              <a:t>determinants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outcomes</a:t>
            </a:r>
            <a:r>
              <a:rPr lang="fr-FR" dirty="0"/>
              <a:t>; </a:t>
            </a:r>
          </a:p>
          <a:p>
            <a:pPr lvl="1"/>
            <a:r>
              <a:rPr lang="fr-FR" dirty="0" err="1"/>
              <a:t>avoid</a:t>
            </a:r>
            <a:r>
              <a:rPr lang="fr-FR" dirty="0"/>
              <a:t> post-</a:t>
            </a:r>
            <a:r>
              <a:rPr lang="fr-FR" dirty="0" err="1"/>
              <a:t>treatment</a:t>
            </a:r>
            <a:r>
              <a:rPr lang="fr-FR" dirty="0"/>
              <a:t> </a:t>
            </a:r>
            <a:r>
              <a:rPr lang="fr-FR" dirty="0" err="1"/>
              <a:t>bias</a:t>
            </a:r>
            <a:r>
              <a:rPr lang="fr-FR" dirty="0"/>
              <a:t>; </a:t>
            </a:r>
          </a:p>
          <a:p>
            <a:pPr lvl="1"/>
            <a:r>
              <a:rPr lang="fr-FR" dirty="0" err="1"/>
              <a:t>prepare</a:t>
            </a:r>
            <a:r>
              <a:rPr lang="fr-FR" dirty="0"/>
              <a:t>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presentations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8427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FC86-035C-57E2-65A8-3DBCE19C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Next session: 5-minute </a:t>
            </a:r>
            <a:r>
              <a:rPr lang="fi-FI" dirty="0" err="1"/>
              <a:t>presentation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1E38-48CE-34CB-DFC8-DF1F7FFA4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 err="1"/>
              <a:t>Objective</a:t>
            </a:r>
            <a:r>
              <a:rPr lang="fi-FI" dirty="0"/>
              <a:t>: </a:t>
            </a:r>
          </a:p>
          <a:p>
            <a:pPr lvl="1"/>
            <a:r>
              <a:rPr lang="fi-FI" dirty="0"/>
              <a:t>To help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prepare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short</a:t>
            </a:r>
            <a:r>
              <a:rPr lang="fi-FI" dirty="0"/>
              <a:t> </a:t>
            </a:r>
            <a:r>
              <a:rPr lang="fi-FI" dirty="0" err="1"/>
              <a:t>report</a:t>
            </a:r>
            <a:endParaRPr lang="fi-FI" dirty="0"/>
          </a:p>
          <a:p>
            <a:pPr lvl="1"/>
            <a:r>
              <a:rPr lang="fi-FI" dirty="0"/>
              <a:t>To </a:t>
            </a:r>
            <a:r>
              <a:rPr lang="fi-FI" dirty="0" err="1"/>
              <a:t>organise</a:t>
            </a:r>
            <a:r>
              <a:rPr lang="fi-FI" dirty="0"/>
              <a:t> </a:t>
            </a:r>
            <a:r>
              <a:rPr lang="fi-FI" dirty="0" err="1"/>
              <a:t>your</a:t>
            </a:r>
            <a:r>
              <a:rPr lang="fi-FI" dirty="0"/>
              <a:t> </a:t>
            </a:r>
            <a:r>
              <a:rPr lang="fi-FI" dirty="0" err="1"/>
              <a:t>thoughts</a:t>
            </a:r>
            <a:endParaRPr lang="fi-FI" dirty="0"/>
          </a:p>
          <a:p>
            <a:r>
              <a:rPr lang="fi-FI" dirty="0"/>
              <a:t>For </a:t>
            </a:r>
            <a:r>
              <a:rPr lang="fi-FI" dirty="0" err="1"/>
              <a:t>next</a:t>
            </a:r>
            <a:r>
              <a:rPr lang="fi-FI" dirty="0"/>
              <a:t> </a:t>
            </a:r>
            <a:r>
              <a:rPr lang="fi-FI" dirty="0" err="1"/>
              <a:t>week</a:t>
            </a:r>
            <a:r>
              <a:rPr lang="fi-FI" dirty="0"/>
              <a:t>, </a:t>
            </a:r>
            <a:r>
              <a:rPr lang="fi-FI" dirty="0" err="1"/>
              <a:t>prepare</a:t>
            </a:r>
            <a:r>
              <a:rPr lang="fi-FI" dirty="0"/>
              <a:t> </a:t>
            </a:r>
            <a:r>
              <a:rPr lang="fi-FI" dirty="0" err="1"/>
              <a:t>slides</a:t>
            </a:r>
            <a:r>
              <a:rPr lang="fi-FI" dirty="0"/>
              <a:t> 1-3</a:t>
            </a:r>
          </a:p>
          <a:p>
            <a:pPr lvl="1"/>
            <a:r>
              <a:rPr lang="fi-FI" dirty="0"/>
              <a:t>Research </a:t>
            </a:r>
            <a:r>
              <a:rPr lang="fi-FI" dirty="0" err="1"/>
              <a:t>question</a:t>
            </a:r>
            <a:r>
              <a:rPr lang="fi-FI" dirty="0"/>
              <a:t> and data</a:t>
            </a:r>
          </a:p>
          <a:p>
            <a:pPr lvl="1"/>
            <a:r>
              <a:rPr lang="fi-FI" dirty="0" err="1"/>
              <a:t>Sequence</a:t>
            </a:r>
            <a:r>
              <a:rPr lang="fi-FI" dirty="0"/>
              <a:t> </a:t>
            </a:r>
            <a:r>
              <a:rPr lang="fi-FI" dirty="0" err="1"/>
              <a:t>construction</a:t>
            </a:r>
            <a:r>
              <a:rPr lang="fi-FI" dirty="0"/>
              <a:t> and </a:t>
            </a:r>
            <a:r>
              <a:rPr lang="fi-FI" dirty="0" err="1"/>
              <a:t>method</a:t>
            </a:r>
            <a:endParaRPr lang="fi-FI" dirty="0"/>
          </a:p>
          <a:p>
            <a:pPr lvl="1"/>
            <a:r>
              <a:rPr lang="fi-FI" dirty="0"/>
              <a:t>Main </a:t>
            </a:r>
            <a:r>
              <a:rPr lang="fi-FI" dirty="0" err="1"/>
              <a:t>trajectory</a:t>
            </a:r>
            <a:r>
              <a:rPr lang="fi-FI" dirty="0"/>
              <a:t> </a:t>
            </a:r>
            <a:r>
              <a:rPr lang="fi-FI" dirty="0" err="1"/>
              <a:t>figure</a:t>
            </a:r>
            <a:endParaRPr lang="fi-FI" dirty="0"/>
          </a:p>
          <a:p>
            <a:r>
              <a:rPr lang="fi-FI" dirty="0" err="1"/>
              <a:t>Slide</a:t>
            </a:r>
            <a:r>
              <a:rPr lang="fi-FI" dirty="0"/>
              <a:t> 4 </a:t>
            </a:r>
            <a:r>
              <a:rPr lang="fi-FI" dirty="0" err="1"/>
              <a:t>will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optional</a:t>
            </a:r>
            <a:r>
              <a:rPr lang="fi-FI" dirty="0"/>
              <a:t> and </a:t>
            </a:r>
            <a:r>
              <a:rPr lang="fi-FI" dirty="0" err="1"/>
              <a:t>done</a:t>
            </a:r>
            <a:r>
              <a:rPr lang="fi-FI" dirty="0"/>
              <a:t> </a:t>
            </a:r>
            <a:r>
              <a:rPr lang="fi-FI" dirty="0" err="1"/>
              <a:t>next</a:t>
            </a:r>
            <a:r>
              <a:rPr lang="fi-FI" dirty="0"/>
              <a:t> </a:t>
            </a:r>
            <a:r>
              <a:rPr lang="fi-FI" dirty="0" err="1"/>
              <a:t>week</a:t>
            </a:r>
            <a:r>
              <a:rPr lang="fi-FI" dirty="0"/>
              <a:t>. </a:t>
            </a:r>
            <a:r>
              <a:rPr lang="fi-FI" dirty="0" err="1"/>
              <a:t>You</a:t>
            </a:r>
            <a:r>
              <a:rPr lang="fi-FI" dirty="0"/>
              <a:t> </a:t>
            </a:r>
            <a:r>
              <a:rPr lang="fi-FI" dirty="0" err="1"/>
              <a:t>can</a:t>
            </a:r>
            <a:r>
              <a:rPr lang="fi-FI" dirty="0"/>
              <a:t> </a:t>
            </a:r>
            <a:r>
              <a:rPr lang="fi-FI" dirty="0" err="1"/>
              <a:t>already</a:t>
            </a:r>
            <a:r>
              <a:rPr lang="fi-FI" dirty="0"/>
              <a:t> </a:t>
            </a:r>
            <a:r>
              <a:rPr lang="fi-FI" dirty="0" err="1"/>
              <a:t>think</a:t>
            </a:r>
            <a:r>
              <a:rPr lang="fi-FI" dirty="0"/>
              <a:t> of:</a:t>
            </a:r>
          </a:p>
          <a:p>
            <a:pPr lvl="1"/>
            <a:r>
              <a:rPr lang="fr-FR" dirty="0"/>
              <a:t>Some </a:t>
            </a:r>
            <a:r>
              <a:rPr lang="fr-FR" dirty="0" err="1"/>
              <a:t>preliminary</a:t>
            </a:r>
            <a:r>
              <a:rPr lang="fr-FR" dirty="0"/>
              <a:t> </a:t>
            </a:r>
            <a:r>
              <a:rPr lang="fr-FR" dirty="0" err="1"/>
              <a:t>interpretation</a:t>
            </a:r>
            <a:r>
              <a:rPr lang="fr-FR" dirty="0"/>
              <a:t> (to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confirmed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4 </a:t>
            </a:r>
            <a:r>
              <a:rPr lang="fr-FR" dirty="0" err="1"/>
              <a:t>results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One </a:t>
            </a:r>
            <a:r>
              <a:rPr lang="fr-FR" dirty="0" err="1"/>
              <a:t>methodological</a:t>
            </a:r>
            <a:r>
              <a:rPr lang="fr-FR" dirty="0"/>
              <a:t> limitation</a:t>
            </a:r>
          </a:p>
          <a:p>
            <a:pPr lvl="1"/>
            <a:r>
              <a:rPr lang="fr-FR" dirty="0"/>
              <a:t>Perhaps </a:t>
            </a:r>
            <a:r>
              <a:rPr lang="fr-FR" dirty="0" err="1"/>
              <a:t>your</a:t>
            </a:r>
            <a:r>
              <a:rPr lang="fr-FR" dirty="0"/>
              <a:t> cluster-solution </a:t>
            </a:r>
            <a:r>
              <a:rPr lang="fr-FR" dirty="0" err="1"/>
              <a:t>sensitivity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Session 3.</a:t>
            </a:r>
          </a:p>
        </p:txBody>
      </p:sp>
    </p:spTree>
    <p:extLst>
      <p:ext uri="{BB962C8B-B14F-4D97-AF65-F5344CB8AC3E}">
        <p14:creationId xmlns:p14="http://schemas.microsoft.com/office/powerpoint/2010/main" val="14816614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F553-6E51-9838-16F3-E88FCAE4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Extra </a:t>
            </a:r>
            <a:r>
              <a:rPr lang="fi-FI" dirty="0" err="1"/>
              <a:t>slides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52017-0F88-84BE-3FED-2DB60B6B0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757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FF46-82EE-1F19-5359-5E59E460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R: distance matrix → clustering → cluster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291A2-D993-60DA-787E-B77572BE6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TraMineR</a:t>
            </a:r>
            <a:r>
              <a:rPr lang="fr-FR" dirty="0"/>
              <a:t>)</a:t>
            </a:r>
          </a:p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WeightedCluster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# distance matrix </a:t>
            </a:r>
            <a:r>
              <a:rPr lang="fr-FR" dirty="0" err="1"/>
              <a:t>from</a:t>
            </a:r>
            <a:r>
              <a:rPr lang="fr-FR" dirty="0"/>
              <a:t> Lesson 2</a:t>
            </a:r>
          </a:p>
          <a:p>
            <a:r>
              <a:rPr lang="fr-FR" dirty="0"/>
              <a:t># </a:t>
            </a:r>
            <a:r>
              <a:rPr lang="fr-FR" dirty="0" err="1"/>
              <a:t>dist_om</a:t>
            </a:r>
            <a:r>
              <a:rPr lang="fr-FR" dirty="0"/>
              <a:t> &lt;- </a:t>
            </a:r>
            <a:r>
              <a:rPr lang="fr-FR" dirty="0" err="1"/>
              <a:t>seqdist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, </a:t>
            </a:r>
            <a:r>
              <a:rPr lang="fr-FR" dirty="0" err="1"/>
              <a:t>method</a:t>
            </a:r>
            <a:r>
              <a:rPr lang="fr-FR" dirty="0"/>
              <a:t> = "OM", </a:t>
            </a:r>
            <a:r>
              <a:rPr lang="fr-FR" dirty="0" err="1"/>
              <a:t>indel</a:t>
            </a:r>
            <a:r>
              <a:rPr lang="fr-FR" dirty="0"/>
              <a:t> = 1, </a:t>
            </a:r>
            <a:r>
              <a:rPr lang="fr-FR" dirty="0" err="1"/>
              <a:t>sm</a:t>
            </a:r>
            <a:r>
              <a:rPr lang="fr-FR" dirty="0"/>
              <a:t> = "CONSTANT")</a:t>
            </a:r>
          </a:p>
          <a:p>
            <a:endParaRPr lang="fr-FR" dirty="0"/>
          </a:p>
          <a:p>
            <a:r>
              <a:rPr lang="fr-FR" dirty="0" err="1"/>
              <a:t>clust_tree</a:t>
            </a:r>
            <a:r>
              <a:rPr lang="fr-FR" dirty="0"/>
              <a:t> &lt;- </a:t>
            </a:r>
            <a:r>
              <a:rPr lang="fr-FR" dirty="0" err="1"/>
              <a:t>hclust</a:t>
            </a:r>
            <a:r>
              <a:rPr lang="fr-FR" dirty="0"/>
              <a:t>(</a:t>
            </a:r>
            <a:r>
              <a:rPr lang="fr-FR" dirty="0" err="1"/>
              <a:t>as.dist</a:t>
            </a:r>
            <a:r>
              <a:rPr lang="fr-FR" dirty="0"/>
              <a:t>(</a:t>
            </a:r>
            <a:r>
              <a:rPr lang="fr-FR" dirty="0" err="1"/>
              <a:t>dist_om</a:t>
            </a:r>
            <a:r>
              <a:rPr lang="fr-FR" dirty="0"/>
              <a:t>), </a:t>
            </a:r>
            <a:r>
              <a:rPr lang="fr-FR" dirty="0" err="1"/>
              <a:t>method</a:t>
            </a:r>
            <a:r>
              <a:rPr lang="fr-FR" dirty="0"/>
              <a:t> = "ward.D2")</a:t>
            </a:r>
          </a:p>
          <a:p>
            <a:endParaRPr lang="fr-FR" dirty="0"/>
          </a:p>
          <a:p>
            <a:r>
              <a:rPr lang="fr-FR" dirty="0"/>
              <a:t>cluster4 &lt;- </a:t>
            </a:r>
            <a:r>
              <a:rPr lang="fr-FR" dirty="0" err="1"/>
              <a:t>cutree</a:t>
            </a:r>
            <a:r>
              <a:rPr lang="fr-FR" dirty="0"/>
              <a:t>(</a:t>
            </a:r>
            <a:r>
              <a:rPr lang="fr-FR" dirty="0" err="1"/>
              <a:t>clust_tree</a:t>
            </a:r>
            <a:r>
              <a:rPr lang="fr-FR" dirty="0"/>
              <a:t>, k = 4)</a:t>
            </a:r>
          </a:p>
          <a:p>
            <a:endParaRPr lang="fr-FR" dirty="0"/>
          </a:p>
          <a:p>
            <a:r>
              <a:rPr lang="fr-FR" dirty="0"/>
              <a:t>table(cluster4)</a:t>
            </a:r>
          </a:p>
        </p:txBody>
      </p:sp>
    </p:spTree>
    <p:extLst>
      <p:ext uri="{BB962C8B-B14F-4D97-AF65-F5344CB8AC3E}">
        <p14:creationId xmlns:p14="http://schemas.microsoft.com/office/powerpoint/2010/main" val="1478810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2389-46DE-145F-C831-AE7F0747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On R: </a:t>
            </a:r>
            <a:r>
              <a:rPr lang="fr-FR" dirty="0"/>
              <a:t>visualise cluster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A7DA8-F397-B756-5653-4F0028A5F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/>
              <a:t>seqdplot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, group = cluster4, main = "State distribution by cluster")</a:t>
            </a:r>
          </a:p>
          <a:p>
            <a:endParaRPr lang="fr-FR" dirty="0"/>
          </a:p>
          <a:p>
            <a:r>
              <a:rPr lang="fr-FR" dirty="0" err="1"/>
              <a:t>seqIplot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, group = cluster4, </a:t>
            </a:r>
            <a:r>
              <a:rPr lang="fr-FR" dirty="0" err="1"/>
              <a:t>sortv</a:t>
            </a:r>
            <a:r>
              <a:rPr lang="fr-FR" dirty="0"/>
              <a:t> = "</a:t>
            </a:r>
            <a:r>
              <a:rPr lang="fr-FR" dirty="0" err="1"/>
              <a:t>from.start</a:t>
            </a:r>
            <a:r>
              <a:rPr lang="fr-FR" dirty="0"/>
              <a:t>", main = "Index plot by cluster")</a:t>
            </a:r>
          </a:p>
          <a:p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interpret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state </a:t>
            </a:r>
            <a:r>
              <a:rPr lang="fr-FR" dirty="0" err="1"/>
              <a:t>dominates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cluster? </a:t>
            </a:r>
          </a:p>
          <a:p>
            <a:pPr lvl="1"/>
            <a:r>
              <a:rPr lang="fr-FR" dirty="0" err="1"/>
              <a:t>When</a:t>
            </a:r>
            <a:r>
              <a:rPr lang="fr-FR" dirty="0"/>
              <a:t> do transitions </a:t>
            </a:r>
            <a:r>
              <a:rPr lang="fr-FR" dirty="0" err="1"/>
              <a:t>occur</a:t>
            </a:r>
            <a:r>
              <a:rPr lang="fr-FR" dirty="0"/>
              <a:t>? </a:t>
            </a:r>
          </a:p>
          <a:p>
            <a:pPr lvl="1"/>
            <a:r>
              <a:rPr lang="fr-FR" dirty="0"/>
              <a:t>How </a:t>
            </a:r>
            <a:r>
              <a:rPr lang="fr-FR" dirty="0" err="1"/>
              <a:t>homogeneous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cluster? </a:t>
            </a:r>
          </a:p>
          <a:p>
            <a:pPr lvl="1"/>
            <a:r>
              <a:rPr lang="fr-FR" dirty="0"/>
              <a:t>Are </a:t>
            </a:r>
            <a:r>
              <a:rPr lang="fr-FR" dirty="0" err="1"/>
              <a:t>some</a:t>
            </a:r>
            <a:r>
              <a:rPr lang="fr-FR" dirty="0"/>
              <a:t> clusters hard to </a:t>
            </a:r>
            <a:r>
              <a:rPr lang="fr-FR" dirty="0" err="1"/>
              <a:t>describe</a:t>
            </a:r>
            <a:r>
              <a:rPr lang="fr-F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3101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CA1E-79F0-300A-C8BC-AB5B8664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On R: </a:t>
            </a:r>
            <a:r>
              <a:rPr lang="fr-FR" dirty="0"/>
              <a:t>compare cluster </a:t>
            </a:r>
            <a:r>
              <a:rPr lang="fr-FR" dirty="0" err="1"/>
              <a:t>summaries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6D67C-38EA-44CA-B6CE-EFF85B5D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cluster_quality</a:t>
            </a:r>
            <a:r>
              <a:rPr lang="en-US" dirty="0"/>
              <a:t> &lt;- </a:t>
            </a:r>
            <a:r>
              <a:rPr lang="en-US" dirty="0" err="1"/>
              <a:t>wcClusterQuality</a:t>
            </a:r>
            <a:r>
              <a:rPr lang="en-US" dirty="0"/>
              <a:t>(</a:t>
            </a:r>
            <a:r>
              <a:rPr lang="en-US" dirty="0" err="1"/>
              <a:t>as.dist</a:t>
            </a:r>
            <a:r>
              <a:rPr lang="en-US" dirty="0"/>
              <a:t>(</a:t>
            </a:r>
            <a:r>
              <a:rPr lang="en-US" dirty="0" err="1"/>
              <a:t>dist_om</a:t>
            </a:r>
            <a:r>
              <a:rPr lang="en-US" dirty="0"/>
              <a:t>), cluster4)</a:t>
            </a:r>
          </a:p>
          <a:p>
            <a:r>
              <a:rPr lang="en-US" dirty="0" err="1"/>
              <a:t>cluster_quality$stats</a:t>
            </a:r>
            <a:endParaRPr lang="en-US" dirty="0"/>
          </a:p>
          <a:p>
            <a:endParaRPr lang="en-US" dirty="0"/>
          </a:p>
          <a:p>
            <a:r>
              <a:rPr lang="en-US" dirty="0"/>
              <a:t>Additional summaries</a:t>
            </a:r>
          </a:p>
          <a:p>
            <a:pPr lvl="1"/>
            <a:r>
              <a:rPr lang="fr-FR" dirty="0" err="1"/>
              <a:t>seqmeant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, group = cluster4)</a:t>
            </a:r>
          </a:p>
          <a:p>
            <a:pPr lvl="1"/>
            <a:r>
              <a:rPr lang="fr-FR" dirty="0" err="1"/>
              <a:t>seqtransn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seqici</a:t>
            </a:r>
            <a:r>
              <a:rPr lang="fr-FR" dirty="0"/>
              <a:t>(</a:t>
            </a:r>
            <a:r>
              <a:rPr lang="fr-FR" dirty="0" err="1"/>
              <a:t>mvad.seq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949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09292169A0CE49899A3C94DF95B8F0" ma:contentTypeVersion="16" ma:contentTypeDescription="Crée un document." ma:contentTypeScope="" ma:versionID="c9978119ff4a51c7ffe2a62df7af05ef">
  <xsd:schema xmlns:xsd="http://www.w3.org/2001/XMLSchema" xmlns:xs="http://www.w3.org/2001/XMLSchema" xmlns:p="http://schemas.microsoft.com/office/2006/metadata/properties" xmlns:ns3="ba17bead-3880-444d-875c-f1ee7c933122" xmlns:ns4="0ab86ada-c1f4-4a4d-802d-5a86408d4209" targetNamespace="http://schemas.microsoft.com/office/2006/metadata/properties" ma:root="true" ma:fieldsID="98aabef0c91809b8d1e2b94b49f17cc2" ns3:_="" ns4:_="">
    <xsd:import namespace="ba17bead-3880-444d-875c-f1ee7c933122"/>
    <xsd:import namespace="0ab86ada-c1f4-4a4d-802d-5a86408d42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7bead-3880-444d-875c-f1ee7c933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b86ada-c1f4-4a4d-802d-5a86408d42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17bead-3880-444d-875c-f1ee7c933122" xsi:nil="true"/>
  </documentManagement>
</p:properties>
</file>

<file path=customXml/itemProps1.xml><?xml version="1.0" encoding="utf-8"?>
<ds:datastoreItem xmlns:ds="http://schemas.openxmlformats.org/officeDocument/2006/customXml" ds:itemID="{E6C76CF9-FC65-45A0-A639-D5768D33B6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7bead-3880-444d-875c-f1ee7c933122"/>
    <ds:schemaRef ds:uri="0ab86ada-c1f4-4a4d-802d-5a86408d42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09C71C-B14C-427E-BDFA-F5CF42DD7A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BF70E9-2989-4028-A0D0-A89F86FD8B91}">
  <ds:schemaRefs>
    <ds:schemaRef ds:uri="http://schemas.microsoft.com/office/2006/metadata/properties"/>
    <ds:schemaRef ds:uri="http://purl.org/dc/dcmitype/"/>
    <ds:schemaRef ds:uri="http://purl.org/dc/elements/1.1/"/>
    <ds:schemaRef ds:uri="0ab86ada-c1f4-4a4d-802d-5a86408d4209"/>
    <ds:schemaRef ds:uri="http://schemas.microsoft.com/office/2006/documentManagement/types"/>
    <ds:schemaRef ds:uri="http://purl.org/dc/terms/"/>
    <ds:schemaRef ds:uri="ba17bead-3880-444d-875c-f1ee7c933122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3075</Words>
  <Application>Microsoft Office PowerPoint</Application>
  <PresentationFormat>Widescreen</PresentationFormat>
  <Paragraphs>552</Paragraphs>
  <Slides>51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Wingdings</vt:lpstr>
      <vt:lpstr>Office Theme</vt:lpstr>
      <vt:lpstr>Lesson 3</vt:lpstr>
      <vt:lpstr>Identifying trajectory types</vt:lpstr>
      <vt:lpstr>Identifying trajectory types</vt:lpstr>
      <vt:lpstr>Where we are</vt:lpstr>
      <vt:lpstr>Recap: what did distances do for us?</vt:lpstr>
      <vt:lpstr>Today’s question: can we summarise many trajectories into meaningful groups?</vt:lpstr>
      <vt:lpstr>Why clustering? Reducing complexity without erasing trajectories</vt:lpstr>
      <vt:lpstr>A simple example: four work trajectories</vt:lpstr>
      <vt:lpstr>What clustering means</vt:lpstr>
      <vt:lpstr>Clustering is a summary, not a discovery of “true groups”</vt:lpstr>
      <vt:lpstr>Within-cluster similarity and between-cluster difference</vt:lpstr>
      <vt:lpstr>From distance matrix to clustering</vt:lpstr>
      <vt:lpstr>What information is lost when we cluster?</vt:lpstr>
      <vt:lpstr>When clustering is useful and when it is not</vt:lpstr>
      <vt:lpstr>Hierarchical clustering</vt:lpstr>
      <vt:lpstr>The basic logic of hierarchical clustering</vt:lpstr>
      <vt:lpstr>Agglomerative clustering: from individuals to groups</vt:lpstr>
      <vt:lpstr>Dendrograms: reading the tree</vt:lpstr>
      <vt:lpstr>Linkage methods: Ward, average, complete</vt:lpstr>
      <vt:lpstr>Why Ward is often used in sequence analysis</vt:lpstr>
      <vt:lpstr>Clustering choices are connected to distance choices</vt:lpstr>
      <vt:lpstr>Choosing the number of clusters</vt:lpstr>
      <vt:lpstr>The difficult question: how many clusters?</vt:lpstr>
      <vt:lpstr>Statistical criteria: ASW, CH, Hubert’s Gamma</vt:lpstr>
      <vt:lpstr>Substantive criteria: interpretability and usefulness</vt:lpstr>
      <vt:lpstr>Too few clusters: important differences disappear</vt:lpstr>
      <vt:lpstr>Too many clusters: typology becomes unreadable</vt:lpstr>
      <vt:lpstr>Comparing 3-, 4-, 5- and 6-cluster solutions</vt:lpstr>
      <vt:lpstr>A good typology is both statistical and meaningful</vt:lpstr>
      <vt:lpstr>Interpreting and labelling clusters</vt:lpstr>
      <vt:lpstr>What makes a cluster interpretable?</vt:lpstr>
      <vt:lpstr>Typical sequences and representative sequences</vt:lpstr>
      <vt:lpstr>State distribution plot by cluster</vt:lpstr>
      <vt:lpstr>Index plots by cluster</vt:lpstr>
      <vt:lpstr>Index plots by cluster (2)</vt:lpstr>
      <vt:lpstr>Cluster summaries: time in states, transitions, complexity </vt:lpstr>
      <vt:lpstr>How to name clusters without claiming too much</vt:lpstr>
      <vt:lpstr>Checking cluster composition: covariates and group differences</vt:lpstr>
      <vt:lpstr>Reporting typologies transparently</vt:lpstr>
      <vt:lpstr>references</vt:lpstr>
      <vt:lpstr>Lab and transition to Lesson 4</vt:lpstr>
      <vt:lpstr>Today’s lab mission</vt:lpstr>
      <vt:lpstr>New concepts (you can discuss in pairs)</vt:lpstr>
      <vt:lpstr>Mini-project</vt:lpstr>
      <vt:lpstr>Mini-project checkpoint: what typology might you use?</vt:lpstr>
      <vt:lpstr>Preview of Lesson 4: Linking trajectories to outcomes</vt:lpstr>
      <vt:lpstr>Next session: 5-minute presentation</vt:lpstr>
      <vt:lpstr>Extra slides</vt:lpstr>
      <vt:lpstr>On R: distance matrix → clustering → cluster variable</vt:lpstr>
      <vt:lpstr>On R: visualise cluster solutions</vt:lpstr>
      <vt:lpstr>On R: compare cluster summaries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Jany Damiens</dc:creator>
  <cp:lastModifiedBy>Joan Jany Damiens</cp:lastModifiedBy>
  <cp:revision>7</cp:revision>
  <dcterms:created xsi:type="dcterms:W3CDTF">2026-08-02T16:28:06Z</dcterms:created>
  <dcterms:modified xsi:type="dcterms:W3CDTF">2026-08-16T09:47:15Z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0x0101007409292169A0CE49899A3C94DF95B8F0</vt:lpwstr>
  </property>
</Properties>
</file>